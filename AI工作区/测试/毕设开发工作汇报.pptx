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1.ftcdn.net/2df2e72100c6a4c3d153f9d43d79e135972d9d6c.jpg"/>
          <p:cNvPicPr>
            <a:picLocks noChangeAspect="1"/>
          </p:cNvPicPr>
          <p:nvPr/>
        </p:nvPicPr>
        <p:blipFill>
          <a:blip r:embed="rId1">
            <a:alphaModFix amt="40000"/>
          </a:blip>
          <a:srcRect l="3156" r="315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C8C"/>
              </a:gs>
              <a:gs pos="20000">
                <a:srgbClr val="4A6C8C"/>
              </a:gs>
              <a:gs pos="30000">
                <a:srgbClr val="5E8B7E"/>
              </a:gs>
              <a:gs pos="95000">
                <a:srgbClr val="1A1D24"/>
              </a:gs>
              <a:gs pos="100000">
                <a:srgbClr val="1A1D24"/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4810" y="1325880"/>
            <a:ext cx="2617470" cy="426720"/>
          </a:xfrm>
          <a:custGeom>
            <a:avLst/>
            <a:gdLst/>
            <a:ahLst/>
            <a:cxnLst/>
            <a:rect l="l" t="t" r="r" b="b"/>
            <a:pathLst>
              <a:path w="2617470" h="426720">
                <a:moveTo>
                  <a:pt x="76199" y="0"/>
                </a:moveTo>
                <a:lnTo>
                  <a:pt x="2541271" y="0"/>
                </a:lnTo>
                <a:cubicBezTo>
                  <a:pt x="2583354" y="0"/>
                  <a:pt x="2617470" y="34116"/>
                  <a:pt x="2617470" y="76199"/>
                </a:cubicBezTo>
                <a:lnTo>
                  <a:pt x="2617470" y="350521"/>
                </a:lnTo>
                <a:cubicBezTo>
                  <a:pt x="2617470" y="392604"/>
                  <a:pt x="2583354" y="426720"/>
                  <a:pt x="2541271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405890"/>
            <a:ext cx="2314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DEVELOPMENT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61210"/>
            <a:ext cx="11887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诸神对决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20421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6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开发工作汇报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4241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第1-4周阶段性成果总结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499491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3A6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Unity3D多神话卡牌自走棋游戏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7111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3810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04825" y="60960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00025" y="28575"/>
                </a:moveTo>
                <a:cubicBezTo>
                  <a:pt x="247352" y="28575"/>
                  <a:pt x="285750" y="66973"/>
                  <a:pt x="285750" y="114300"/>
                </a:cubicBezTo>
                <a:cubicBezTo>
                  <a:pt x="285750" y="161627"/>
                  <a:pt x="247352" y="200025"/>
                  <a:pt x="200025" y="200025"/>
                </a:cubicBezTo>
                <a:lnTo>
                  <a:pt x="85725" y="200025"/>
                </a:lnTo>
                <a:cubicBezTo>
                  <a:pt x="38398" y="200025"/>
                  <a:pt x="0" y="161627"/>
                  <a:pt x="0" y="114300"/>
                </a:cubicBezTo>
                <a:cubicBezTo>
                  <a:pt x="0" y="66973"/>
                  <a:pt x="38398" y="28575"/>
                  <a:pt x="85725" y="28575"/>
                </a:cubicBezTo>
                <a:lnTo>
                  <a:pt x="200025" y="28575"/>
                </a:lnTo>
                <a:close/>
                <a:moveTo>
                  <a:pt x="85725" y="78581"/>
                </a:moveTo>
                <a:cubicBezTo>
                  <a:pt x="79787" y="78581"/>
                  <a:pt x="75009" y="83359"/>
                  <a:pt x="75009" y="89297"/>
                </a:cubicBezTo>
                <a:lnTo>
                  <a:pt x="75009" y="103584"/>
                </a:lnTo>
                <a:lnTo>
                  <a:pt x="60722" y="103584"/>
                </a:lnTo>
                <a:cubicBezTo>
                  <a:pt x="54784" y="103584"/>
                  <a:pt x="50006" y="108362"/>
                  <a:pt x="50006" y="114300"/>
                </a:cubicBezTo>
                <a:cubicBezTo>
                  <a:pt x="50006" y="120238"/>
                  <a:pt x="54784" y="125016"/>
                  <a:pt x="60722" y="125016"/>
                </a:cubicBezTo>
                <a:lnTo>
                  <a:pt x="75009" y="125016"/>
                </a:lnTo>
                <a:lnTo>
                  <a:pt x="75009" y="139303"/>
                </a:lnTo>
                <a:cubicBezTo>
                  <a:pt x="75009" y="145241"/>
                  <a:pt x="79787" y="150019"/>
                  <a:pt x="85725" y="150019"/>
                </a:cubicBezTo>
                <a:cubicBezTo>
                  <a:pt x="91663" y="150019"/>
                  <a:pt x="96441" y="145241"/>
                  <a:pt x="96441" y="139303"/>
                </a:cubicBezTo>
                <a:lnTo>
                  <a:pt x="96441" y="125016"/>
                </a:lnTo>
                <a:lnTo>
                  <a:pt x="110728" y="125016"/>
                </a:lnTo>
                <a:cubicBezTo>
                  <a:pt x="116666" y="125016"/>
                  <a:pt x="121444" y="120238"/>
                  <a:pt x="121444" y="114300"/>
                </a:cubicBezTo>
                <a:cubicBezTo>
                  <a:pt x="121444" y="108362"/>
                  <a:pt x="116666" y="103584"/>
                  <a:pt x="110728" y="103584"/>
                </a:cubicBezTo>
                <a:lnTo>
                  <a:pt x="96441" y="103584"/>
                </a:lnTo>
                <a:lnTo>
                  <a:pt x="96441" y="89297"/>
                </a:lnTo>
                <a:cubicBezTo>
                  <a:pt x="96441" y="83359"/>
                  <a:pt x="91663" y="78581"/>
                  <a:pt x="85725" y="78581"/>
                </a:cubicBezTo>
                <a:close/>
                <a:moveTo>
                  <a:pt x="192881" y="121444"/>
                </a:moveTo>
                <a:cubicBezTo>
                  <a:pt x="184996" y="121444"/>
                  <a:pt x="178594" y="127846"/>
                  <a:pt x="178594" y="135731"/>
                </a:cubicBezTo>
                <a:cubicBezTo>
                  <a:pt x="178594" y="143617"/>
                  <a:pt x="184996" y="150019"/>
                  <a:pt x="192881" y="150019"/>
                </a:cubicBezTo>
                <a:cubicBezTo>
                  <a:pt x="200767" y="150019"/>
                  <a:pt x="207169" y="143617"/>
                  <a:pt x="207169" y="135731"/>
                </a:cubicBezTo>
                <a:cubicBezTo>
                  <a:pt x="207169" y="127846"/>
                  <a:pt x="200767" y="121444"/>
                  <a:pt x="192881" y="121444"/>
                </a:cubicBezTo>
                <a:close/>
                <a:moveTo>
                  <a:pt x="221456" y="78581"/>
                </a:moveTo>
                <a:cubicBezTo>
                  <a:pt x="213571" y="78581"/>
                  <a:pt x="207169" y="84983"/>
                  <a:pt x="207169" y="92869"/>
                </a:cubicBezTo>
                <a:cubicBezTo>
                  <a:pt x="207169" y="100754"/>
                  <a:pt x="213571" y="107156"/>
                  <a:pt x="221456" y="107156"/>
                </a:cubicBezTo>
                <a:cubicBezTo>
                  <a:pt x="229342" y="107156"/>
                  <a:pt x="235744" y="100754"/>
                  <a:pt x="235744" y="92869"/>
                </a:cubicBezTo>
                <a:cubicBezTo>
                  <a:pt x="235744" y="84983"/>
                  <a:pt x="229342" y="78581"/>
                  <a:pt x="221456" y="7858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3" name="Text 10"/>
          <p:cNvSpPr/>
          <p:nvPr/>
        </p:nvSpPr>
        <p:spPr>
          <a:xfrm>
            <a:off x="1066800" y="5962650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唐鑫阳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66800" y="6229350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数字媒体技术 2022级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039475" y="59436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指导教师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029950" y="6210300"/>
            <a:ext cx="781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高天寒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汇报目录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565910"/>
            <a:ext cx="5608320" cy="1503045"/>
          </a:xfrm>
          <a:custGeom>
            <a:avLst/>
            <a:gdLst/>
            <a:ahLst/>
            <a:cxnLst/>
            <a:rect l="l" t="t" r="r" b="b"/>
            <a:pathLst>
              <a:path w="5608320" h="1503045">
                <a:moveTo>
                  <a:pt x="152394" y="0"/>
                </a:moveTo>
                <a:lnTo>
                  <a:pt x="5455926" y="0"/>
                </a:lnTo>
                <a:cubicBezTo>
                  <a:pt x="5540035" y="0"/>
                  <a:pt x="5608320" y="68285"/>
                  <a:pt x="5608320" y="152394"/>
                </a:cubicBezTo>
                <a:lnTo>
                  <a:pt x="5608320" y="1350651"/>
                </a:lnTo>
                <a:cubicBezTo>
                  <a:pt x="5608320" y="1434816"/>
                  <a:pt x="5540091" y="1503045"/>
                  <a:pt x="5455926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17983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45688" y="193167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98320"/>
            <a:ext cx="445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项目概览与开发架构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17301"/>
            <a:ext cx="4419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介绍项目核心定位、技术选型与整体开发框架，建立背景认知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5060" y="1565910"/>
            <a:ext cx="5608320" cy="1503045"/>
          </a:xfrm>
          <a:custGeom>
            <a:avLst/>
            <a:gdLst/>
            <a:ahLst/>
            <a:cxnLst/>
            <a:rect l="l" t="t" r="r" b="b"/>
            <a:pathLst>
              <a:path w="5608320" h="1503045">
                <a:moveTo>
                  <a:pt x="152394" y="0"/>
                </a:moveTo>
                <a:lnTo>
                  <a:pt x="5455926" y="0"/>
                </a:lnTo>
                <a:cubicBezTo>
                  <a:pt x="5540035" y="0"/>
                  <a:pt x="5608320" y="68285"/>
                  <a:pt x="5608320" y="152394"/>
                </a:cubicBezTo>
                <a:lnTo>
                  <a:pt x="5608320" y="1350651"/>
                </a:lnTo>
                <a:cubicBezTo>
                  <a:pt x="5608320" y="1434816"/>
                  <a:pt x="5540091" y="1503045"/>
                  <a:pt x="5455926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7470" y="17983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555939" y="193167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7570" y="1798320"/>
            <a:ext cx="445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思维导图与完成状态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7570" y="2217301"/>
            <a:ext cx="4419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以可视化方式展示游戏系统架构，绿色标注1-4周已完成模块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3267670"/>
            <a:ext cx="5608320" cy="1503045"/>
          </a:xfrm>
          <a:custGeom>
            <a:avLst/>
            <a:gdLst/>
            <a:ahLst/>
            <a:cxnLst/>
            <a:rect l="l" t="t" r="r" b="b"/>
            <a:pathLst>
              <a:path w="5608320" h="1503045">
                <a:moveTo>
                  <a:pt x="152394" y="0"/>
                </a:moveTo>
                <a:lnTo>
                  <a:pt x="5455926" y="0"/>
                </a:lnTo>
                <a:cubicBezTo>
                  <a:pt x="5540035" y="0"/>
                  <a:pt x="5608320" y="68285"/>
                  <a:pt x="5608320" y="152394"/>
                </a:cubicBezTo>
                <a:lnTo>
                  <a:pt x="5608320" y="1350651"/>
                </a:lnTo>
                <a:cubicBezTo>
                  <a:pt x="5608320" y="1434816"/>
                  <a:pt x="5540091" y="1503045"/>
                  <a:pt x="5455926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" y="35000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745688" y="3633431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500081"/>
            <a:ext cx="445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本周完成的具体工作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919062"/>
            <a:ext cx="4419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整合1-4周开发成果：工程基础、UI系统、3C系统、状态管理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5060" y="3267670"/>
            <a:ext cx="5608320" cy="1503045"/>
          </a:xfrm>
          <a:custGeom>
            <a:avLst/>
            <a:gdLst/>
            <a:ahLst/>
            <a:cxnLst/>
            <a:rect l="l" t="t" r="r" b="b"/>
            <a:pathLst>
              <a:path w="5608320" h="1503045">
                <a:moveTo>
                  <a:pt x="152394" y="0"/>
                </a:moveTo>
                <a:lnTo>
                  <a:pt x="5455926" y="0"/>
                </a:lnTo>
                <a:cubicBezTo>
                  <a:pt x="5540035" y="0"/>
                  <a:pt x="5608320" y="68285"/>
                  <a:pt x="5608320" y="152394"/>
                </a:cubicBezTo>
                <a:lnTo>
                  <a:pt x="5608320" y="1350651"/>
                </a:lnTo>
                <a:cubicBezTo>
                  <a:pt x="5608320" y="1434816"/>
                  <a:pt x="5540091" y="1503045"/>
                  <a:pt x="5455926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7470" y="35000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555939" y="3633431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7570" y="3500081"/>
            <a:ext cx="445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技术难点与解决方案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7570" y="3919062"/>
            <a:ext cx="4419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工程实践中的关键问题分析、解决思路与架构改进措施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4969431"/>
            <a:ext cx="11418570" cy="1503045"/>
          </a:xfrm>
          <a:custGeom>
            <a:avLst/>
            <a:gdLst/>
            <a:ahLst/>
            <a:cxnLst/>
            <a:rect l="l" t="t" r="r" b="b"/>
            <a:pathLst>
              <a:path w="11418570" h="1503045">
                <a:moveTo>
                  <a:pt x="152394" y="0"/>
                </a:moveTo>
                <a:lnTo>
                  <a:pt x="11266176" y="0"/>
                </a:lnTo>
                <a:cubicBezTo>
                  <a:pt x="11350341" y="0"/>
                  <a:pt x="11418570" y="68229"/>
                  <a:pt x="11418570" y="152394"/>
                </a:cubicBezTo>
                <a:lnTo>
                  <a:pt x="11418570" y="1350651"/>
                </a:lnTo>
                <a:cubicBezTo>
                  <a:pt x="11418570" y="1434816"/>
                  <a:pt x="11350341" y="1503045"/>
                  <a:pt x="11266176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" y="52018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45688" y="5335191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201841"/>
            <a:ext cx="10267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下周工作计划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620822"/>
            <a:ext cx="10229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基于当前进度的后续开发安排：存档系统、数据持久化、核心战斗系统准备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项目概览：诸神对决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99210"/>
            <a:ext cx="7227570" cy="1817370"/>
          </a:xfrm>
          <a:custGeom>
            <a:avLst/>
            <a:gdLst/>
            <a:ahLst/>
            <a:cxnLst/>
            <a:rect l="l" t="t" r="r" b="b"/>
            <a:pathLst>
              <a:path w="7227570" h="1817370">
                <a:moveTo>
                  <a:pt x="114294" y="0"/>
                </a:moveTo>
                <a:lnTo>
                  <a:pt x="7113276" y="0"/>
                </a:lnTo>
                <a:cubicBezTo>
                  <a:pt x="7176399" y="0"/>
                  <a:pt x="7227570" y="51171"/>
                  <a:pt x="7227570" y="114294"/>
                </a:cubicBezTo>
                <a:lnTo>
                  <a:pt x="7227570" y="1703076"/>
                </a:lnTo>
                <a:cubicBezTo>
                  <a:pt x="7227570" y="1766199"/>
                  <a:pt x="7176399" y="1817370"/>
                  <a:pt x="711327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9120" y="14935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707708" y="159829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1074420" y="155067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核心玩法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2026920"/>
            <a:ext cx="6915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第三人称探索 + 自走棋战斗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的融合玩法。玩家操控召唤师在迷雾地图中探索资源，遭遇敌人时进入自走棋战斗，通过卡牌策略干预战斗，形成"搜打撤"的博弈循环。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40330"/>
            <a:ext cx="502920" cy="274320"/>
          </a:xfrm>
          <a:custGeom>
            <a:avLst/>
            <a:gdLst/>
            <a:ahLst/>
            <a:cxnLst/>
            <a:rect l="l" t="t" r="r" b="b"/>
            <a:pathLst>
              <a:path w="502920" h="274320">
                <a:moveTo>
                  <a:pt x="137160" y="0"/>
                </a:moveTo>
                <a:lnTo>
                  <a:pt x="365760" y="0"/>
                </a:lnTo>
                <a:cubicBezTo>
                  <a:pt x="441461" y="0"/>
                  <a:pt x="502920" y="61459"/>
                  <a:pt x="502920" y="137160"/>
                </a:cubicBezTo>
                <a:lnTo>
                  <a:pt x="502920" y="137160"/>
                </a:lnTo>
                <a:cubicBezTo>
                  <a:pt x="502920" y="212861"/>
                  <a:pt x="441461" y="274320"/>
                  <a:pt x="365760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120" y="2636520"/>
            <a:ext cx="5619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9670" y="2640330"/>
            <a:ext cx="502920" cy="274320"/>
          </a:xfrm>
          <a:custGeom>
            <a:avLst/>
            <a:gdLst/>
            <a:ahLst/>
            <a:cxnLst/>
            <a:rect l="l" t="t" r="r" b="b"/>
            <a:pathLst>
              <a:path w="502920" h="274320">
                <a:moveTo>
                  <a:pt x="137160" y="0"/>
                </a:moveTo>
                <a:lnTo>
                  <a:pt x="365760" y="0"/>
                </a:lnTo>
                <a:cubicBezTo>
                  <a:pt x="441461" y="0"/>
                  <a:pt x="502920" y="61459"/>
                  <a:pt x="502920" y="137160"/>
                </a:cubicBezTo>
                <a:lnTo>
                  <a:pt x="502920" y="137160"/>
                </a:lnTo>
                <a:cubicBezTo>
                  <a:pt x="502920" y="212861"/>
                  <a:pt x="441461" y="274320"/>
                  <a:pt x="365760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5860" y="2636520"/>
            <a:ext cx="5619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战斗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56410" y="2640330"/>
            <a:ext cx="502920" cy="274320"/>
          </a:xfrm>
          <a:custGeom>
            <a:avLst/>
            <a:gdLst/>
            <a:ahLst/>
            <a:cxnLst/>
            <a:rect l="l" t="t" r="r" b="b"/>
            <a:pathLst>
              <a:path w="502920" h="274320">
                <a:moveTo>
                  <a:pt x="137160" y="0"/>
                </a:moveTo>
                <a:lnTo>
                  <a:pt x="365760" y="0"/>
                </a:lnTo>
                <a:cubicBezTo>
                  <a:pt x="441461" y="0"/>
                  <a:pt x="502920" y="61459"/>
                  <a:pt x="502920" y="137160"/>
                </a:cubicBezTo>
                <a:lnTo>
                  <a:pt x="502920" y="137160"/>
                </a:lnTo>
                <a:cubicBezTo>
                  <a:pt x="502920" y="212861"/>
                  <a:pt x="441461" y="274320"/>
                  <a:pt x="365760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2600" y="2636520"/>
            <a:ext cx="5619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卡牌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43150" y="2640330"/>
            <a:ext cx="502920" cy="274320"/>
          </a:xfrm>
          <a:custGeom>
            <a:avLst/>
            <a:gdLst/>
            <a:ahLst/>
            <a:cxnLst/>
            <a:rect l="l" t="t" r="r" b="b"/>
            <a:pathLst>
              <a:path w="502920" h="274320">
                <a:moveTo>
                  <a:pt x="137160" y="0"/>
                </a:moveTo>
                <a:lnTo>
                  <a:pt x="365760" y="0"/>
                </a:lnTo>
                <a:cubicBezTo>
                  <a:pt x="441461" y="0"/>
                  <a:pt x="502920" y="61459"/>
                  <a:pt x="502920" y="137160"/>
                </a:cubicBezTo>
                <a:lnTo>
                  <a:pt x="502920" y="137160"/>
                </a:lnTo>
                <a:cubicBezTo>
                  <a:pt x="502920" y="212861"/>
                  <a:pt x="441461" y="274320"/>
                  <a:pt x="365760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9340" y="2636520"/>
            <a:ext cx="5619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撤离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272791"/>
            <a:ext cx="7227570" cy="1855470"/>
          </a:xfrm>
          <a:custGeom>
            <a:avLst/>
            <a:gdLst/>
            <a:ahLst/>
            <a:cxnLst/>
            <a:rect l="l" t="t" r="r" b="b"/>
            <a:pathLst>
              <a:path w="7227570" h="1855470">
                <a:moveTo>
                  <a:pt x="114297" y="0"/>
                </a:moveTo>
                <a:lnTo>
                  <a:pt x="7113273" y="0"/>
                </a:lnTo>
                <a:cubicBezTo>
                  <a:pt x="7176398" y="0"/>
                  <a:pt x="7227570" y="51172"/>
                  <a:pt x="7227570" y="114297"/>
                </a:cubicBezTo>
                <a:lnTo>
                  <a:pt x="7227570" y="1741173"/>
                </a:lnTo>
                <a:cubicBezTo>
                  <a:pt x="7227570" y="1804298"/>
                  <a:pt x="7176398" y="1855470"/>
                  <a:pt x="7113273" y="1855470"/>
                </a:cubicBezTo>
                <a:lnTo>
                  <a:pt x="114297" y="1855470"/>
                </a:lnTo>
                <a:cubicBezTo>
                  <a:pt x="51172" y="1855470"/>
                  <a:pt x="0" y="1804298"/>
                  <a:pt x="0" y="17411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120" y="3467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86276" y="3571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0" name="Text 18"/>
          <p:cNvSpPr/>
          <p:nvPr/>
        </p:nvSpPr>
        <p:spPr>
          <a:xfrm>
            <a:off x="1074420" y="3524250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多神话体系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120" y="4000500"/>
            <a:ext cx="6915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</a:t>
            </a: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中华、北欧、日本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三大神话体系，设计</a:t>
            </a:r>
            <a:r>
              <a:rPr lang="zh-CN" alt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后羿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、奥丁、须佐之男等神话角色。每个角色拥有独立的进化树和技能体系，在单局内通过战斗经验实现形态进化。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2930" y="4613910"/>
            <a:ext cx="1036320" cy="312420"/>
          </a:xfrm>
          <a:custGeom>
            <a:avLst/>
            <a:gdLst/>
            <a:ahLst/>
            <a:cxnLst/>
            <a:rect l="l" t="t" r="r" b="b"/>
            <a:pathLst>
              <a:path w="1036320" h="312420">
                <a:moveTo>
                  <a:pt x="76199" y="0"/>
                </a:moveTo>
                <a:lnTo>
                  <a:pt x="960121" y="0"/>
                </a:lnTo>
                <a:cubicBezTo>
                  <a:pt x="1002204" y="0"/>
                  <a:pt x="1036320" y="34116"/>
                  <a:pt x="1036320" y="76199"/>
                </a:cubicBezTo>
                <a:lnTo>
                  <a:pt x="1036320" y="236221"/>
                </a:lnTo>
                <a:cubicBezTo>
                  <a:pt x="1036320" y="278304"/>
                  <a:pt x="1002204" y="312420"/>
                  <a:pt x="960121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040" y="469392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37058"/>
                </a:moveTo>
                <a:lnTo>
                  <a:pt x="89327" y="33189"/>
                </a:lnTo>
                <a:cubicBezTo>
                  <a:pt x="87392" y="32712"/>
                  <a:pt x="85963" y="31075"/>
                  <a:pt x="85755" y="29081"/>
                </a:cubicBezTo>
                <a:cubicBezTo>
                  <a:pt x="85546" y="27087"/>
                  <a:pt x="86588" y="25182"/>
                  <a:pt x="88344" y="24289"/>
                </a:cubicBezTo>
                <a:lnTo>
                  <a:pt x="100489" y="18217"/>
                </a:lnTo>
                <a:lnTo>
                  <a:pt x="87600" y="8543"/>
                </a:lnTo>
                <a:cubicBezTo>
                  <a:pt x="85963" y="7322"/>
                  <a:pt x="85279" y="5179"/>
                  <a:pt x="85933" y="3215"/>
                </a:cubicBezTo>
                <a:cubicBezTo>
                  <a:pt x="86588" y="1250"/>
                  <a:pt x="88434" y="0"/>
                  <a:pt x="90488" y="0"/>
                </a:cubicBezTo>
                <a:lnTo>
                  <a:pt x="138113" y="0"/>
                </a:lnTo>
                <a:cubicBezTo>
                  <a:pt x="147102" y="0"/>
                  <a:pt x="155585" y="4227"/>
                  <a:pt x="160973" y="11430"/>
                </a:cubicBezTo>
                <a:lnTo>
                  <a:pt x="178117" y="34290"/>
                </a:lnTo>
                <a:cubicBezTo>
                  <a:pt x="179963" y="36761"/>
                  <a:pt x="180975" y="39767"/>
                  <a:pt x="180975" y="42863"/>
                </a:cubicBezTo>
                <a:cubicBezTo>
                  <a:pt x="180975" y="50750"/>
                  <a:pt x="174575" y="57150"/>
                  <a:pt x="166688" y="57150"/>
                </a:cubicBezTo>
                <a:lnTo>
                  <a:pt x="160288" y="57150"/>
                </a:lnTo>
                <a:cubicBezTo>
                  <a:pt x="155228" y="57150"/>
                  <a:pt x="150376" y="55156"/>
                  <a:pt x="146804" y="51584"/>
                </a:cubicBezTo>
                <a:lnTo>
                  <a:pt x="142845" y="47625"/>
                </a:lnTo>
                <a:lnTo>
                  <a:pt x="133320" y="47625"/>
                </a:lnTo>
                <a:lnTo>
                  <a:pt x="133320" y="54025"/>
                </a:lnTo>
                <a:cubicBezTo>
                  <a:pt x="133320" y="61406"/>
                  <a:pt x="137130" y="68282"/>
                  <a:pt x="143381" y="72211"/>
                </a:cubicBezTo>
                <a:lnTo>
                  <a:pt x="175111" y="92035"/>
                </a:lnTo>
                <a:cubicBezTo>
                  <a:pt x="184666" y="98018"/>
                  <a:pt x="190470" y="108466"/>
                  <a:pt x="190470" y="119747"/>
                </a:cubicBezTo>
                <a:cubicBezTo>
                  <a:pt x="190470" y="137785"/>
                  <a:pt x="175855" y="152430"/>
                  <a:pt x="157788" y="152430"/>
                </a:cubicBezTo>
                <a:lnTo>
                  <a:pt x="9614" y="152400"/>
                </a:lnTo>
                <a:cubicBezTo>
                  <a:pt x="8632" y="152400"/>
                  <a:pt x="7650" y="152281"/>
                  <a:pt x="6757" y="151983"/>
                </a:cubicBezTo>
                <a:cubicBezTo>
                  <a:pt x="4018" y="151150"/>
                  <a:pt x="1786" y="149126"/>
                  <a:pt x="685" y="146447"/>
                </a:cubicBezTo>
                <a:cubicBezTo>
                  <a:pt x="298" y="145465"/>
                  <a:pt x="30" y="144393"/>
                  <a:pt x="0" y="143262"/>
                </a:cubicBezTo>
                <a:cubicBezTo>
                  <a:pt x="-60" y="142161"/>
                  <a:pt x="89" y="141089"/>
                  <a:pt x="387" y="140077"/>
                </a:cubicBezTo>
                <a:cubicBezTo>
                  <a:pt x="1220" y="137339"/>
                  <a:pt x="3244" y="135106"/>
                  <a:pt x="5923" y="134005"/>
                </a:cubicBezTo>
                <a:cubicBezTo>
                  <a:pt x="6816" y="133648"/>
                  <a:pt x="7769" y="133410"/>
                  <a:pt x="8751" y="133350"/>
                </a:cubicBezTo>
                <a:lnTo>
                  <a:pt x="128974" y="122634"/>
                </a:lnTo>
                <a:cubicBezTo>
                  <a:pt x="131445" y="122426"/>
                  <a:pt x="133350" y="120342"/>
                  <a:pt x="133350" y="117842"/>
                </a:cubicBezTo>
                <a:cubicBezTo>
                  <a:pt x="133350" y="116562"/>
                  <a:pt x="132844" y="115342"/>
                  <a:pt x="131951" y="114449"/>
                </a:cubicBezTo>
                <a:lnTo>
                  <a:pt x="118735" y="101233"/>
                </a:lnTo>
                <a:cubicBezTo>
                  <a:pt x="109805" y="92303"/>
                  <a:pt x="104775" y="80189"/>
                  <a:pt x="104775" y="67568"/>
                </a:cubicBezTo>
                <a:lnTo>
                  <a:pt x="104775" y="37058"/>
                </a:lnTo>
                <a:close/>
                <a:moveTo>
                  <a:pt x="152400" y="21521"/>
                </a:moveTo>
                <a:cubicBezTo>
                  <a:pt x="152400" y="21491"/>
                  <a:pt x="152400" y="21461"/>
                  <a:pt x="152400" y="21431"/>
                </a:cubicBezTo>
                <a:cubicBezTo>
                  <a:pt x="152400" y="21401"/>
                  <a:pt x="152400" y="21372"/>
                  <a:pt x="152400" y="21342"/>
                </a:cubicBezTo>
                <a:lnTo>
                  <a:pt x="152400" y="21521"/>
                </a:lnTo>
                <a:close/>
                <a:moveTo>
                  <a:pt x="152013" y="23723"/>
                </a:moveTo>
                <a:lnTo>
                  <a:pt x="138202" y="20270"/>
                </a:lnTo>
                <a:cubicBezTo>
                  <a:pt x="138142" y="20657"/>
                  <a:pt x="138113" y="21044"/>
                  <a:pt x="138113" y="21431"/>
                </a:cubicBezTo>
                <a:cubicBezTo>
                  <a:pt x="138113" y="25390"/>
                  <a:pt x="141297" y="28575"/>
                  <a:pt x="145256" y="28575"/>
                </a:cubicBezTo>
                <a:cubicBezTo>
                  <a:pt x="148411" y="28575"/>
                  <a:pt x="151061" y="26551"/>
                  <a:pt x="152013" y="23723"/>
                </a:cubicBezTo>
                <a:close/>
                <a:moveTo>
                  <a:pt x="38963" y="34677"/>
                </a:moveTo>
                <a:cubicBezTo>
                  <a:pt x="43815" y="30361"/>
                  <a:pt x="50989" y="29855"/>
                  <a:pt x="56376" y="33457"/>
                </a:cubicBezTo>
                <a:lnTo>
                  <a:pt x="95250" y="59353"/>
                </a:lnTo>
                <a:lnTo>
                  <a:pt x="95250" y="67538"/>
                </a:lnTo>
                <a:cubicBezTo>
                  <a:pt x="95250" y="77301"/>
                  <a:pt x="97750" y="86826"/>
                  <a:pt x="102394" y="95220"/>
                </a:cubicBezTo>
                <a:lnTo>
                  <a:pt x="33338" y="95220"/>
                </a:lnTo>
                <a:cubicBezTo>
                  <a:pt x="31343" y="95220"/>
                  <a:pt x="29557" y="93970"/>
                  <a:pt x="28873" y="92125"/>
                </a:cubicBezTo>
                <a:cubicBezTo>
                  <a:pt x="28188" y="90279"/>
                  <a:pt x="28724" y="88166"/>
                  <a:pt x="30242" y="86856"/>
                </a:cubicBezTo>
                <a:lnTo>
                  <a:pt x="50899" y="69146"/>
                </a:lnTo>
                <a:lnTo>
                  <a:pt x="5477" y="76140"/>
                </a:lnTo>
                <a:cubicBezTo>
                  <a:pt x="3393" y="76468"/>
                  <a:pt x="1339" y="75367"/>
                  <a:pt x="446" y="73462"/>
                </a:cubicBezTo>
                <a:cubicBezTo>
                  <a:pt x="-446" y="71557"/>
                  <a:pt x="30" y="69294"/>
                  <a:pt x="1607" y="67866"/>
                </a:cubicBezTo>
                <a:lnTo>
                  <a:pt x="38963" y="34677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4" name="Text 22"/>
          <p:cNvSpPr/>
          <p:nvPr/>
        </p:nvSpPr>
        <p:spPr>
          <a:xfrm>
            <a:off x="967740" y="4674870"/>
            <a:ext cx="704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中华神话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741170" y="4613910"/>
            <a:ext cx="1036320" cy="312420"/>
          </a:xfrm>
          <a:custGeom>
            <a:avLst/>
            <a:gdLst/>
            <a:ahLst/>
            <a:cxnLst/>
            <a:rect l="l" t="t" r="r" b="b"/>
            <a:pathLst>
              <a:path w="1036320" h="312420">
                <a:moveTo>
                  <a:pt x="76199" y="0"/>
                </a:moveTo>
                <a:lnTo>
                  <a:pt x="960121" y="0"/>
                </a:lnTo>
                <a:cubicBezTo>
                  <a:pt x="1002204" y="0"/>
                  <a:pt x="1036320" y="34116"/>
                  <a:pt x="1036320" y="76199"/>
                </a:cubicBezTo>
                <a:lnTo>
                  <a:pt x="1036320" y="236221"/>
                </a:lnTo>
                <a:cubicBezTo>
                  <a:pt x="1036320" y="278304"/>
                  <a:pt x="1002204" y="312420"/>
                  <a:pt x="960121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59280" y="469392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3491" y="5447"/>
                </a:moveTo>
                <a:lnTo>
                  <a:pt x="80665" y="1131"/>
                </a:lnTo>
                <a:cubicBezTo>
                  <a:pt x="87094" y="-2738"/>
                  <a:pt x="94446" y="-4762"/>
                  <a:pt x="101947" y="-4762"/>
                </a:cubicBezTo>
                <a:cubicBezTo>
                  <a:pt x="112901" y="-4762"/>
                  <a:pt x="123438" y="-417"/>
                  <a:pt x="131177" y="7352"/>
                </a:cubicBezTo>
                <a:lnTo>
                  <a:pt x="150197" y="26372"/>
                </a:lnTo>
                <a:cubicBezTo>
                  <a:pt x="154662" y="30837"/>
                  <a:pt x="157163" y="36909"/>
                  <a:pt x="157163" y="43220"/>
                </a:cubicBezTo>
                <a:lnTo>
                  <a:pt x="157163" y="52417"/>
                </a:lnTo>
                <a:lnTo>
                  <a:pt x="163026" y="58281"/>
                </a:lnTo>
                <a:lnTo>
                  <a:pt x="163026" y="58281"/>
                </a:lnTo>
                <a:cubicBezTo>
                  <a:pt x="167670" y="53638"/>
                  <a:pt x="175200" y="53638"/>
                  <a:pt x="179874" y="58281"/>
                </a:cubicBezTo>
                <a:cubicBezTo>
                  <a:pt x="184547" y="62925"/>
                  <a:pt x="184517" y="70455"/>
                  <a:pt x="179874" y="75128"/>
                </a:cubicBezTo>
                <a:lnTo>
                  <a:pt x="160824" y="94178"/>
                </a:lnTo>
                <a:cubicBezTo>
                  <a:pt x="156180" y="98822"/>
                  <a:pt x="148650" y="98822"/>
                  <a:pt x="143976" y="94178"/>
                </a:cubicBezTo>
                <a:cubicBezTo>
                  <a:pt x="139303" y="89535"/>
                  <a:pt x="139333" y="82004"/>
                  <a:pt x="143976" y="77331"/>
                </a:cubicBezTo>
                <a:lnTo>
                  <a:pt x="138113" y="71438"/>
                </a:lnTo>
                <a:lnTo>
                  <a:pt x="128915" y="71438"/>
                </a:lnTo>
                <a:cubicBezTo>
                  <a:pt x="122605" y="71438"/>
                  <a:pt x="116532" y="68937"/>
                  <a:pt x="112068" y="64472"/>
                </a:cubicBezTo>
                <a:lnTo>
                  <a:pt x="97453" y="49857"/>
                </a:lnTo>
                <a:cubicBezTo>
                  <a:pt x="92988" y="45393"/>
                  <a:pt x="90488" y="39320"/>
                  <a:pt x="90488" y="33010"/>
                </a:cubicBezTo>
                <a:lnTo>
                  <a:pt x="90488" y="29230"/>
                </a:lnTo>
                <a:cubicBezTo>
                  <a:pt x="90488" y="25896"/>
                  <a:pt x="88731" y="22771"/>
                  <a:pt x="85874" y="21074"/>
                </a:cubicBezTo>
                <a:lnTo>
                  <a:pt x="73491" y="13633"/>
                </a:lnTo>
                <a:cubicBezTo>
                  <a:pt x="70396" y="11787"/>
                  <a:pt x="70396" y="7322"/>
                  <a:pt x="73491" y="5477"/>
                </a:cubicBezTo>
                <a:close/>
                <a:moveTo>
                  <a:pt x="15091" y="119866"/>
                </a:moveTo>
                <a:lnTo>
                  <a:pt x="81201" y="53757"/>
                </a:lnTo>
                <a:lnTo>
                  <a:pt x="108139" y="80695"/>
                </a:lnTo>
                <a:lnTo>
                  <a:pt x="42029" y="146804"/>
                </a:lnTo>
                <a:cubicBezTo>
                  <a:pt x="34588" y="154245"/>
                  <a:pt x="22533" y="154245"/>
                  <a:pt x="15091" y="146804"/>
                </a:cubicBezTo>
                <a:cubicBezTo>
                  <a:pt x="7650" y="139363"/>
                  <a:pt x="7650" y="127308"/>
                  <a:pt x="15091" y="11986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7" name="Text 25"/>
          <p:cNvSpPr/>
          <p:nvPr/>
        </p:nvSpPr>
        <p:spPr>
          <a:xfrm>
            <a:off x="2125980" y="4674870"/>
            <a:ext cx="65151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北欧神话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899410" y="4613910"/>
            <a:ext cx="1036320" cy="312420"/>
          </a:xfrm>
          <a:custGeom>
            <a:avLst/>
            <a:gdLst/>
            <a:ahLst/>
            <a:cxnLst/>
            <a:rect l="l" t="t" r="r" b="b"/>
            <a:pathLst>
              <a:path w="1036320" h="312420">
                <a:moveTo>
                  <a:pt x="76199" y="0"/>
                </a:moveTo>
                <a:lnTo>
                  <a:pt x="960121" y="0"/>
                </a:lnTo>
                <a:cubicBezTo>
                  <a:pt x="1002204" y="0"/>
                  <a:pt x="1036320" y="34116"/>
                  <a:pt x="1036320" y="76199"/>
                </a:cubicBezTo>
                <a:lnTo>
                  <a:pt x="1036320" y="236221"/>
                </a:lnTo>
                <a:cubicBezTo>
                  <a:pt x="1036320" y="278304"/>
                  <a:pt x="1002204" y="312420"/>
                  <a:pt x="960121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46095" y="46939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28575"/>
                </a:moveTo>
                <a:lnTo>
                  <a:pt x="0" y="8483"/>
                </a:lnTo>
                <a:cubicBezTo>
                  <a:pt x="0" y="6429"/>
                  <a:pt x="1667" y="4763"/>
                  <a:pt x="3721" y="4763"/>
                </a:cubicBezTo>
                <a:cubicBezTo>
                  <a:pt x="4405" y="4763"/>
                  <a:pt x="5060" y="4941"/>
                  <a:pt x="5655" y="5298"/>
                </a:cubicBezTo>
                <a:lnTo>
                  <a:pt x="17264" y="12263"/>
                </a:lnTo>
                <a:cubicBezTo>
                  <a:pt x="24676" y="16699"/>
                  <a:pt x="33129" y="19050"/>
                  <a:pt x="41761" y="19050"/>
                </a:cubicBezTo>
                <a:lnTo>
                  <a:pt x="91589" y="19050"/>
                </a:lnTo>
                <a:cubicBezTo>
                  <a:pt x="100221" y="19050"/>
                  <a:pt x="108704" y="16699"/>
                  <a:pt x="116086" y="12263"/>
                </a:cubicBezTo>
                <a:lnTo>
                  <a:pt x="127695" y="5298"/>
                </a:lnTo>
                <a:cubicBezTo>
                  <a:pt x="128260" y="4941"/>
                  <a:pt x="128945" y="4763"/>
                  <a:pt x="129600" y="4763"/>
                </a:cubicBezTo>
                <a:cubicBezTo>
                  <a:pt x="131653" y="4763"/>
                  <a:pt x="133320" y="6429"/>
                  <a:pt x="133320" y="8483"/>
                </a:cubicBezTo>
                <a:lnTo>
                  <a:pt x="133350" y="28575"/>
                </a:lnTo>
                <a:cubicBezTo>
                  <a:pt x="133350" y="39082"/>
                  <a:pt x="124807" y="47625"/>
                  <a:pt x="114300" y="47625"/>
                </a:cubicBezTo>
                <a:lnTo>
                  <a:pt x="114300" y="66675"/>
                </a:lnTo>
                <a:lnTo>
                  <a:pt x="119062" y="66675"/>
                </a:lnTo>
                <a:cubicBezTo>
                  <a:pt x="124331" y="66675"/>
                  <a:pt x="128588" y="70931"/>
                  <a:pt x="128588" y="76200"/>
                </a:cubicBezTo>
                <a:cubicBezTo>
                  <a:pt x="128588" y="81469"/>
                  <a:pt x="124331" y="85725"/>
                  <a:pt x="119062" y="85725"/>
                </a:cubicBezTo>
                <a:lnTo>
                  <a:pt x="114300" y="85725"/>
                </a:lnTo>
                <a:lnTo>
                  <a:pt x="114300" y="142875"/>
                </a:lnTo>
                <a:cubicBezTo>
                  <a:pt x="114300" y="148144"/>
                  <a:pt x="110044" y="152400"/>
                  <a:pt x="104775" y="152400"/>
                </a:cubicBezTo>
                <a:cubicBezTo>
                  <a:pt x="99506" y="152400"/>
                  <a:pt x="95250" y="148144"/>
                  <a:pt x="95250" y="142875"/>
                </a:cubicBezTo>
                <a:lnTo>
                  <a:pt x="95250" y="85725"/>
                </a:lnTo>
                <a:lnTo>
                  <a:pt x="38100" y="85725"/>
                </a:lnTo>
                <a:lnTo>
                  <a:pt x="38100" y="142875"/>
                </a:lnTo>
                <a:cubicBezTo>
                  <a:pt x="38100" y="148144"/>
                  <a:pt x="33844" y="152400"/>
                  <a:pt x="28575" y="152400"/>
                </a:cubicBezTo>
                <a:cubicBezTo>
                  <a:pt x="23306" y="152400"/>
                  <a:pt x="19050" y="148144"/>
                  <a:pt x="19050" y="142875"/>
                </a:cubicBezTo>
                <a:lnTo>
                  <a:pt x="19050" y="85725"/>
                </a:lnTo>
                <a:lnTo>
                  <a:pt x="14288" y="85725"/>
                </a:lnTo>
                <a:cubicBezTo>
                  <a:pt x="9019" y="85725"/>
                  <a:pt x="4763" y="81469"/>
                  <a:pt x="4763" y="76200"/>
                </a:cubicBezTo>
                <a:cubicBezTo>
                  <a:pt x="4763" y="70931"/>
                  <a:pt x="9019" y="66675"/>
                  <a:pt x="14288" y="66675"/>
                </a:cubicBezTo>
                <a:lnTo>
                  <a:pt x="19050" y="66675"/>
                </a:lnTo>
                <a:lnTo>
                  <a:pt x="19050" y="47625"/>
                </a:lnTo>
                <a:cubicBezTo>
                  <a:pt x="8543" y="47625"/>
                  <a:pt x="0" y="39082"/>
                  <a:pt x="0" y="28575"/>
                </a:cubicBezTo>
                <a:close/>
                <a:moveTo>
                  <a:pt x="38100" y="66675"/>
                </a:moveTo>
                <a:lnTo>
                  <a:pt x="57150" y="66675"/>
                </a:lnTo>
                <a:lnTo>
                  <a:pt x="57150" y="47625"/>
                </a:lnTo>
                <a:lnTo>
                  <a:pt x="38100" y="47625"/>
                </a:lnTo>
                <a:lnTo>
                  <a:pt x="38100" y="66675"/>
                </a:lnTo>
                <a:close/>
                <a:moveTo>
                  <a:pt x="76200" y="66675"/>
                </a:moveTo>
                <a:lnTo>
                  <a:pt x="95250" y="66675"/>
                </a:lnTo>
                <a:lnTo>
                  <a:pt x="95250" y="47625"/>
                </a:lnTo>
                <a:lnTo>
                  <a:pt x="76200" y="47625"/>
                </a:lnTo>
                <a:lnTo>
                  <a:pt x="76200" y="66675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0" name="Text 28"/>
          <p:cNvSpPr/>
          <p:nvPr/>
        </p:nvSpPr>
        <p:spPr>
          <a:xfrm>
            <a:off x="3284220" y="4674870"/>
            <a:ext cx="65151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日本神话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14310" y="1299210"/>
            <a:ext cx="3989070" cy="2693670"/>
          </a:xfrm>
          <a:custGeom>
            <a:avLst/>
            <a:gdLst/>
            <a:ahLst/>
            <a:cxnLst/>
            <a:rect l="l" t="t" r="r" b="b"/>
            <a:pathLst>
              <a:path w="3989070" h="2693670">
                <a:moveTo>
                  <a:pt x="114292" y="0"/>
                </a:moveTo>
                <a:lnTo>
                  <a:pt x="3874778" y="0"/>
                </a:lnTo>
                <a:cubicBezTo>
                  <a:pt x="3937900" y="0"/>
                  <a:pt x="3989070" y="51170"/>
                  <a:pt x="3989070" y="114292"/>
                </a:cubicBezTo>
                <a:lnTo>
                  <a:pt x="3989070" y="2579378"/>
                </a:lnTo>
                <a:cubicBezTo>
                  <a:pt x="3989070" y="2642500"/>
                  <a:pt x="3937900" y="2693670"/>
                  <a:pt x="3874778" y="2693670"/>
                </a:cubicBezTo>
                <a:lnTo>
                  <a:pt x="114292" y="2693670"/>
                </a:lnTo>
                <a:cubicBezTo>
                  <a:pt x="51170" y="2693670"/>
                  <a:pt x="0" y="2642500"/>
                  <a:pt x="0" y="257937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21717" y="154114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3" name="Text 31"/>
          <p:cNvSpPr/>
          <p:nvPr/>
        </p:nvSpPr>
        <p:spPr>
          <a:xfrm>
            <a:off x="8227695" y="1493520"/>
            <a:ext cx="3467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08620" y="2297430"/>
            <a:ext cx="3600450" cy="7620"/>
          </a:xfrm>
          <a:custGeom>
            <a:avLst/>
            <a:gdLst/>
            <a:ahLst/>
            <a:cxnLst/>
            <a:rect l="l" t="t" r="r" b="b"/>
            <a:pathLst>
              <a:path w="3600450" h="7620">
                <a:moveTo>
                  <a:pt x="0" y="0"/>
                </a:moveTo>
                <a:lnTo>
                  <a:pt x="3600450" y="0"/>
                </a:lnTo>
                <a:lnTo>
                  <a:pt x="3600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8008620" y="198882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游戏引擎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78440" y="1988820"/>
            <a:ext cx="131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Unity 2022.3 LTS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08620" y="2800350"/>
            <a:ext cx="3600450" cy="7620"/>
          </a:xfrm>
          <a:custGeom>
            <a:avLst/>
            <a:gdLst/>
            <a:ahLst/>
            <a:cxnLst/>
            <a:rect l="l" t="t" r="r" b="b"/>
            <a:pathLst>
              <a:path w="3600450" h="7620">
                <a:moveTo>
                  <a:pt x="0" y="0"/>
                </a:moveTo>
                <a:lnTo>
                  <a:pt x="3600450" y="0"/>
                </a:lnTo>
                <a:lnTo>
                  <a:pt x="3600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8008620" y="249174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开发框架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32005" y="2491740"/>
            <a:ext cx="1352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GameFramework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08620" y="3303270"/>
            <a:ext cx="3600450" cy="7620"/>
          </a:xfrm>
          <a:custGeom>
            <a:avLst/>
            <a:gdLst/>
            <a:ahLst/>
            <a:cxnLst/>
            <a:rect l="l" t="t" r="r" b="b"/>
            <a:pathLst>
              <a:path w="3600450" h="7620">
                <a:moveTo>
                  <a:pt x="0" y="0"/>
                </a:moveTo>
                <a:lnTo>
                  <a:pt x="3600450" y="0"/>
                </a:lnTo>
                <a:lnTo>
                  <a:pt x="3600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8008620" y="299466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渲染管线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562273" y="2994660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URP Universal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08620" y="3497581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版本控制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423327" y="3497581"/>
            <a:ext cx="1266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 + Sourcetree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814310" y="4156710"/>
            <a:ext cx="3989070" cy="2312670"/>
          </a:xfrm>
          <a:custGeom>
            <a:avLst/>
            <a:gdLst/>
            <a:ahLst/>
            <a:cxnLst/>
            <a:rect l="l" t="t" r="r" b="b"/>
            <a:pathLst>
              <a:path w="3989070" h="2312670">
                <a:moveTo>
                  <a:pt x="114292" y="0"/>
                </a:moveTo>
                <a:lnTo>
                  <a:pt x="3874778" y="0"/>
                </a:lnTo>
                <a:cubicBezTo>
                  <a:pt x="3937900" y="0"/>
                  <a:pt x="3989070" y="51170"/>
                  <a:pt x="3989070" y="114292"/>
                </a:cubicBezTo>
                <a:lnTo>
                  <a:pt x="3989070" y="2198378"/>
                </a:lnTo>
                <a:cubicBezTo>
                  <a:pt x="3989070" y="2261500"/>
                  <a:pt x="3937900" y="2312670"/>
                  <a:pt x="3874778" y="2312670"/>
                </a:cubicBezTo>
                <a:lnTo>
                  <a:pt x="114292" y="2312670"/>
                </a:lnTo>
                <a:cubicBezTo>
                  <a:pt x="51170" y="2312670"/>
                  <a:pt x="0" y="2261500"/>
                  <a:pt x="0" y="219837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32432" y="43986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7" name="Text 45"/>
          <p:cNvSpPr/>
          <p:nvPr/>
        </p:nvSpPr>
        <p:spPr>
          <a:xfrm>
            <a:off x="8227695" y="4351020"/>
            <a:ext cx="3467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开发目标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08620" y="47891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8072914" y="48463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0" name="Text 48"/>
          <p:cNvSpPr/>
          <p:nvPr/>
        </p:nvSpPr>
        <p:spPr>
          <a:xfrm>
            <a:off x="8351520" y="4770120"/>
            <a:ext cx="2590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验证"探索+自走棋"融合玩法的可行性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08620" y="51511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8072914" y="520827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3" name="Text 51"/>
          <p:cNvSpPr/>
          <p:nvPr/>
        </p:nvSpPr>
        <p:spPr>
          <a:xfrm>
            <a:off x="8351520" y="5132070"/>
            <a:ext cx="2057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建立配置驱动的内容扩展体系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08620" y="5513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8072914" y="55702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6" name="Text 54"/>
          <p:cNvSpPr/>
          <p:nvPr/>
        </p:nvSpPr>
        <p:spPr>
          <a:xfrm>
            <a:off x="8351520" y="549402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实现风格化渲染与性能平衡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08620" y="58750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8072914" y="593217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9" name="Text 57"/>
          <p:cNvSpPr/>
          <p:nvPr/>
        </p:nvSpPr>
        <p:spPr>
          <a:xfrm>
            <a:off x="8351520" y="5855970"/>
            <a:ext cx="2362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产出可复用的技术模块与开发范式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开发架构思维导图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绿色标注为1-4周已完成的开发模块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" y="1600200"/>
            <a:ext cx="11630025" cy="50044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7b2f09975295a0029a11980ba13c69c4caed1e7c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90000">
                <a:srgbClr val="1A1D24"/>
              </a:gs>
              <a:gs pos="98000">
                <a:srgbClr val="1A1D2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4810" y="874871"/>
            <a:ext cx="1560195" cy="426720"/>
          </a:xfrm>
          <a:custGeom>
            <a:avLst/>
            <a:gdLst/>
            <a:ahLst/>
            <a:cxnLst/>
            <a:rect l="l" t="t" r="r" b="b"/>
            <a:pathLst>
              <a:path w="1560195" h="426720">
                <a:moveTo>
                  <a:pt x="76199" y="0"/>
                </a:moveTo>
                <a:lnTo>
                  <a:pt x="1483996" y="0"/>
                </a:lnTo>
                <a:cubicBezTo>
                  <a:pt x="1526079" y="0"/>
                  <a:pt x="1560195" y="34116"/>
                  <a:pt x="1560195" y="76199"/>
                </a:cubicBezTo>
                <a:lnTo>
                  <a:pt x="1560195" y="350521"/>
                </a:lnTo>
                <a:cubicBezTo>
                  <a:pt x="1560195" y="392604"/>
                  <a:pt x="1526079" y="426720"/>
                  <a:pt x="1483996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954881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10202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本周完成的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具体工作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29502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5"/>
          <p:cNvSpPr/>
          <p:nvPr/>
        </p:nvSpPr>
        <p:spPr>
          <a:xfrm>
            <a:off x="381000" y="3991452"/>
            <a:ext cx="65436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b="1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工程基础搭建与核心系统实现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8D93A6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整合第1-4周开发成果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5297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90538" y="566308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8"/>
          <p:cNvSpPr/>
          <p:nvPr/>
        </p:nvSpPr>
        <p:spPr>
          <a:xfrm>
            <a:off x="952500" y="5624989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工程基础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43100" y="55297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2076450" y="566308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1"/>
          <p:cNvSpPr/>
          <p:nvPr/>
        </p:nvSpPr>
        <p:spPr>
          <a:xfrm>
            <a:off x="2514600" y="5624989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UI系统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336250" y="55297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3445788" y="566308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4"/>
          <p:cNvSpPr/>
          <p:nvPr/>
        </p:nvSpPr>
        <p:spPr>
          <a:xfrm>
            <a:off x="3907750" y="5624989"/>
            <a:ext cx="628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3C系统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60000" y="55297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4893350" y="566308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0" name="Text 17"/>
          <p:cNvSpPr/>
          <p:nvPr/>
        </p:nvSpPr>
        <p:spPr>
          <a:xfrm>
            <a:off x="5331500" y="5624989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状态管理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WEEK 01 · PROJECT STARTUP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工程基础：项目启动与框架搭建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5627370" cy="1550670"/>
          </a:xfrm>
          <a:custGeom>
            <a:avLst/>
            <a:gdLst/>
            <a:ahLst/>
            <a:cxnLst/>
            <a:rect l="l" t="t" r="r" b="b"/>
            <a:pathLst>
              <a:path w="5627370" h="1550670">
                <a:moveTo>
                  <a:pt x="114300" y="0"/>
                </a:moveTo>
                <a:lnTo>
                  <a:pt x="5513070" y="0"/>
                </a:lnTo>
                <a:cubicBezTo>
                  <a:pt x="5576196" y="0"/>
                  <a:pt x="5627370" y="51174"/>
                  <a:pt x="5627370" y="114300"/>
                </a:cubicBezTo>
                <a:lnTo>
                  <a:pt x="5627370" y="1436370"/>
                </a:lnTo>
                <a:cubicBezTo>
                  <a:pt x="5627370" y="1499496"/>
                  <a:pt x="5576196" y="1550670"/>
                  <a:pt x="5513070" y="1550670"/>
                </a:cubicBezTo>
                <a:lnTo>
                  <a:pt x="114300" y="1550670"/>
                </a:lnTo>
                <a:cubicBezTo>
                  <a:pt x="51174" y="1550670"/>
                  <a:pt x="0" y="1499496"/>
                  <a:pt x="0" y="14363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1020" y="1417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48176" y="15220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1036320" y="147447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项目立项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12620"/>
            <a:ext cx="53911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完成《诸神对决》项目立项，确定</a:t>
            </a: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"第三人称探索 + 自走棋战斗"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的核心玩法方向。通过市场调研和竞品分析，验证融合玩法的可行性，明确项目的技术路线和开发目标。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810" y="2933701"/>
            <a:ext cx="5627370" cy="1950720"/>
          </a:xfrm>
          <a:custGeom>
            <a:avLst/>
            <a:gdLst/>
            <a:ahLst/>
            <a:cxnLst/>
            <a:rect l="l" t="t" r="r" b="b"/>
            <a:pathLst>
              <a:path w="5627370" h="1950720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1836427"/>
                </a:lnTo>
                <a:cubicBezTo>
                  <a:pt x="5627370" y="1899549"/>
                  <a:pt x="5576199" y="1950720"/>
                  <a:pt x="5513077" y="1950720"/>
                </a:cubicBezTo>
                <a:lnTo>
                  <a:pt x="114293" y="1950720"/>
                </a:lnTo>
                <a:cubicBezTo>
                  <a:pt x="51171" y="1950720"/>
                  <a:pt x="0" y="1899549"/>
                  <a:pt x="0" y="18364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020" y="30899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48176" y="319468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Text 10"/>
          <p:cNvSpPr/>
          <p:nvPr/>
        </p:nvSpPr>
        <p:spPr>
          <a:xfrm>
            <a:off x="1036320" y="3147059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工程搭建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070" y="36233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2"/>
          <p:cNvSpPr/>
          <p:nvPr/>
        </p:nvSpPr>
        <p:spPr>
          <a:xfrm>
            <a:off x="845820" y="3585209"/>
            <a:ext cx="2171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搭建Unity 2022.3 LTS项目工程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070" y="39281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6" name="Text 14"/>
          <p:cNvSpPr/>
          <p:nvPr/>
        </p:nvSpPr>
        <p:spPr>
          <a:xfrm>
            <a:off x="845820" y="3890009"/>
            <a:ext cx="2409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集成GameFramework（GF）框架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0070" y="42329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8" name="Text 16"/>
          <p:cNvSpPr/>
          <p:nvPr/>
        </p:nvSpPr>
        <p:spPr>
          <a:xfrm>
            <a:off x="845820" y="4194809"/>
            <a:ext cx="1495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建立Git版本控制仓库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0070" y="45377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0" name="Text 18"/>
          <p:cNvSpPr/>
          <p:nvPr/>
        </p:nvSpPr>
        <p:spPr>
          <a:xfrm>
            <a:off x="845820" y="4499609"/>
            <a:ext cx="2305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配置.gitignore和Sourcetree环境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010" y="1261110"/>
            <a:ext cx="5627370" cy="1912620"/>
          </a:xfrm>
          <a:custGeom>
            <a:avLst/>
            <a:gdLst/>
            <a:ahLst/>
            <a:cxnLst/>
            <a:rect l="l" t="t" r="r" b="b"/>
            <a:pathLst>
              <a:path w="5627370" h="1912620">
                <a:moveTo>
                  <a:pt x="114298" y="0"/>
                </a:moveTo>
                <a:lnTo>
                  <a:pt x="5513072" y="0"/>
                </a:lnTo>
                <a:cubicBezTo>
                  <a:pt x="5576197" y="0"/>
                  <a:pt x="5627370" y="51173"/>
                  <a:pt x="5627370" y="114298"/>
                </a:cubicBezTo>
                <a:lnTo>
                  <a:pt x="5627370" y="1798322"/>
                </a:lnTo>
                <a:cubicBezTo>
                  <a:pt x="5627370" y="1861447"/>
                  <a:pt x="5576197" y="1912620"/>
                  <a:pt x="5513072" y="1912620"/>
                </a:cubicBezTo>
                <a:lnTo>
                  <a:pt x="114298" y="1912620"/>
                </a:lnTo>
                <a:cubicBezTo>
                  <a:pt x="51173" y="1912620"/>
                  <a:pt x="0" y="1861447"/>
                  <a:pt x="0" y="179832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2220" y="1417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450092" y="152209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171450"/>
                </a:moveTo>
                <a:lnTo>
                  <a:pt x="32147" y="171450"/>
                </a:lnTo>
                <a:cubicBezTo>
                  <a:pt x="14399" y="171450"/>
                  <a:pt x="0" y="157051"/>
                  <a:pt x="0" y="139303"/>
                </a:cubicBezTo>
                <a:lnTo>
                  <a:pt x="0" y="32147"/>
                </a:lnTo>
                <a:cubicBezTo>
                  <a:pt x="0" y="14399"/>
                  <a:pt x="14399" y="0"/>
                  <a:pt x="32147" y="0"/>
                </a:cubicBezTo>
                <a:lnTo>
                  <a:pt x="133945" y="0"/>
                </a:lnTo>
                <a:cubicBezTo>
                  <a:pt x="142819" y="0"/>
                  <a:pt x="150019" y="7200"/>
                  <a:pt x="150019" y="16073"/>
                </a:cubicBezTo>
                <a:lnTo>
                  <a:pt x="150019" y="112514"/>
                </a:lnTo>
                <a:cubicBezTo>
                  <a:pt x="150019" y="119513"/>
                  <a:pt x="145532" y="125473"/>
                  <a:pt x="139303" y="127683"/>
                </a:cubicBezTo>
                <a:lnTo>
                  <a:pt x="139303" y="150019"/>
                </a:lnTo>
                <a:cubicBezTo>
                  <a:pt x="145230" y="150019"/>
                  <a:pt x="150019" y="154807"/>
                  <a:pt x="150019" y="160734"/>
                </a:cubicBezTo>
                <a:cubicBezTo>
                  <a:pt x="150019" y="166661"/>
                  <a:pt x="145230" y="171450"/>
                  <a:pt x="139303" y="171450"/>
                </a:cubicBezTo>
                <a:lnTo>
                  <a:pt x="128588" y="171450"/>
                </a:lnTo>
                <a:close/>
                <a:moveTo>
                  <a:pt x="32147" y="128588"/>
                </a:moveTo>
                <a:cubicBezTo>
                  <a:pt x="26220" y="128588"/>
                  <a:pt x="21431" y="133376"/>
                  <a:pt x="21431" y="139303"/>
                </a:cubicBezTo>
                <a:cubicBezTo>
                  <a:pt x="21431" y="145230"/>
                  <a:pt x="26220" y="150019"/>
                  <a:pt x="32147" y="150019"/>
                </a:cubicBezTo>
                <a:lnTo>
                  <a:pt x="117872" y="150019"/>
                </a:lnTo>
                <a:lnTo>
                  <a:pt x="117872" y="128588"/>
                </a:lnTo>
                <a:lnTo>
                  <a:pt x="32147" y="128588"/>
                </a:lnTo>
                <a:close/>
                <a:moveTo>
                  <a:pt x="42863" y="50899"/>
                </a:moveTo>
                <a:cubicBezTo>
                  <a:pt x="42863" y="55353"/>
                  <a:pt x="46446" y="58936"/>
                  <a:pt x="50899" y="58936"/>
                </a:cubicBezTo>
                <a:lnTo>
                  <a:pt x="109835" y="58936"/>
                </a:lnTo>
                <a:cubicBezTo>
                  <a:pt x="114289" y="58936"/>
                  <a:pt x="117872" y="55353"/>
                  <a:pt x="117872" y="50899"/>
                </a:cubicBezTo>
                <a:cubicBezTo>
                  <a:pt x="117872" y="46446"/>
                  <a:pt x="114289" y="42863"/>
                  <a:pt x="109835" y="42863"/>
                </a:cubicBezTo>
                <a:lnTo>
                  <a:pt x="50899" y="42863"/>
                </a:lnTo>
                <a:cubicBezTo>
                  <a:pt x="46446" y="42863"/>
                  <a:pt x="42863" y="46446"/>
                  <a:pt x="42863" y="50899"/>
                </a:cubicBezTo>
                <a:close/>
                <a:moveTo>
                  <a:pt x="50899" y="75009"/>
                </a:moveTo>
                <a:cubicBezTo>
                  <a:pt x="46446" y="75009"/>
                  <a:pt x="42863" y="78592"/>
                  <a:pt x="42863" y="83046"/>
                </a:cubicBezTo>
                <a:cubicBezTo>
                  <a:pt x="42863" y="87500"/>
                  <a:pt x="46446" y="91083"/>
                  <a:pt x="50899" y="91083"/>
                </a:cubicBezTo>
                <a:lnTo>
                  <a:pt x="109835" y="91083"/>
                </a:lnTo>
                <a:cubicBezTo>
                  <a:pt x="114289" y="91083"/>
                  <a:pt x="117872" y="87500"/>
                  <a:pt x="117872" y="83046"/>
                </a:cubicBezTo>
                <a:cubicBezTo>
                  <a:pt x="117872" y="78592"/>
                  <a:pt x="114289" y="75009"/>
                  <a:pt x="109835" y="75009"/>
                </a:cubicBezTo>
                <a:lnTo>
                  <a:pt x="50899" y="75009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4" name="Text 22"/>
          <p:cNvSpPr/>
          <p:nvPr/>
        </p:nvSpPr>
        <p:spPr>
          <a:xfrm>
            <a:off x="6827520" y="147447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框架学习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2220" y="1912620"/>
            <a:ext cx="53911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阅读并整理GF框架开发文档，熟悉核心模块的使用方法：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6030" y="2278380"/>
            <a:ext cx="1712595" cy="731520"/>
          </a:xfrm>
          <a:custGeom>
            <a:avLst/>
            <a:gdLst/>
            <a:ahLst/>
            <a:cxnLst/>
            <a:rect l="l" t="t" r="r" b="b"/>
            <a:pathLst>
              <a:path w="1712595" h="731520">
                <a:moveTo>
                  <a:pt x="76202" y="0"/>
                </a:moveTo>
                <a:lnTo>
                  <a:pt x="1636393" y="0"/>
                </a:lnTo>
                <a:cubicBezTo>
                  <a:pt x="1678478" y="0"/>
                  <a:pt x="1712595" y="34117"/>
                  <a:pt x="1712595" y="76202"/>
                </a:cubicBezTo>
                <a:lnTo>
                  <a:pt x="1712595" y="655318"/>
                </a:lnTo>
                <a:cubicBezTo>
                  <a:pt x="1712595" y="697403"/>
                  <a:pt x="1678478" y="731520"/>
                  <a:pt x="163639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09936" y="2381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32147"/>
                </a:moveTo>
                <a:cubicBezTo>
                  <a:pt x="0" y="26220"/>
                  <a:pt x="4789" y="21431"/>
                  <a:pt x="10716" y="21431"/>
                </a:cubicBezTo>
                <a:lnTo>
                  <a:pt x="139303" y="21431"/>
                </a:lnTo>
                <a:cubicBezTo>
                  <a:pt x="145230" y="21431"/>
                  <a:pt x="150019" y="26220"/>
                  <a:pt x="150019" y="32147"/>
                </a:cubicBezTo>
                <a:cubicBezTo>
                  <a:pt x="150019" y="38074"/>
                  <a:pt x="145230" y="42863"/>
                  <a:pt x="139303" y="42863"/>
                </a:cubicBezTo>
                <a:lnTo>
                  <a:pt x="10716" y="42863"/>
                </a:lnTo>
                <a:cubicBezTo>
                  <a:pt x="4789" y="42863"/>
                  <a:pt x="0" y="38074"/>
                  <a:pt x="0" y="32147"/>
                </a:cubicBezTo>
                <a:close/>
                <a:moveTo>
                  <a:pt x="21431" y="85725"/>
                </a:moveTo>
                <a:cubicBezTo>
                  <a:pt x="21431" y="79798"/>
                  <a:pt x="26220" y="75009"/>
                  <a:pt x="32147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32147" y="96441"/>
                </a:lnTo>
                <a:cubicBezTo>
                  <a:pt x="26220" y="96441"/>
                  <a:pt x="21431" y="91652"/>
                  <a:pt x="21431" y="85725"/>
                </a:cubicBezTo>
                <a:close/>
                <a:moveTo>
                  <a:pt x="150019" y="139303"/>
                </a:moveTo>
                <a:cubicBezTo>
                  <a:pt x="150019" y="145230"/>
                  <a:pt x="145230" y="150019"/>
                  <a:pt x="139303" y="150019"/>
                </a:cubicBezTo>
                <a:lnTo>
                  <a:pt x="10716" y="150019"/>
                </a:lnTo>
                <a:cubicBezTo>
                  <a:pt x="4789" y="150019"/>
                  <a:pt x="0" y="145230"/>
                  <a:pt x="0" y="139303"/>
                </a:cubicBezTo>
                <a:cubicBezTo>
                  <a:pt x="0" y="133376"/>
                  <a:pt x="4789" y="128588"/>
                  <a:pt x="10716" y="128588"/>
                </a:cubicBezTo>
                <a:lnTo>
                  <a:pt x="139303" y="128588"/>
                </a:lnTo>
                <a:cubicBezTo>
                  <a:pt x="145230" y="128588"/>
                  <a:pt x="150019" y="133376"/>
                  <a:pt x="150019" y="13930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6"/>
          <p:cNvSpPr/>
          <p:nvPr/>
        </p:nvSpPr>
        <p:spPr>
          <a:xfrm>
            <a:off x="6382703" y="2590800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Procedure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87465" y="2781300"/>
            <a:ext cx="1609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流程管理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4350" y="2278380"/>
            <a:ext cx="1712595" cy="731520"/>
          </a:xfrm>
          <a:custGeom>
            <a:avLst/>
            <a:gdLst/>
            <a:ahLst/>
            <a:cxnLst/>
            <a:rect l="l" t="t" r="r" b="b"/>
            <a:pathLst>
              <a:path w="1712595" h="731520">
                <a:moveTo>
                  <a:pt x="76202" y="0"/>
                </a:moveTo>
                <a:lnTo>
                  <a:pt x="1636393" y="0"/>
                </a:lnTo>
                <a:cubicBezTo>
                  <a:pt x="1678478" y="0"/>
                  <a:pt x="1712595" y="34117"/>
                  <a:pt x="1712595" y="76202"/>
                </a:cubicBezTo>
                <a:lnTo>
                  <a:pt x="1712595" y="655318"/>
                </a:lnTo>
                <a:cubicBezTo>
                  <a:pt x="1712595" y="697403"/>
                  <a:pt x="1678478" y="731520"/>
                  <a:pt x="163639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08256" y="2381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2" name="Text 30"/>
          <p:cNvSpPr/>
          <p:nvPr/>
        </p:nvSpPr>
        <p:spPr>
          <a:xfrm>
            <a:off x="8181023" y="2590800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FSM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85785" y="2781300"/>
            <a:ext cx="1609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32670" y="2278380"/>
            <a:ext cx="1712595" cy="731520"/>
          </a:xfrm>
          <a:custGeom>
            <a:avLst/>
            <a:gdLst/>
            <a:ahLst/>
            <a:cxnLst/>
            <a:rect l="l" t="t" r="r" b="b"/>
            <a:pathLst>
              <a:path w="1712595" h="731520">
                <a:moveTo>
                  <a:pt x="76202" y="0"/>
                </a:moveTo>
                <a:lnTo>
                  <a:pt x="1636393" y="0"/>
                </a:lnTo>
                <a:cubicBezTo>
                  <a:pt x="1678478" y="0"/>
                  <a:pt x="1712595" y="34117"/>
                  <a:pt x="1712595" y="76202"/>
                </a:cubicBezTo>
                <a:lnTo>
                  <a:pt x="1712595" y="655318"/>
                </a:lnTo>
                <a:cubicBezTo>
                  <a:pt x="1712595" y="697403"/>
                  <a:pt x="1678478" y="731520"/>
                  <a:pt x="163639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17292" y="23812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6" name="Text 34"/>
          <p:cNvSpPr/>
          <p:nvPr/>
        </p:nvSpPr>
        <p:spPr>
          <a:xfrm>
            <a:off x="9979343" y="2590800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DataTable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84106" y="2781300"/>
            <a:ext cx="1609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配置表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6010" y="3295530"/>
            <a:ext cx="5627370" cy="2636520"/>
          </a:xfrm>
          <a:custGeom>
            <a:avLst/>
            <a:gdLst/>
            <a:ahLst/>
            <a:cxnLst/>
            <a:rect l="l" t="t" r="r" b="b"/>
            <a:pathLst>
              <a:path w="5627370" h="2636520">
                <a:moveTo>
                  <a:pt x="114293" y="0"/>
                </a:moveTo>
                <a:lnTo>
                  <a:pt x="5513077" y="0"/>
                </a:lnTo>
                <a:cubicBezTo>
                  <a:pt x="5576157" y="0"/>
                  <a:pt x="5627370" y="51213"/>
                  <a:pt x="5627370" y="114293"/>
                </a:cubicBezTo>
                <a:lnTo>
                  <a:pt x="5627370" y="2522227"/>
                </a:lnTo>
                <a:cubicBezTo>
                  <a:pt x="5627370" y="2585307"/>
                  <a:pt x="5576157" y="2636520"/>
                  <a:pt x="5513077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2220" y="34517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428661" y="355651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1" name="Text 39"/>
          <p:cNvSpPr/>
          <p:nvPr/>
        </p:nvSpPr>
        <p:spPr>
          <a:xfrm>
            <a:off x="6827520" y="3508893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DataTableExtension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32220" y="3947043"/>
            <a:ext cx="5391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为解决GF框架配置表加载问题，编写</a:t>
            </a: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DataTableExtension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扩展类，统一配置表的加载接口，实现数据验证和错误处理机制。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1270" y="4556643"/>
            <a:ext cx="5295900" cy="1181100"/>
          </a:xfrm>
          <a:custGeom>
            <a:avLst/>
            <a:gdLst/>
            <a:ahLst/>
            <a:cxnLst/>
            <a:rect l="l" t="t" r="r" b="b"/>
            <a:pathLst>
              <a:path w="5295900" h="1181100">
                <a:moveTo>
                  <a:pt x="38100" y="0"/>
                </a:moveTo>
                <a:lnTo>
                  <a:pt x="5219695" y="0"/>
                </a:lnTo>
                <a:cubicBezTo>
                  <a:pt x="5261754" y="0"/>
                  <a:pt x="5295900" y="34146"/>
                  <a:pt x="5295900" y="76205"/>
                </a:cubicBezTo>
                <a:lnTo>
                  <a:pt x="5295900" y="1104895"/>
                </a:lnTo>
                <a:cubicBezTo>
                  <a:pt x="5295900" y="1146982"/>
                  <a:pt x="5261782" y="1181100"/>
                  <a:pt x="521969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351270" y="4556643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5" name="Text 43"/>
          <p:cNvSpPr/>
          <p:nvPr/>
        </p:nvSpPr>
        <p:spPr>
          <a:xfrm>
            <a:off x="6484620" y="4670943"/>
            <a:ext cx="5114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统一配置表加载接口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84620" y="4861443"/>
            <a:ext cx="5114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DataTableExtension.LoadDataTable(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84620" y="5051943"/>
            <a:ext cx="5114925" cy="190500"/>
          </a:xfrm>
          <a:prstGeom prst="rect">
            <a:avLst/>
          </a:prstGeom>
          <a:noFill/>
        </p:spPr>
        <p:txBody>
          <a:bodyPr wrap="square" lIns="1524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dataTableName,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84620" y="5242443"/>
            <a:ext cx="5114925" cy="190500"/>
          </a:xfrm>
          <a:prstGeom prst="rect">
            <a:avLst/>
          </a:prstGeom>
          <a:noFill/>
        </p:spPr>
        <p:txBody>
          <a:bodyPr wrap="square" lIns="1524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userData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84620" y="5432943"/>
            <a:ext cx="5114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1000" y="60921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2" name="Text 50"/>
          <p:cNvSpPr/>
          <p:nvPr/>
        </p:nvSpPr>
        <p:spPr>
          <a:xfrm>
            <a:off x="647700" y="6248400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开发周期：Week 01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363200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4" name="Text 52"/>
          <p:cNvSpPr/>
          <p:nvPr/>
        </p:nvSpPr>
        <p:spPr>
          <a:xfrm>
            <a:off x="10591800" y="62484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完成状态：</a:t>
            </a:r>
            <a:r>
              <a:rPr lang="en-US" sz="12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WEEK 02 · SCENE &amp; UI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UI系统：流程管理与界面框架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6694170" cy="2417445"/>
          </a:xfrm>
          <a:custGeom>
            <a:avLst/>
            <a:gdLst/>
            <a:ahLst/>
            <a:cxnLst/>
            <a:rect l="l" t="t" r="r" b="b"/>
            <a:pathLst>
              <a:path w="6694170" h="2417445">
                <a:moveTo>
                  <a:pt x="114297" y="0"/>
                </a:moveTo>
                <a:lnTo>
                  <a:pt x="6579873" y="0"/>
                </a:lnTo>
                <a:cubicBezTo>
                  <a:pt x="6642998" y="0"/>
                  <a:pt x="6694170" y="51172"/>
                  <a:pt x="6694170" y="114297"/>
                </a:cubicBezTo>
                <a:lnTo>
                  <a:pt x="6694170" y="2303148"/>
                </a:lnTo>
                <a:cubicBezTo>
                  <a:pt x="6694170" y="2366273"/>
                  <a:pt x="6642998" y="2417445"/>
                  <a:pt x="6579873" y="2417445"/>
                </a:cubicBezTo>
                <a:lnTo>
                  <a:pt x="114297" y="2417445"/>
                </a:lnTo>
                <a:cubicBezTo>
                  <a:pt x="51172" y="2417445"/>
                  <a:pt x="0" y="2366273"/>
                  <a:pt x="0" y="230314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1020" y="1417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48176" y="15220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1036320" y="1474473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流程开发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12623"/>
            <a:ext cx="64579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基于GF Procedure模块，完成游戏启动到主菜单的完整流程链：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830" y="2278383"/>
            <a:ext cx="6379845" cy="579120"/>
          </a:xfrm>
          <a:custGeom>
            <a:avLst/>
            <a:gdLst/>
            <a:ahLst/>
            <a:cxnLst/>
            <a:rect l="l" t="t" r="r" b="b"/>
            <a:pathLst>
              <a:path w="6379845" h="579120">
                <a:moveTo>
                  <a:pt x="76201" y="0"/>
                </a:moveTo>
                <a:lnTo>
                  <a:pt x="6303644" y="0"/>
                </a:lnTo>
                <a:cubicBezTo>
                  <a:pt x="6345729" y="0"/>
                  <a:pt x="6379845" y="34116"/>
                  <a:pt x="6379845" y="76201"/>
                </a:cubicBezTo>
                <a:lnTo>
                  <a:pt x="6379845" y="502919"/>
                </a:lnTo>
                <a:cubicBezTo>
                  <a:pt x="6379845" y="545004"/>
                  <a:pt x="6345729" y="579120"/>
                  <a:pt x="6303644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840" y="24155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98540" y="2472691"/>
            <a:ext cx="228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3940" y="2358391"/>
            <a:ext cx="2076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StartGameProcedure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3940" y="2586991"/>
            <a:ext cx="4632241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游戏启动流程，初始化核心管理器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4830" y="2941319"/>
            <a:ext cx="6379845" cy="579120"/>
          </a:xfrm>
          <a:custGeom>
            <a:avLst/>
            <a:gdLst/>
            <a:ahLst/>
            <a:cxnLst/>
            <a:rect l="l" t="t" r="r" b="b"/>
            <a:pathLst>
              <a:path w="6379845" h="579120">
                <a:moveTo>
                  <a:pt x="76201" y="0"/>
                </a:moveTo>
                <a:lnTo>
                  <a:pt x="6303644" y="0"/>
                </a:lnTo>
                <a:cubicBezTo>
                  <a:pt x="6345729" y="0"/>
                  <a:pt x="6379845" y="34116"/>
                  <a:pt x="6379845" y="76201"/>
                </a:cubicBezTo>
                <a:lnTo>
                  <a:pt x="6379845" y="502919"/>
                </a:lnTo>
                <a:cubicBezTo>
                  <a:pt x="6379845" y="545004"/>
                  <a:pt x="6345729" y="579120"/>
                  <a:pt x="6303644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840" y="30784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98540" y="3135632"/>
            <a:ext cx="228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3940" y="3021332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MenuProcedure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3940" y="3249932"/>
            <a:ext cx="234779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主菜单流程，管理菜单UI状态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3802383"/>
            <a:ext cx="6694170" cy="2284095"/>
          </a:xfrm>
          <a:custGeom>
            <a:avLst/>
            <a:gdLst/>
            <a:ahLst/>
            <a:cxnLst/>
            <a:rect l="l" t="t" r="r" b="b"/>
            <a:pathLst>
              <a:path w="6694170" h="2284095">
                <a:moveTo>
                  <a:pt x="114296" y="0"/>
                </a:moveTo>
                <a:lnTo>
                  <a:pt x="6579874" y="0"/>
                </a:lnTo>
                <a:cubicBezTo>
                  <a:pt x="6642998" y="0"/>
                  <a:pt x="6694170" y="51172"/>
                  <a:pt x="6694170" y="114296"/>
                </a:cubicBezTo>
                <a:lnTo>
                  <a:pt x="6694170" y="2169799"/>
                </a:lnTo>
                <a:cubicBezTo>
                  <a:pt x="6694170" y="2232923"/>
                  <a:pt x="6642998" y="2284095"/>
                  <a:pt x="6579874" y="2284095"/>
                </a:cubicBezTo>
                <a:lnTo>
                  <a:pt x="114296" y="2284095"/>
                </a:lnTo>
                <a:cubicBezTo>
                  <a:pt x="51172" y="2284095"/>
                  <a:pt x="0" y="2232923"/>
                  <a:pt x="0" y="216979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020" y="39585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37461" y="406336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450" y="32147"/>
                </a:moveTo>
                <a:lnTo>
                  <a:pt x="53578" y="32147"/>
                </a:lnTo>
                <a:cubicBezTo>
                  <a:pt x="53578" y="20326"/>
                  <a:pt x="63189" y="10716"/>
                  <a:pt x="75009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192881" y="96441"/>
                </a:lnTo>
                <a:cubicBezTo>
                  <a:pt x="192881" y="108261"/>
                  <a:pt x="183271" y="117872"/>
                  <a:pt x="171450" y="117872"/>
                </a:cubicBezTo>
                <a:lnTo>
                  <a:pt x="155377" y="117872"/>
                </a:lnTo>
                <a:lnTo>
                  <a:pt x="155377" y="96441"/>
                </a:lnTo>
                <a:lnTo>
                  <a:pt x="171450" y="96441"/>
                </a:lnTo>
                <a:lnTo>
                  <a:pt x="171450" y="32147"/>
                </a:lnTo>
                <a:close/>
                <a:moveTo>
                  <a:pt x="0" y="75009"/>
                </a:moveTo>
                <a:cubicBezTo>
                  <a:pt x="0" y="63189"/>
                  <a:pt x="9611" y="53578"/>
                  <a:pt x="21431" y="53578"/>
                </a:cubicBezTo>
                <a:lnTo>
                  <a:pt x="117872" y="53578"/>
                </a:lnTo>
                <a:cubicBezTo>
                  <a:pt x="129693" y="53578"/>
                  <a:pt x="139303" y="63189"/>
                  <a:pt x="139303" y="75009"/>
                </a:cubicBezTo>
                <a:lnTo>
                  <a:pt x="139303" y="139303"/>
                </a:lnTo>
                <a:cubicBezTo>
                  <a:pt x="139303" y="151124"/>
                  <a:pt x="129693" y="160734"/>
                  <a:pt x="117872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75009"/>
                </a:lnTo>
                <a:close/>
                <a:moveTo>
                  <a:pt x="21431" y="88404"/>
                </a:moveTo>
                <a:cubicBezTo>
                  <a:pt x="21431" y="92858"/>
                  <a:pt x="25014" y="96441"/>
                  <a:pt x="29468" y="96441"/>
                </a:cubicBezTo>
                <a:lnTo>
                  <a:pt x="109835" y="96441"/>
                </a:lnTo>
                <a:cubicBezTo>
                  <a:pt x="114289" y="96441"/>
                  <a:pt x="117872" y="92858"/>
                  <a:pt x="117872" y="88404"/>
                </a:cubicBezTo>
                <a:cubicBezTo>
                  <a:pt x="117872" y="83950"/>
                  <a:pt x="114289" y="80367"/>
                  <a:pt x="109835" y="80367"/>
                </a:cubicBezTo>
                <a:lnTo>
                  <a:pt x="29468" y="80367"/>
                </a:lnTo>
                <a:cubicBezTo>
                  <a:pt x="25014" y="80367"/>
                  <a:pt x="21431" y="83950"/>
                  <a:pt x="21431" y="8840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2" name="Text 20"/>
          <p:cNvSpPr/>
          <p:nvPr/>
        </p:nvSpPr>
        <p:spPr>
          <a:xfrm>
            <a:off x="1036320" y="4015741"/>
            <a:ext cx="1952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GameFlowManager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1020" y="4453891"/>
            <a:ext cx="6457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</a:t>
            </a: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GameFlowManager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流程管理器，统一管理场景切换逻辑，解耦UI与流程控制。通过事件驱动的方式，实现流程状态的无缝切换和过渡动画。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42810" y="1261110"/>
            <a:ext cx="4560570" cy="2103120"/>
          </a:xfrm>
          <a:custGeom>
            <a:avLst/>
            <a:gdLst/>
            <a:ahLst/>
            <a:cxnLst/>
            <a:rect l="l" t="t" r="r" b="b"/>
            <a:pathLst>
              <a:path w="4560570" h="2103120">
                <a:moveTo>
                  <a:pt x="114305" y="0"/>
                </a:moveTo>
                <a:lnTo>
                  <a:pt x="4446265" y="0"/>
                </a:lnTo>
                <a:cubicBezTo>
                  <a:pt x="4509394" y="0"/>
                  <a:pt x="4560570" y="51176"/>
                  <a:pt x="4560570" y="114305"/>
                </a:cubicBezTo>
                <a:lnTo>
                  <a:pt x="4560570" y="1988815"/>
                </a:lnTo>
                <a:cubicBezTo>
                  <a:pt x="4560570" y="2051944"/>
                  <a:pt x="4509394" y="2103120"/>
                  <a:pt x="444626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9020" y="1417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7506176" y="15220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Text 25"/>
          <p:cNvSpPr/>
          <p:nvPr/>
        </p:nvSpPr>
        <p:spPr>
          <a:xfrm>
            <a:off x="7894320" y="1474473"/>
            <a:ext cx="685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UI系统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18070" y="1912623"/>
            <a:ext cx="4229100" cy="609600"/>
          </a:xfrm>
          <a:custGeom>
            <a:avLst/>
            <a:gdLst/>
            <a:ahLst/>
            <a:cxnLst/>
            <a:rect l="l" t="t" r="r" b="b"/>
            <a:pathLst>
              <a:path w="4229100" h="609600">
                <a:moveTo>
                  <a:pt x="38100" y="0"/>
                </a:moveTo>
                <a:lnTo>
                  <a:pt x="4152900" y="0"/>
                </a:lnTo>
                <a:cubicBezTo>
                  <a:pt x="4194956" y="0"/>
                  <a:pt x="4229100" y="34144"/>
                  <a:pt x="4229100" y="76200"/>
                </a:cubicBezTo>
                <a:lnTo>
                  <a:pt x="4229100" y="533400"/>
                </a:lnTo>
                <a:cubicBezTo>
                  <a:pt x="4229100" y="575456"/>
                  <a:pt x="4194956" y="609600"/>
                  <a:pt x="41529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7418070" y="1912623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0" name="Text 28"/>
          <p:cNvSpPr/>
          <p:nvPr/>
        </p:nvSpPr>
        <p:spPr>
          <a:xfrm>
            <a:off x="7513320" y="1988823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StartMenuUI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13320" y="2255523"/>
            <a:ext cx="412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主菜单界面，包含新游戏、继续游戏、设置等功能入口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18070" y="2598423"/>
            <a:ext cx="4229100" cy="609600"/>
          </a:xfrm>
          <a:custGeom>
            <a:avLst/>
            <a:gdLst/>
            <a:ahLst/>
            <a:cxnLst/>
            <a:rect l="l" t="t" r="r" b="b"/>
            <a:pathLst>
              <a:path w="4229100" h="609600">
                <a:moveTo>
                  <a:pt x="38100" y="0"/>
                </a:moveTo>
                <a:lnTo>
                  <a:pt x="4152900" y="0"/>
                </a:lnTo>
                <a:cubicBezTo>
                  <a:pt x="4194956" y="0"/>
                  <a:pt x="4229100" y="34144"/>
                  <a:pt x="4229100" y="76200"/>
                </a:cubicBezTo>
                <a:lnTo>
                  <a:pt x="4229100" y="533400"/>
                </a:lnTo>
                <a:cubicBezTo>
                  <a:pt x="4229100" y="575456"/>
                  <a:pt x="4194956" y="609600"/>
                  <a:pt x="41529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7418070" y="2598423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4" name="Text 32"/>
          <p:cNvSpPr/>
          <p:nvPr/>
        </p:nvSpPr>
        <p:spPr>
          <a:xfrm>
            <a:off x="7513320" y="2674623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UI层级管理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13320" y="2941323"/>
            <a:ext cx="412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实现UI框架的基础层级管理，支持弹窗、模态框等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42810" y="3486151"/>
            <a:ext cx="4560570" cy="2598420"/>
          </a:xfrm>
          <a:custGeom>
            <a:avLst/>
            <a:gdLst/>
            <a:ahLst/>
            <a:cxnLst/>
            <a:rect l="l" t="t" r="r" b="b"/>
            <a:pathLst>
              <a:path w="4560570" h="2598420">
                <a:moveTo>
                  <a:pt x="114304" y="0"/>
                </a:moveTo>
                <a:lnTo>
                  <a:pt x="4446266" y="0"/>
                </a:lnTo>
                <a:cubicBezTo>
                  <a:pt x="4509394" y="0"/>
                  <a:pt x="4560570" y="51176"/>
                  <a:pt x="4560570" y="114304"/>
                </a:cubicBezTo>
                <a:lnTo>
                  <a:pt x="4560570" y="2484116"/>
                </a:lnTo>
                <a:cubicBezTo>
                  <a:pt x="4560570" y="2547244"/>
                  <a:pt x="4509394" y="2598420"/>
                  <a:pt x="444626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99020" y="36423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7506176" y="37471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4110"/>
                </a:moveTo>
                <a:cubicBezTo>
                  <a:pt x="0" y="19690"/>
                  <a:pt x="3583" y="16073"/>
                  <a:pt x="8037" y="16073"/>
                </a:cubicBezTo>
                <a:lnTo>
                  <a:pt x="24110" y="16073"/>
                </a:lnTo>
                <a:cubicBezTo>
                  <a:pt x="28564" y="16073"/>
                  <a:pt x="32147" y="19656"/>
                  <a:pt x="32147" y="24110"/>
                </a:cubicBezTo>
                <a:lnTo>
                  <a:pt x="32147" y="58936"/>
                </a:lnTo>
                <a:lnTo>
                  <a:pt x="40184" y="58936"/>
                </a:lnTo>
                <a:cubicBezTo>
                  <a:pt x="44637" y="58936"/>
                  <a:pt x="48220" y="62519"/>
                  <a:pt x="48220" y="66973"/>
                </a:cubicBezTo>
                <a:cubicBezTo>
                  <a:pt x="48220" y="71426"/>
                  <a:pt x="44637" y="75009"/>
                  <a:pt x="40184" y="75009"/>
                </a:cubicBezTo>
                <a:lnTo>
                  <a:pt x="8037" y="75009"/>
                </a:lnTo>
                <a:cubicBezTo>
                  <a:pt x="3583" y="75009"/>
                  <a:pt x="0" y="71426"/>
                  <a:pt x="0" y="66973"/>
                </a:cubicBezTo>
                <a:cubicBezTo>
                  <a:pt x="0" y="62519"/>
                  <a:pt x="3583" y="58936"/>
                  <a:pt x="8037" y="58936"/>
                </a:cubicBezTo>
                <a:lnTo>
                  <a:pt x="16073" y="58936"/>
                </a:lnTo>
                <a:lnTo>
                  <a:pt x="16073" y="32147"/>
                </a:lnTo>
                <a:lnTo>
                  <a:pt x="8037" y="32147"/>
                </a:lnTo>
                <a:cubicBezTo>
                  <a:pt x="3583" y="32147"/>
                  <a:pt x="0" y="28564"/>
                  <a:pt x="0" y="24110"/>
                </a:cubicBezTo>
                <a:close/>
                <a:moveTo>
                  <a:pt x="10180" y="100861"/>
                </a:moveTo>
                <a:cubicBezTo>
                  <a:pt x="13997" y="97981"/>
                  <a:pt x="18652" y="96441"/>
                  <a:pt x="23440" y="96441"/>
                </a:cubicBezTo>
                <a:lnTo>
                  <a:pt x="25081" y="96441"/>
                </a:lnTo>
                <a:cubicBezTo>
                  <a:pt x="36366" y="96441"/>
                  <a:pt x="45541" y="105616"/>
                  <a:pt x="45541" y="116901"/>
                </a:cubicBezTo>
                <a:cubicBezTo>
                  <a:pt x="45541" y="123464"/>
                  <a:pt x="42394" y="129592"/>
                  <a:pt x="37103" y="133443"/>
                </a:cubicBezTo>
                <a:lnTo>
                  <a:pt x="29066" y="139303"/>
                </a:lnTo>
                <a:lnTo>
                  <a:pt x="40184" y="139303"/>
                </a:lnTo>
                <a:cubicBezTo>
                  <a:pt x="44637" y="139303"/>
                  <a:pt x="48220" y="142886"/>
                  <a:pt x="48220" y="147340"/>
                </a:cubicBezTo>
                <a:cubicBezTo>
                  <a:pt x="48220" y="151794"/>
                  <a:pt x="44637" y="155377"/>
                  <a:pt x="40184" y="155377"/>
                </a:cubicBezTo>
                <a:lnTo>
                  <a:pt x="9811" y="155377"/>
                </a:lnTo>
                <a:cubicBezTo>
                  <a:pt x="4387" y="155377"/>
                  <a:pt x="0" y="150990"/>
                  <a:pt x="0" y="145565"/>
                </a:cubicBezTo>
                <a:cubicBezTo>
                  <a:pt x="0" y="142417"/>
                  <a:pt x="1507" y="139471"/>
                  <a:pt x="4052" y="137629"/>
                </a:cubicBezTo>
                <a:lnTo>
                  <a:pt x="27660" y="120450"/>
                </a:lnTo>
                <a:cubicBezTo>
                  <a:pt x="28798" y="119613"/>
                  <a:pt x="29468" y="118307"/>
                  <a:pt x="29468" y="116901"/>
                </a:cubicBezTo>
                <a:cubicBezTo>
                  <a:pt x="29468" y="114490"/>
                  <a:pt x="27492" y="112514"/>
                  <a:pt x="25081" y="112514"/>
                </a:cubicBezTo>
                <a:lnTo>
                  <a:pt x="23440" y="112514"/>
                </a:lnTo>
                <a:cubicBezTo>
                  <a:pt x="22134" y="112514"/>
                  <a:pt x="20862" y="112949"/>
                  <a:pt x="19824" y="113720"/>
                </a:cubicBezTo>
                <a:lnTo>
                  <a:pt x="12859" y="118943"/>
                </a:lnTo>
                <a:cubicBezTo>
                  <a:pt x="9309" y="121622"/>
                  <a:pt x="4286" y="120886"/>
                  <a:pt x="1607" y="117336"/>
                </a:cubicBezTo>
                <a:cubicBezTo>
                  <a:pt x="-1072" y="113787"/>
                  <a:pt x="-335" y="108764"/>
                  <a:pt x="3215" y="106085"/>
                </a:cubicBezTo>
                <a:lnTo>
                  <a:pt x="10180" y="100861"/>
                </a:lnTo>
                <a:close/>
                <a:moveTo>
                  <a:pt x="75009" y="21431"/>
                </a:move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75009" y="42863"/>
                </a:lnTo>
                <a:cubicBezTo>
                  <a:pt x="69082" y="42863"/>
                  <a:pt x="64294" y="38074"/>
                  <a:pt x="64294" y="32147"/>
                </a:cubicBezTo>
                <a:cubicBezTo>
                  <a:pt x="64294" y="26220"/>
                  <a:pt x="69082" y="21431"/>
                  <a:pt x="75009" y="21431"/>
                </a:cubicBezTo>
                <a:close/>
                <a:moveTo>
                  <a:pt x="75009" y="75009"/>
                </a:move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75009" y="96441"/>
                </a:lnTo>
                <a:cubicBezTo>
                  <a:pt x="69082" y="96441"/>
                  <a:pt x="64294" y="91652"/>
                  <a:pt x="64294" y="85725"/>
                </a:cubicBezTo>
                <a:cubicBezTo>
                  <a:pt x="64294" y="79798"/>
                  <a:pt x="69082" y="75009"/>
                  <a:pt x="75009" y="75009"/>
                </a:cubicBez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9" name="Text 37"/>
          <p:cNvSpPr/>
          <p:nvPr/>
        </p:nvSpPr>
        <p:spPr>
          <a:xfrm>
            <a:off x="7894320" y="3699509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ResourceIds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99020" y="4137659"/>
            <a:ext cx="43243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</a:t>
            </a: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ResourceIds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常量类，统一管理所有UI和资源的ID，消除代码中的魔法字符串，规范资源加载流程。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99020" y="4747259"/>
            <a:ext cx="4248150" cy="1181100"/>
          </a:xfrm>
          <a:custGeom>
            <a:avLst/>
            <a:gdLst/>
            <a:ahLst/>
            <a:cxnLst/>
            <a:rect l="l" t="t" r="r" b="b"/>
            <a:pathLst>
              <a:path w="4248150" h="1181100">
                <a:moveTo>
                  <a:pt x="76205" y="0"/>
                </a:moveTo>
                <a:lnTo>
                  <a:pt x="4171945" y="0"/>
                </a:lnTo>
                <a:cubicBezTo>
                  <a:pt x="4214004" y="0"/>
                  <a:pt x="4248150" y="34146"/>
                  <a:pt x="4248150" y="76205"/>
                </a:cubicBezTo>
                <a:lnTo>
                  <a:pt x="4248150" y="1104895"/>
                </a:lnTo>
                <a:cubicBezTo>
                  <a:pt x="4248150" y="1146982"/>
                  <a:pt x="4214032" y="1181100"/>
                  <a:pt x="417194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7513320" y="4861559"/>
            <a:ext cx="4086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资源ID常量定义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13320" y="5052059"/>
            <a:ext cx="4086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const string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13320" y="5242559"/>
            <a:ext cx="4086225" cy="190500"/>
          </a:xfrm>
          <a:prstGeom prst="rect">
            <a:avLst/>
          </a:prstGeom>
          <a:noFill/>
        </p:spPr>
        <p:txBody>
          <a:bodyPr wrap="square" lIns="1524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UI_START_MENU = "StartMenuUI";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13320" y="5433059"/>
            <a:ext cx="4086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const string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13320" y="5623559"/>
            <a:ext cx="4086225" cy="190500"/>
          </a:xfrm>
          <a:prstGeom prst="rect">
            <a:avLst/>
          </a:prstGeom>
          <a:noFill/>
        </p:spPr>
        <p:txBody>
          <a:bodyPr wrap="square" lIns="1524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UI_SETTINGS = "SettingsUI";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62445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409575" y="6438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9" name="Text 47"/>
          <p:cNvSpPr/>
          <p:nvPr/>
        </p:nvSpPr>
        <p:spPr>
          <a:xfrm>
            <a:off x="647700" y="6400800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开发周期：Week 02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363200" y="64389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1" name="Text 49"/>
          <p:cNvSpPr/>
          <p:nvPr/>
        </p:nvSpPr>
        <p:spPr>
          <a:xfrm>
            <a:off x="10591800" y="64008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完成状态：</a:t>
            </a:r>
            <a:r>
              <a:rPr lang="en-US" sz="12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WEEK 03 · 3C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3C系统：角色、摄像机与控制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3703320" cy="3360420"/>
          </a:xfrm>
          <a:custGeom>
            <a:avLst/>
            <a:gdLst/>
            <a:ahLst/>
            <a:cxnLst/>
            <a:rect l="l" t="t" r="r" b="b"/>
            <a:pathLst>
              <a:path w="3703320" h="3360420">
                <a:moveTo>
                  <a:pt x="114288" y="0"/>
                </a:moveTo>
                <a:lnTo>
                  <a:pt x="3589032" y="0"/>
                </a:lnTo>
                <a:cubicBezTo>
                  <a:pt x="3652152" y="0"/>
                  <a:pt x="3703320" y="51168"/>
                  <a:pt x="3703320" y="114288"/>
                </a:cubicBezTo>
                <a:lnTo>
                  <a:pt x="3703320" y="3246132"/>
                </a:lnTo>
                <a:cubicBezTo>
                  <a:pt x="3703320" y="3309252"/>
                  <a:pt x="3652152" y="3360420"/>
                  <a:pt x="3589032" y="3360420"/>
                </a:cubicBezTo>
                <a:lnTo>
                  <a:pt x="114288" y="3360420"/>
                </a:lnTo>
                <a:cubicBezTo>
                  <a:pt x="51168" y="3360420"/>
                  <a:pt x="0" y="3309252"/>
                  <a:pt x="0" y="3246132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1020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62464" y="15506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47625"/>
                </a:lnTo>
                <a:cubicBezTo>
                  <a:pt x="214313" y="34491"/>
                  <a:pt x="203634" y="23812"/>
                  <a:pt x="190500" y="23812"/>
                </a:cubicBezTo>
                <a:lnTo>
                  <a:pt x="23812" y="23812"/>
                </a:lnTo>
                <a:close/>
                <a:moveTo>
                  <a:pt x="29766" y="47625"/>
                </a:moveTo>
                <a:lnTo>
                  <a:pt x="41672" y="47625"/>
                </a:lnTo>
                <a:cubicBezTo>
                  <a:pt x="44946" y="47625"/>
                  <a:pt x="47625" y="50304"/>
                  <a:pt x="47625" y="53578"/>
                </a:cubicBezTo>
                <a:lnTo>
                  <a:pt x="47625" y="65484"/>
                </a:lnTo>
                <a:cubicBezTo>
                  <a:pt x="47625" y="68759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68759"/>
                  <a:pt x="23812" y="65484"/>
                </a:cubicBezTo>
                <a:lnTo>
                  <a:pt x="23812" y="53578"/>
                </a:lnTo>
                <a:cubicBezTo>
                  <a:pt x="23812" y="50304"/>
                  <a:pt x="26491" y="47625"/>
                  <a:pt x="29766" y="47625"/>
                </a:cubicBezTo>
                <a:close/>
                <a:moveTo>
                  <a:pt x="23812" y="89297"/>
                </a:moveTo>
                <a:cubicBezTo>
                  <a:pt x="23812" y="86023"/>
                  <a:pt x="26491" y="83344"/>
                  <a:pt x="29766" y="83344"/>
                </a:cubicBezTo>
                <a:lnTo>
                  <a:pt x="41672" y="83344"/>
                </a:lnTo>
                <a:cubicBezTo>
                  <a:pt x="44946" y="83344"/>
                  <a:pt x="47625" y="86023"/>
                  <a:pt x="47625" y="89297"/>
                </a:cubicBezTo>
                <a:lnTo>
                  <a:pt x="47625" y="101203"/>
                </a:lnTo>
                <a:cubicBezTo>
                  <a:pt x="47625" y="104477"/>
                  <a:pt x="44946" y="107156"/>
                  <a:pt x="41672" y="107156"/>
                </a:cubicBezTo>
                <a:lnTo>
                  <a:pt x="29766" y="107156"/>
                </a:lnTo>
                <a:cubicBezTo>
                  <a:pt x="26491" y="107156"/>
                  <a:pt x="23812" y="104477"/>
                  <a:pt x="23812" y="101203"/>
                </a:cubicBezTo>
                <a:lnTo>
                  <a:pt x="23812" y="89297"/>
                </a:lnTo>
                <a:close/>
                <a:moveTo>
                  <a:pt x="65484" y="47625"/>
                </a:moveTo>
                <a:lnTo>
                  <a:pt x="77391" y="47625"/>
                </a:lnTo>
                <a:cubicBezTo>
                  <a:pt x="80665" y="47625"/>
                  <a:pt x="83344" y="50304"/>
                  <a:pt x="83344" y="53578"/>
                </a:cubicBezTo>
                <a:lnTo>
                  <a:pt x="83344" y="65484"/>
                </a:lnTo>
                <a:cubicBezTo>
                  <a:pt x="83344" y="68759"/>
                  <a:pt x="80665" y="71438"/>
                  <a:pt x="77391" y="71438"/>
                </a:cubicBezTo>
                <a:lnTo>
                  <a:pt x="65484" y="71438"/>
                </a:lnTo>
                <a:cubicBezTo>
                  <a:pt x="62210" y="71438"/>
                  <a:pt x="59531" y="68759"/>
                  <a:pt x="59531" y="65484"/>
                </a:cubicBezTo>
                <a:lnTo>
                  <a:pt x="59531" y="53578"/>
                </a:lnTo>
                <a:cubicBezTo>
                  <a:pt x="59531" y="50304"/>
                  <a:pt x="62210" y="47625"/>
                  <a:pt x="65484" y="47625"/>
                </a:cubicBezTo>
                <a:close/>
                <a:moveTo>
                  <a:pt x="59531" y="89297"/>
                </a:moveTo>
                <a:cubicBezTo>
                  <a:pt x="59531" y="86023"/>
                  <a:pt x="62210" y="83344"/>
                  <a:pt x="65484" y="83344"/>
                </a:cubicBezTo>
                <a:lnTo>
                  <a:pt x="77391" y="83344"/>
                </a:lnTo>
                <a:cubicBezTo>
                  <a:pt x="80665" y="83344"/>
                  <a:pt x="83344" y="86023"/>
                  <a:pt x="83344" y="89297"/>
                </a:cubicBezTo>
                <a:lnTo>
                  <a:pt x="83344" y="101203"/>
                </a:lnTo>
                <a:cubicBezTo>
                  <a:pt x="83344" y="104477"/>
                  <a:pt x="80665" y="107156"/>
                  <a:pt x="77391" y="107156"/>
                </a:cubicBezTo>
                <a:lnTo>
                  <a:pt x="65484" y="107156"/>
                </a:lnTo>
                <a:cubicBezTo>
                  <a:pt x="62210" y="107156"/>
                  <a:pt x="59531" y="104477"/>
                  <a:pt x="59531" y="101203"/>
                </a:cubicBezTo>
                <a:lnTo>
                  <a:pt x="59531" y="89297"/>
                </a:lnTo>
                <a:close/>
                <a:moveTo>
                  <a:pt x="65484" y="119063"/>
                </a:moveTo>
                <a:lnTo>
                  <a:pt x="148828" y="119063"/>
                </a:lnTo>
                <a:cubicBezTo>
                  <a:pt x="152102" y="119063"/>
                  <a:pt x="154781" y="121741"/>
                  <a:pt x="154781" y="125016"/>
                </a:cubicBezTo>
                <a:lnTo>
                  <a:pt x="154781" y="136922"/>
                </a:lnTo>
                <a:cubicBezTo>
                  <a:pt x="154781" y="140196"/>
                  <a:pt x="152102" y="142875"/>
                  <a:pt x="148828" y="142875"/>
                </a:cubicBezTo>
                <a:lnTo>
                  <a:pt x="65484" y="142875"/>
                </a:lnTo>
                <a:cubicBezTo>
                  <a:pt x="62210" y="142875"/>
                  <a:pt x="59531" y="140196"/>
                  <a:pt x="59531" y="136922"/>
                </a:cubicBezTo>
                <a:lnTo>
                  <a:pt x="59531" y="125016"/>
                </a:lnTo>
                <a:cubicBezTo>
                  <a:pt x="59531" y="121741"/>
                  <a:pt x="62210" y="119063"/>
                  <a:pt x="65484" y="119063"/>
                </a:cubicBezTo>
                <a:close/>
                <a:moveTo>
                  <a:pt x="95250" y="53578"/>
                </a:moveTo>
                <a:cubicBezTo>
                  <a:pt x="95250" y="50304"/>
                  <a:pt x="97929" y="47625"/>
                  <a:pt x="101203" y="47625"/>
                </a:cubicBezTo>
                <a:lnTo>
                  <a:pt x="113109" y="47625"/>
                </a:lnTo>
                <a:cubicBezTo>
                  <a:pt x="116384" y="47625"/>
                  <a:pt x="119063" y="50304"/>
                  <a:pt x="119063" y="53578"/>
                </a:cubicBezTo>
                <a:lnTo>
                  <a:pt x="119063" y="65484"/>
                </a:lnTo>
                <a:cubicBezTo>
                  <a:pt x="119063" y="68759"/>
                  <a:pt x="116384" y="71438"/>
                  <a:pt x="113109" y="71438"/>
                </a:cubicBezTo>
                <a:lnTo>
                  <a:pt x="101203" y="71438"/>
                </a:lnTo>
                <a:cubicBezTo>
                  <a:pt x="97929" y="71438"/>
                  <a:pt x="95250" y="68759"/>
                  <a:pt x="95250" y="65484"/>
                </a:cubicBezTo>
                <a:lnTo>
                  <a:pt x="95250" y="53578"/>
                </a:lnTo>
                <a:close/>
                <a:moveTo>
                  <a:pt x="101203" y="83344"/>
                </a:moveTo>
                <a:lnTo>
                  <a:pt x="113109" y="83344"/>
                </a:lnTo>
                <a:cubicBezTo>
                  <a:pt x="116384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16384" y="107156"/>
                  <a:pt x="113109" y="107156"/>
                </a:cubicBezTo>
                <a:lnTo>
                  <a:pt x="101203" y="107156"/>
                </a:lnTo>
                <a:cubicBezTo>
                  <a:pt x="97929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7929" y="83344"/>
                  <a:pt x="101203" y="83344"/>
                </a:cubicBezTo>
                <a:close/>
                <a:moveTo>
                  <a:pt x="130969" y="53578"/>
                </a:moveTo>
                <a:cubicBezTo>
                  <a:pt x="130969" y="50304"/>
                  <a:pt x="133648" y="47625"/>
                  <a:pt x="136922" y="47625"/>
                </a:cubicBezTo>
                <a:lnTo>
                  <a:pt x="148828" y="47625"/>
                </a:lnTo>
                <a:cubicBezTo>
                  <a:pt x="152102" y="47625"/>
                  <a:pt x="154781" y="50304"/>
                  <a:pt x="154781" y="53578"/>
                </a:cubicBezTo>
                <a:lnTo>
                  <a:pt x="154781" y="65484"/>
                </a:lnTo>
                <a:cubicBezTo>
                  <a:pt x="154781" y="68759"/>
                  <a:pt x="152102" y="71438"/>
                  <a:pt x="148828" y="71438"/>
                </a:cubicBezTo>
                <a:lnTo>
                  <a:pt x="136922" y="71438"/>
                </a:lnTo>
                <a:cubicBezTo>
                  <a:pt x="133648" y="71438"/>
                  <a:pt x="130969" y="68759"/>
                  <a:pt x="130969" y="65484"/>
                </a:cubicBezTo>
                <a:lnTo>
                  <a:pt x="130969" y="53578"/>
                </a:lnTo>
                <a:close/>
                <a:moveTo>
                  <a:pt x="136922" y="83344"/>
                </a:moveTo>
                <a:lnTo>
                  <a:pt x="148828" y="83344"/>
                </a:lnTo>
                <a:cubicBezTo>
                  <a:pt x="152102" y="83344"/>
                  <a:pt x="154781" y="86023"/>
                  <a:pt x="154781" y="89297"/>
                </a:cubicBezTo>
                <a:lnTo>
                  <a:pt x="154781" y="101203"/>
                </a:lnTo>
                <a:cubicBezTo>
                  <a:pt x="154781" y="104477"/>
                  <a:pt x="152102" y="107156"/>
                  <a:pt x="148828" y="107156"/>
                </a:cubicBezTo>
                <a:lnTo>
                  <a:pt x="136922" y="107156"/>
                </a:lnTo>
                <a:cubicBezTo>
                  <a:pt x="133648" y="107156"/>
                  <a:pt x="130969" y="104477"/>
                  <a:pt x="130969" y="101203"/>
                </a:cubicBezTo>
                <a:lnTo>
                  <a:pt x="130969" y="89297"/>
                </a:lnTo>
                <a:cubicBezTo>
                  <a:pt x="130969" y="86023"/>
                  <a:pt x="133648" y="83344"/>
                  <a:pt x="136922" y="83344"/>
                </a:cubicBezTo>
                <a:close/>
                <a:moveTo>
                  <a:pt x="166688" y="53578"/>
                </a:moveTo>
                <a:cubicBezTo>
                  <a:pt x="166688" y="50304"/>
                  <a:pt x="169366" y="47625"/>
                  <a:pt x="172641" y="47625"/>
                </a:cubicBezTo>
                <a:lnTo>
                  <a:pt x="184547" y="47625"/>
                </a:lnTo>
                <a:cubicBezTo>
                  <a:pt x="187821" y="47625"/>
                  <a:pt x="190500" y="50304"/>
                  <a:pt x="190500" y="53578"/>
                </a:cubicBezTo>
                <a:lnTo>
                  <a:pt x="190500" y="65484"/>
                </a:lnTo>
                <a:cubicBezTo>
                  <a:pt x="190500" y="68759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68759"/>
                  <a:pt x="166688" y="65484"/>
                </a:cubicBezTo>
                <a:lnTo>
                  <a:pt x="166688" y="53578"/>
                </a:lnTo>
                <a:close/>
                <a:moveTo>
                  <a:pt x="172641" y="83344"/>
                </a:moveTo>
                <a:lnTo>
                  <a:pt x="184547" y="83344"/>
                </a:lnTo>
                <a:cubicBezTo>
                  <a:pt x="187821" y="83344"/>
                  <a:pt x="190500" y="86023"/>
                  <a:pt x="190500" y="89297"/>
                </a:cubicBezTo>
                <a:lnTo>
                  <a:pt x="190500" y="101203"/>
                </a:lnTo>
                <a:cubicBezTo>
                  <a:pt x="190500" y="104477"/>
                  <a:pt x="187821" y="107156"/>
                  <a:pt x="184547" y="107156"/>
                </a:cubicBezTo>
                <a:lnTo>
                  <a:pt x="172641" y="107156"/>
                </a:lnTo>
                <a:cubicBezTo>
                  <a:pt x="169366" y="107156"/>
                  <a:pt x="166688" y="104477"/>
                  <a:pt x="166688" y="101203"/>
                </a:cubicBezTo>
                <a:lnTo>
                  <a:pt x="166688" y="89297"/>
                </a:lnTo>
                <a:cubicBezTo>
                  <a:pt x="166688" y="86023"/>
                  <a:pt x="169366" y="83344"/>
                  <a:pt x="172641" y="8334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1112520" y="1512573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输入系统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88823"/>
            <a:ext cx="34671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PlayerInputManager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输入系统，统一管理键盘（WASD）和鼠标输入，支持输入屏蔽和优先级管理。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404" y="35032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0" name="Text 8"/>
          <p:cNvSpPr/>
          <p:nvPr/>
        </p:nvSpPr>
        <p:spPr>
          <a:xfrm>
            <a:off x="783908" y="3474723"/>
            <a:ext cx="17899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键盘移动输入（WASD）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8404" y="37699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Text 10"/>
          <p:cNvSpPr/>
          <p:nvPr/>
        </p:nvSpPr>
        <p:spPr>
          <a:xfrm>
            <a:off x="783908" y="3741423"/>
            <a:ext cx="167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鼠标视角控制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8404" y="40366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2"/>
          <p:cNvSpPr/>
          <p:nvPr/>
        </p:nvSpPr>
        <p:spPr>
          <a:xfrm>
            <a:off x="783908" y="4008123"/>
            <a:ext cx="167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滚轮缩放输入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404" y="43033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6" name="Text 14"/>
          <p:cNvSpPr/>
          <p:nvPr/>
        </p:nvSpPr>
        <p:spPr>
          <a:xfrm>
            <a:off x="783908" y="4274823"/>
            <a:ext cx="167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输入屏蔽机制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5531" y="1261110"/>
            <a:ext cx="3703320" cy="3360420"/>
          </a:xfrm>
          <a:custGeom>
            <a:avLst/>
            <a:gdLst/>
            <a:ahLst/>
            <a:cxnLst/>
            <a:rect l="l" t="t" r="r" b="b"/>
            <a:pathLst>
              <a:path w="3703320" h="3360420">
                <a:moveTo>
                  <a:pt x="114288" y="0"/>
                </a:moveTo>
                <a:lnTo>
                  <a:pt x="3589032" y="0"/>
                </a:lnTo>
                <a:cubicBezTo>
                  <a:pt x="3652152" y="0"/>
                  <a:pt x="3703320" y="51168"/>
                  <a:pt x="3703320" y="114288"/>
                </a:cubicBezTo>
                <a:lnTo>
                  <a:pt x="3703320" y="3246132"/>
                </a:lnTo>
                <a:cubicBezTo>
                  <a:pt x="3703320" y="3309252"/>
                  <a:pt x="3652152" y="3360420"/>
                  <a:pt x="3589032" y="3360420"/>
                </a:cubicBezTo>
                <a:lnTo>
                  <a:pt x="114288" y="3360420"/>
                </a:lnTo>
                <a:cubicBezTo>
                  <a:pt x="51168" y="3360420"/>
                  <a:pt x="0" y="3309252"/>
                  <a:pt x="0" y="3246132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174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558903" y="155067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29766"/>
                </a:moveTo>
                <a:cubicBezTo>
                  <a:pt x="82937" y="29766"/>
                  <a:pt x="92273" y="20429"/>
                  <a:pt x="92273" y="8930"/>
                </a:cubicBezTo>
                <a:cubicBezTo>
                  <a:pt x="92273" y="-2570"/>
                  <a:pt x="82937" y="-11906"/>
                  <a:pt x="71438" y="-11906"/>
                </a:cubicBezTo>
                <a:cubicBezTo>
                  <a:pt x="59938" y="-11906"/>
                  <a:pt x="50602" y="-2570"/>
                  <a:pt x="50602" y="8930"/>
                </a:cubicBezTo>
                <a:cubicBezTo>
                  <a:pt x="50602" y="20429"/>
                  <a:pt x="59938" y="29766"/>
                  <a:pt x="71438" y="29766"/>
                </a:cubicBezTo>
                <a:close/>
                <a:moveTo>
                  <a:pt x="39216" y="84795"/>
                </a:moveTo>
                <a:lnTo>
                  <a:pt x="47625" y="76386"/>
                </a:lnTo>
                <a:lnTo>
                  <a:pt x="47625" y="102171"/>
                </a:lnTo>
                <a:cubicBezTo>
                  <a:pt x="47625" y="112588"/>
                  <a:pt x="52164" y="122523"/>
                  <a:pt x="60089" y="129294"/>
                </a:cubicBezTo>
                <a:lnTo>
                  <a:pt x="86655" y="152065"/>
                </a:lnTo>
                <a:cubicBezTo>
                  <a:pt x="88850" y="153963"/>
                  <a:pt x="90301" y="156567"/>
                  <a:pt x="90711" y="159432"/>
                </a:cubicBezTo>
                <a:lnTo>
                  <a:pt x="95399" y="192212"/>
                </a:lnTo>
                <a:cubicBezTo>
                  <a:pt x="96329" y="198723"/>
                  <a:pt x="102357" y="203262"/>
                  <a:pt x="108868" y="202332"/>
                </a:cubicBezTo>
                <a:cubicBezTo>
                  <a:pt x="115379" y="201402"/>
                  <a:pt x="119918" y="195374"/>
                  <a:pt x="118988" y="188863"/>
                </a:cubicBezTo>
                <a:lnTo>
                  <a:pt x="114300" y="156083"/>
                </a:lnTo>
                <a:cubicBezTo>
                  <a:pt x="113072" y="147489"/>
                  <a:pt x="108756" y="139675"/>
                  <a:pt x="102171" y="134020"/>
                </a:cubicBezTo>
                <a:lnTo>
                  <a:pt x="89334" y="123006"/>
                </a:lnTo>
                <a:lnTo>
                  <a:pt x="89334" y="80144"/>
                </a:lnTo>
                <a:lnTo>
                  <a:pt x="90748" y="81893"/>
                </a:lnTo>
                <a:cubicBezTo>
                  <a:pt x="97520" y="90376"/>
                  <a:pt x="107789" y="95287"/>
                  <a:pt x="118653" y="95287"/>
                </a:cubicBezTo>
                <a:lnTo>
                  <a:pt x="131006" y="95287"/>
                </a:lnTo>
                <a:cubicBezTo>
                  <a:pt x="137592" y="95287"/>
                  <a:pt x="142912" y="89967"/>
                  <a:pt x="142912" y="83381"/>
                </a:cubicBezTo>
                <a:cubicBezTo>
                  <a:pt x="142912" y="76795"/>
                  <a:pt x="137592" y="71475"/>
                  <a:pt x="131006" y="71475"/>
                </a:cubicBezTo>
                <a:lnTo>
                  <a:pt x="118653" y="71475"/>
                </a:lnTo>
                <a:cubicBezTo>
                  <a:pt x="115044" y="71475"/>
                  <a:pt x="111621" y="69838"/>
                  <a:pt x="109351" y="67010"/>
                </a:cubicBezTo>
                <a:lnTo>
                  <a:pt x="102691" y="58675"/>
                </a:lnTo>
                <a:cubicBezTo>
                  <a:pt x="94134" y="47960"/>
                  <a:pt x="81149" y="41709"/>
                  <a:pt x="67419" y="41709"/>
                </a:cubicBezTo>
                <a:cubicBezTo>
                  <a:pt x="55438" y="41709"/>
                  <a:pt x="43942" y="46472"/>
                  <a:pt x="35496" y="54955"/>
                </a:cubicBezTo>
                <a:lnTo>
                  <a:pt x="22361" y="67940"/>
                </a:lnTo>
                <a:cubicBezTo>
                  <a:pt x="15664" y="74637"/>
                  <a:pt x="11906" y="83716"/>
                  <a:pt x="11906" y="93204"/>
                </a:cubicBezTo>
                <a:lnTo>
                  <a:pt x="11906" y="107156"/>
                </a:lnTo>
                <a:cubicBezTo>
                  <a:pt x="11906" y="113742"/>
                  <a:pt x="17227" y="119063"/>
                  <a:pt x="23812" y="119063"/>
                </a:cubicBezTo>
                <a:cubicBezTo>
                  <a:pt x="30398" y="119063"/>
                  <a:pt x="35719" y="113742"/>
                  <a:pt x="35719" y="107156"/>
                </a:cubicBezTo>
                <a:lnTo>
                  <a:pt x="35719" y="93204"/>
                </a:lnTo>
                <a:cubicBezTo>
                  <a:pt x="35719" y="90041"/>
                  <a:pt x="36984" y="87027"/>
                  <a:pt x="39216" y="84795"/>
                </a:cubicBezTo>
                <a:close/>
                <a:moveTo>
                  <a:pt x="43830" y="151544"/>
                </a:moveTo>
                <a:cubicBezTo>
                  <a:pt x="43272" y="153479"/>
                  <a:pt x="42230" y="155265"/>
                  <a:pt x="40816" y="156679"/>
                </a:cubicBezTo>
                <a:lnTo>
                  <a:pt x="15404" y="182091"/>
                </a:lnTo>
                <a:cubicBezTo>
                  <a:pt x="10753" y="186742"/>
                  <a:pt x="10753" y="194295"/>
                  <a:pt x="15404" y="198946"/>
                </a:cubicBezTo>
                <a:cubicBezTo>
                  <a:pt x="20055" y="203597"/>
                  <a:pt x="27608" y="203597"/>
                  <a:pt x="32258" y="198946"/>
                </a:cubicBezTo>
                <a:lnTo>
                  <a:pt x="57671" y="173534"/>
                </a:lnTo>
                <a:cubicBezTo>
                  <a:pt x="61950" y="169255"/>
                  <a:pt x="65075" y="163934"/>
                  <a:pt x="66749" y="158093"/>
                </a:cubicBezTo>
                <a:lnTo>
                  <a:pt x="67568" y="155265"/>
                </a:lnTo>
                <a:lnTo>
                  <a:pt x="50453" y="140605"/>
                </a:lnTo>
                <a:cubicBezTo>
                  <a:pt x="49523" y="139787"/>
                  <a:pt x="48592" y="138968"/>
                  <a:pt x="47699" y="138075"/>
                </a:cubicBezTo>
                <a:lnTo>
                  <a:pt x="43830" y="15154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0" name="Text 18"/>
          <p:cNvSpPr/>
          <p:nvPr/>
        </p:nvSpPr>
        <p:spPr>
          <a:xfrm>
            <a:off x="4973241" y="1512573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角色控制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01741" y="1988823"/>
            <a:ext cx="34671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PlayerController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角色控制器，实现基于摄像机视角的角色移动和平滑转向逻辑。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9125" y="35032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3" name="Text 21"/>
          <p:cNvSpPr/>
          <p:nvPr/>
        </p:nvSpPr>
        <p:spPr>
          <a:xfrm>
            <a:off x="4644628" y="3474723"/>
            <a:ext cx="138267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摄像机相对移动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29125" y="37699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5" name="Text 23"/>
          <p:cNvSpPr/>
          <p:nvPr/>
        </p:nvSpPr>
        <p:spPr>
          <a:xfrm>
            <a:off x="4644628" y="3741423"/>
            <a:ext cx="1121806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平滑转向插值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9125" y="40366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Text 25"/>
          <p:cNvSpPr/>
          <p:nvPr/>
        </p:nvSpPr>
        <p:spPr>
          <a:xfrm>
            <a:off x="4644628" y="4008123"/>
            <a:ext cx="138267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加速度与减速度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29125" y="43033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9" name="Text 27"/>
          <p:cNvSpPr/>
          <p:nvPr/>
        </p:nvSpPr>
        <p:spPr>
          <a:xfrm>
            <a:off x="4644628" y="4113530"/>
            <a:ext cx="1451372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输入层与表现层分离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83880" y="1261110"/>
            <a:ext cx="3703320" cy="3360420"/>
          </a:xfrm>
          <a:custGeom>
            <a:avLst/>
            <a:gdLst/>
            <a:ahLst/>
            <a:cxnLst/>
            <a:rect l="l" t="t" r="r" b="b"/>
            <a:pathLst>
              <a:path w="3703320" h="3360420">
                <a:moveTo>
                  <a:pt x="114288" y="0"/>
                </a:moveTo>
                <a:lnTo>
                  <a:pt x="3589032" y="0"/>
                </a:lnTo>
                <a:cubicBezTo>
                  <a:pt x="3652152" y="0"/>
                  <a:pt x="3703320" y="51168"/>
                  <a:pt x="3703320" y="114288"/>
                </a:cubicBezTo>
                <a:lnTo>
                  <a:pt x="3703320" y="3246132"/>
                </a:lnTo>
                <a:cubicBezTo>
                  <a:pt x="3703320" y="3309252"/>
                  <a:pt x="3652152" y="3360420"/>
                  <a:pt x="3589032" y="3360420"/>
                </a:cubicBezTo>
                <a:lnTo>
                  <a:pt x="114288" y="3360420"/>
                </a:lnTo>
                <a:cubicBezTo>
                  <a:pt x="51168" y="3360420"/>
                  <a:pt x="0" y="3309252"/>
                  <a:pt x="0" y="3246132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2581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384024" y="15506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3" name="Text 31"/>
          <p:cNvSpPr/>
          <p:nvPr/>
        </p:nvSpPr>
        <p:spPr>
          <a:xfrm>
            <a:off x="8834081" y="1512573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摄像机系统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62581" y="1988823"/>
            <a:ext cx="34671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ThirdPersonCamera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第三人称摄像机，实现ARPG风格的固定视角跟随和防遮挡功能。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89965" y="35032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6" name="Text 34"/>
          <p:cNvSpPr/>
          <p:nvPr/>
        </p:nvSpPr>
        <p:spPr>
          <a:xfrm>
            <a:off x="8505468" y="3474723"/>
            <a:ext cx="121181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固定视角跟随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89965" y="37699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8" name="Text 36"/>
          <p:cNvSpPr/>
          <p:nvPr/>
        </p:nvSpPr>
        <p:spPr>
          <a:xfrm>
            <a:off x="8505468" y="3741423"/>
            <a:ext cx="137636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鼠标控制旋转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9965" y="40366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0" name="Text 38"/>
          <p:cNvSpPr/>
          <p:nvPr/>
        </p:nvSpPr>
        <p:spPr>
          <a:xfrm>
            <a:off x="8505468" y="4008123"/>
            <a:ext cx="106525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滚轮缩放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89965" y="430339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2" name="Text 40"/>
          <p:cNvSpPr/>
          <p:nvPr/>
        </p:nvSpPr>
        <p:spPr>
          <a:xfrm>
            <a:off x="8505468" y="4274823"/>
            <a:ext cx="106525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防遮挡检测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4810" y="4781551"/>
            <a:ext cx="11418570" cy="1150620"/>
          </a:xfrm>
          <a:custGeom>
            <a:avLst/>
            <a:gdLst/>
            <a:ahLst/>
            <a:cxnLst/>
            <a:rect l="l" t="t" r="r" b="b"/>
            <a:pathLst>
              <a:path w="11418570" h="11506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1036317"/>
                </a:lnTo>
                <a:cubicBezTo>
                  <a:pt x="11418570" y="1099445"/>
                  <a:pt x="11367395" y="1150620"/>
                  <a:pt x="113042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1020" y="49377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74370" y="50711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6" name="Text 44"/>
          <p:cNvSpPr/>
          <p:nvPr/>
        </p:nvSpPr>
        <p:spPr>
          <a:xfrm>
            <a:off x="1150620" y="4937759"/>
            <a:ext cx="8420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体验优化：SmoothDamp平滑插值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50620" y="5280659"/>
            <a:ext cx="84010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</a:t>
            </a: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SmoothDamp</a:t>
            </a: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算法进行平滑插值，解决摄像机跟随抖动问题。分离X/Y轴灵敏度配置，优化操作手感，实现流畅的第三人称控制体验。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559528" y="4937759"/>
            <a:ext cx="9429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60fps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597628" y="5280659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目标帧率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587871" y="4937759"/>
            <a:ext cx="11334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&lt;16ms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625971" y="5280659"/>
            <a:ext cx="1057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输入延迟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1000" y="60921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4" name="Text 52"/>
          <p:cNvSpPr/>
          <p:nvPr/>
        </p:nvSpPr>
        <p:spPr>
          <a:xfrm>
            <a:off x="647700" y="6248400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开发周期：Week 03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363200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6" name="Text 54"/>
          <p:cNvSpPr/>
          <p:nvPr/>
        </p:nvSpPr>
        <p:spPr>
          <a:xfrm>
            <a:off x="10591800" y="62484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完成状态：</a:t>
            </a:r>
            <a:r>
              <a:rPr lang="en-US" sz="12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11526478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58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WEEK 04 · GAME STATE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65522"/>
            <a:ext cx="11618911" cy="369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状态管理：游戏状态与角色状态机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3432" y="1223822"/>
            <a:ext cx="6865972" cy="1837581"/>
          </a:xfrm>
          <a:custGeom>
            <a:avLst/>
            <a:gdLst/>
            <a:ahLst/>
            <a:cxnLst/>
            <a:rect l="l" t="t" r="r" b="b"/>
            <a:pathLst>
              <a:path w="6865972" h="1837581">
                <a:moveTo>
                  <a:pt x="110916" y="0"/>
                </a:moveTo>
                <a:lnTo>
                  <a:pt x="6755056" y="0"/>
                </a:lnTo>
                <a:cubicBezTo>
                  <a:pt x="6816313" y="0"/>
                  <a:pt x="6865972" y="49659"/>
                  <a:pt x="6865972" y="110916"/>
                </a:cubicBezTo>
                <a:lnTo>
                  <a:pt x="6865972" y="1726665"/>
                </a:lnTo>
                <a:cubicBezTo>
                  <a:pt x="6865972" y="1787922"/>
                  <a:pt x="6816313" y="1837581"/>
                  <a:pt x="6755056" y="1837581"/>
                </a:cubicBezTo>
                <a:lnTo>
                  <a:pt x="110916" y="1837581"/>
                </a:lnTo>
                <a:cubicBezTo>
                  <a:pt x="49659" y="1837581"/>
                  <a:pt x="0" y="1787922"/>
                  <a:pt x="0" y="1726665"/>
                </a:cubicBezTo>
                <a:lnTo>
                  <a:pt x="0" y="110916"/>
                </a:lnTo>
                <a:cubicBezTo>
                  <a:pt x="0" y="49700"/>
                  <a:pt x="49700" y="0"/>
                  <a:pt x="11091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023" y="1375416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29011" y="1477093"/>
            <a:ext cx="166381" cy="166381"/>
          </a:xfrm>
          <a:custGeom>
            <a:avLst/>
            <a:gdLst/>
            <a:ahLst/>
            <a:cxnLst/>
            <a:rect l="l" t="t" r="r" b="b"/>
            <a:pathLst>
              <a:path w="166381" h="166381">
                <a:moveTo>
                  <a:pt x="75554" y="1690"/>
                </a:moveTo>
                <a:cubicBezTo>
                  <a:pt x="80396" y="-552"/>
                  <a:pt x="85985" y="-552"/>
                  <a:pt x="90827" y="1690"/>
                </a:cubicBezTo>
                <a:lnTo>
                  <a:pt x="161864" y="34511"/>
                </a:lnTo>
                <a:cubicBezTo>
                  <a:pt x="164626" y="35778"/>
                  <a:pt x="166381" y="38541"/>
                  <a:pt x="166381" y="41595"/>
                </a:cubicBezTo>
                <a:cubicBezTo>
                  <a:pt x="166381" y="44650"/>
                  <a:pt x="164626" y="47412"/>
                  <a:pt x="161864" y="48679"/>
                </a:cubicBezTo>
                <a:lnTo>
                  <a:pt x="90827" y="81500"/>
                </a:lnTo>
                <a:cubicBezTo>
                  <a:pt x="85985" y="83743"/>
                  <a:pt x="80396" y="83743"/>
                  <a:pt x="75554" y="81500"/>
                </a:cubicBezTo>
                <a:lnTo>
                  <a:pt x="4517" y="48679"/>
                </a:lnTo>
                <a:cubicBezTo>
                  <a:pt x="1755" y="47379"/>
                  <a:pt x="0" y="44617"/>
                  <a:pt x="0" y="41595"/>
                </a:cubicBezTo>
                <a:cubicBezTo>
                  <a:pt x="0" y="38573"/>
                  <a:pt x="1755" y="35778"/>
                  <a:pt x="4517" y="34511"/>
                </a:cubicBezTo>
                <a:lnTo>
                  <a:pt x="75554" y="1690"/>
                </a:lnTo>
                <a:close/>
                <a:moveTo>
                  <a:pt x="15631" y="70972"/>
                </a:moveTo>
                <a:lnTo>
                  <a:pt x="69022" y="95636"/>
                </a:lnTo>
                <a:cubicBezTo>
                  <a:pt x="78023" y="99796"/>
                  <a:pt x="88390" y="99796"/>
                  <a:pt x="97391" y="95636"/>
                </a:cubicBezTo>
                <a:lnTo>
                  <a:pt x="150782" y="70972"/>
                </a:lnTo>
                <a:lnTo>
                  <a:pt x="161864" y="76106"/>
                </a:lnTo>
                <a:cubicBezTo>
                  <a:pt x="164626" y="77373"/>
                  <a:pt x="166381" y="80136"/>
                  <a:pt x="166381" y="83190"/>
                </a:cubicBezTo>
                <a:cubicBezTo>
                  <a:pt x="166381" y="86245"/>
                  <a:pt x="164626" y="89007"/>
                  <a:pt x="161864" y="90274"/>
                </a:cubicBezTo>
                <a:lnTo>
                  <a:pt x="90827" y="123096"/>
                </a:lnTo>
                <a:cubicBezTo>
                  <a:pt x="85985" y="125338"/>
                  <a:pt x="80396" y="125338"/>
                  <a:pt x="75554" y="123096"/>
                </a:cubicBezTo>
                <a:lnTo>
                  <a:pt x="4517" y="90274"/>
                </a:lnTo>
                <a:cubicBezTo>
                  <a:pt x="1755" y="88975"/>
                  <a:pt x="0" y="86212"/>
                  <a:pt x="0" y="83190"/>
                </a:cubicBezTo>
                <a:cubicBezTo>
                  <a:pt x="0" y="80168"/>
                  <a:pt x="1755" y="77373"/>
                  <a:pt x="4517" y="76106"/>
                </a:cubicBezTo>
                <a:lnTo>
                  <a:pt x="15598" y="70972"/>
                </a:lnTo>
                <a:close/>
                <a:moveTo>
                  <a:pt x="4517" y="117701"/>
                </a:moveTo>
                <a:lnTo>
                  <a:pt x="15598" y="112567"/>
                </a:lnTo>
                <a:lnTo>
                  <a:pt x="68989" y="137231"/>
                </a:lnTo>
                <a:cubicBezTo>
                  <a:pt x="77991" y="141391"/>
                  <a:pt x="88357" y="141391"/>
                  <a:pt x="97359" y="137231"/>
                </a:cubicBezTo>
                <a:lnTo>
                  <a:pt x="150750" y="112567"/>
                </a:lnTo>
                <a:lnTo>
                  <a:pt x="161831" y="117701"/>
                </a:lnTo>
                <a:cubicBezTo>
                  <a:pt x="164593" y="118969"/>
                  <a:pt x="166348" y="121731"/>
                  <a:pt x="166348" y="124785"/>
                </a:cubicBezTo>
                <a:cubicBezTo>
                  <a:pt x="166348" y="127840"/>
                  <a:pt x="164593" y="130602"/>
                  <a:pt x="161831" y="131870"/>
                </a:cubicBezTo>
                <a:lnTo>
                  <a:pt x="90794" y="164691"/>
                </a:lnTo>
                <a:cubicBezTo>
                  <a:pt x="85952" y="166933"/>
                  <a:pt x="80363" y="166933"/>
                  <a:pt x="75521" y="164691"/>
                </a:cubicBezTo>
                <a:lnTo>
                  <a:pt x="4517" y="131870"/>
                </a:lnTo>
                <a:cubicBezTo>
                  <a:pt x="1755" y="130570"/>
                  <a:pt x="0" y="127808"/>
                  <a:pt x="0" y="124785"/>
                </a:cubicBezTo>
                <a:cubicBezTo>
                  <a:pt x="0" y="121763"/>
                  <a:pt x="1755" y="118969"/>
                  <a:pt x="4517" y="11770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1005678" y="1430876"/>
            <a:ext cx="2310842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GameStateManager架构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5023" y="1856071"/>
            <a:ext cx="6636737" cy="240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搭建</a:t>
            </a:r>
            <a:r>
              <a:rPr lang="en-US" sz="116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GameStateManager</a:t>
            </a:r>
            <a:r>
              <a:rPr lang="en-US" sz="116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核心架构，采用状态机模式管理游戏全局状态：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3510" y="2207319"/>
            <a:ext cx="3207448" cy="702496"/>
          </a:xfrm>
          <a:custGeom>
            <a:avLst/>
            <a:gdLst/>
            <a:ahLst/>
            <a:cxnLst/>
            <a:rect l="l" t="t" r="r" b="b"/>
            <a:pathLst>
              <a:path w="3207448" h="702496">
                <a:moveTo>
                  <a:pt x="36973" y="0"/>
                </a:moveTo>
                <a:lnTo>
                  <a:pt x="3133503" y="0"/>
                </a:lnTo>
                <a:cubicBezTo>
                  <a:pt x="3174342" y="0"/>
                  <a:pt x="3207448" y="33106"/>
                  <a:pt x="3207448" y="73945"/>
                </a:cubicBezTo>
                <a:lnTo>
                  <a:pt x="3207448" y="628551"/>
                </a:lnTo>
                <a:cubicBezTo>
                  <a:pt x="3207448" y="669390"/>
                  <a:pt x="3174342" y="702496"/>
                  <a:pt x="3133503" y="702496"/>
                </a:cubicBezTo>
                <a:lnTo>
                  <a:pt x="36973" y="702496"/>
                </a:lnTo>
                <a:cubicBezTo>
                  <a:pt x="16554" y="702496"/>
                  <a:pt x="0" y="685942"/>
                  <a:pt x="0" y="665522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43510" y="2207319"/>
            <a:ext cx="36973" cy="702496"/>
          </a:xfrm>
          <a:custGeom>
            <a:avLst/>
            <a:gdLst/>
            <a:ahLst/>
            <a:cxnLst/>
            <a:rect l="l" t="t" r="r" b="b"/>
            <a:pathLst>
              <a:path w="36973" h="702496">
                <a:moveTo>
                  <a:pt x="36973" y="0"/>
                </a:moveTo>
                <a:lnTo>
                  <a:pt x="36973" y="0"/>
                </a:lnTo>
                <a:lnTo>
                  <a:pt x="36973" y="702496"/>
                </a:lnTo>
                <a:lnTo>
                  <a:pt x="36973" y="702496"/>
                </a:lnTo>
                <a:cubicBezTo>
                  <a:pt x="16554" y="702496"/>
                  <a:pt x="0" y="685942"/>
                  <a:pt x="0" y="665522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Shape 9"/>
          <p:cNvSpPr/>
          <p:nvPr/>
        </p:nvSpPr>
        <p:spPr>
          <a:xfrm>
            <a:off x="691404" y="2355212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80244" y="2484"/>
                </a:moveTo>
                <a:cubicBezTo>
                  <a:pt x="76691" y="-809"/>
                  <a:pt x="71203" y="-809"/>
                  <a:pt x="67679" y="2484"/>
                </a:cubicBezTo>
                <a:lnTo>
                  <a:pt x="2975" y="62566"/>
                </a:lnTo>
                <a:cubicBezTo>
                  <a:pt x="202" y="65166"/>
                  <a:pt x="-722" y="69181"/>
                  <a:pt x="664" y="72705"/>
                </a:cubicBezTo>
                <a:cubicBezTo>
                  <a:pt x="2051" y="76229"/>
                  <a:pt x="5430" y="78569"/>
                  <a:pt x="9243" y="78569"/>
                </a:cubicBezTo>
                <a:lnTo>
                  <a:pt x="13865" y="78569"/>
                </a:lnTo>
                <a:lnTo>
                  <a:pt x="13865" y="129407"/>
                </a:lnTo>
                <a:cubicBezTo>
                  <a:pt x="13865" y="139604"/>
                  <a:pt x="22155" y="147894"/>
                  <a:pt x="32352" y="147894"/>
                </a:cubicBezTo>
                <a:lnTo>
                  <a:pt x="115542" y="147894"/>
                </a:lnTo>
                <a:cubicBezTo>
                  <a:pt x="125739" y="147894"/>
                  <a:pt x="134029" y="139604"/>
                  <a:pt x="134029" y="129407"/>
                </a:cubicBezTo>
                <a:lnTo>
                  <a:pt x="134029" y="78569"/>
                </a:lnTo>
                <a:lnTo>
                  <a:pt x="138650" y="78569"/>
                </a:lnTo>
                <a:cubicBezTo>
                  <a:pt x="142463" y="78569"/>
                  <a:pt x="145872" y="76229"/>
                  <a:pt x="147258" y="72705"/>
                </a:cubicBezTo>
                <a:cubicBezTo>
                  <a:pt x="148645" y="69181"/>
                  <a:pt x="147721" y="65137"/>
                  <a:pt x="144948" y="62566"/>
                </a:cubicBezTo>
                <a:lnTo>
                  <a:pt x="80244" y="2484"/>
                </a:lnTo>
                <a:close/>
                <a:moveTo>
                  <a:pt x="69325" y="92434"/>
                </a:moveTo>
                <a:lnTo>
                  <a:pt x="78569" y="92434"/>
                </a:lnTo>
                <a:cubicBezTo>
                  <a:pt x="86223" y="92434"/>
                  <a:pt x="92434" y="98644"/>
                  <a:pt x="92434" y="106299"/>
                </a:cubicBezTo>
                <a:lnTo>
                  <a:pt x="92434" y="134029"/>
                </a:lnTo>
                <a:lnTo>
                  <a:pt x="55460" y="134029"/>
                </a:lnTo>
                <a:lnTo>
                  <a:pt x="55460" y="106299"/>
                </a:lnTo>
                <a:cubicBezTo>
                  <a:pt x="55460" y="98644"/>
                  <a:pt x="61671" y="92434"/>
                  <a:pt x="69325" y="9243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Text 10"/>
          <p:cNvSpPr/>
          <p:nvPr/>
        </p:nvSpPr>
        <p:spPr>
          <a:xfrm>
            <a:off x="931731" y="2318239"/>
            <a:ext cx="924337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OutOfGame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917" y="2614027"/>
            <a:ext cx="3031824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局外状态：主菜单、设置、存档管理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78054" y="2207319"/>
            <a:ext cx="3207448" cy="702496"/>
          </a:xfrm>
          <a:custGeom>
            <a:avLst/>
            <a:gdLst/>
            <a:ahLst/>
            <a:cxnLst/>
            <a:rect l="l" t="t" r="r" b="b"/>
            <a:pathLst>
              <a:path w="3207448" h="702496">
                <a:moveTo>
                  <a:pt x="36973" y="0"/>
                </a:moveTo>
                <a:lnTo>
                  <a:pt x="3133503" y="0"/>
                </a:lnTo>
                <a:cubicBezTo>
                  <a:pt x="3174342" y="0"/>
                  <a:pt x="3207448" y="33106"/>
                  <a:pt x="3207448" y="73945"/>
                </a:cubicBezTo>
                <a:lnTo>
                  <a:pt x="3207448" y="628551"/>
                </a:lnTo>
                <a:cubicBezTo>
                  <a:pt x="3207448" y="669390"/>
                  <a:pt x="3174342" y="702496"/>
                  <a:pt x="3133503" y="702496"/>
                </a:cubicBezTo>
                <a:lnTo>
                  <a:pt x="36973" y="702496"/>
                </a:lnTo>
                <a:cubicBezTo>
                  <a:pt x="16554" y="702496"/>
                  <a:pt x="0" y="685942"/>
                  <a:pt x="0" y="665522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878054" y="2207319"/>
            <a:ext cx="36973" cy="702496"/>
          </a:xfrm>
          <a:custGeom>
            <a:avLst/>
            <a:gdLst/>
            <a:ahLst/>
            <a:cxnLst/>
            <a:rect l="l" t="t" r="r" b="b"/>
            <a:pathLst>
              <a:path w="36973" h="702496">
                <a:moveTo>
                  <a:pt x="36973" y="0"/>
                </a:moveTo>
                <a:lnTo>
                  <a:pt x="36973" y="0"/>
                </a:lnTo>
                <a:lnTo>
                  <a:pt x="36973" y="702496"/>
                </a:lnTo>
                <a:lnTo>
                  <a:pt x="36973" y="702496"/>
                </a:lnTo>
                <a:cubicBezTo>
                  <a:pt x="16554" y="702496"/>
                  <a:pt x="0" y="685942"/>
                  <a:pt x="0" y="665522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6" name="Shape 14"/>
          <p:cNvSpPr/>
          <p:nvPr/>
        </p:nvSpPr>
        <p:spPr>
          <a:xfrm>
            <a:off x="4007462" y="2355212"/>
            <a:ext cx="184867" cy="147894"/>
          </a:xfrm>
          <a:custGeom>
            <a:avLst/>
            <a:gdLst/>
            <a:ahLst/>
            <a:cxnLst/>
            <a:rect l="l" t="t" r="r" b="b"/>
            <a:pathLst>
              <a:path w="184867" h="147894">
                <a:moveTo>
                  <a:pt x="129407" y="18487"/>
                </a:moveTo>
                <a:cubicBezTo>
                  <a:pt x="160026" y="18487"/>
                  <a:pt x="184867" y="43328"/>
                  <a:pt x="184867" y="73947"/>
                </a:cubicBezTo>
                <a:cubicBezTo>
                  <a:pt x="184867" y="104566"/>
                  <a:pt x="160026" y="129407"/>
                  <a:pt x="129407" y="129407"/>
                </a:cubicBezTo>
                <a:lnTo>
                  <a:pt x="55460" y="129407"/>
                </a:lnTo>
                <a:cubicBezTo>
                  <a:pt x="24842" y="129407"/>
                  <a:pt x="0" y="104566"/>
                  <a:pt x="0" y="73947"/>
                </a:cubicBezTo>
                <a:cubicBezTo>
                  <a:pt x="0" y="43328"/>
                  <a:pt x="24842" y="18487"/>
                  <a:pt x="55460" y="18487"/>
                </a:cubicBezTo>
                <a:lnTo>
                  <a:pt x="129407" y="18487"/>
                </a:lnTo>
                <a:close/>
                <a:moveTo>
                  <a:pt x="55460" y="50839"/>
                </a:moveTo>
                <a:cubicBezTo>
                  <a:pt x="51618" y="50839"/>
                  <a:pt x="48528" y="53929"/>
                  <a:pt x="48528" y="57771"/>
                </a:cubicBezTo>
                <a:lnTo>
                  <a:pt x="48528" y="67014"/>
                </a:lnTo>
                <a:lnTo>
                  <a:pt x="39284" y="67014"/>
                </a:lnTo>
                <a:cubicBezTo>
                  <a:pt x="35443" y="67014"/>
                  <a:pt x="32352" y="70105"/>
                  <a:pt x="32352" y="73947"/>
                </a:cubicBezTo>
                <a:cubicBezTo>
                  <a:pt x="32352" y="77789"/>
                  <a:pt x="35443" y="80879"/>
                  <a:pt x="39284" y="80879"/>
                </a:cubicBezTo>
                <a:lnTo>
                  <a:pt x="48528" y="80879"/>
                </a:lnTo>
                <a:lnTo>
                  <a:pt x="48528" y="90123"/>
                </a:lnTo>
                <a:cubicBezTo>
                  <a:pt x="48528" y="93965"/>
                  <a:pt x="51618" y="97055"/>
                  <a:pt x="55460" y="97055"/>
                </a:cubicBezTo>
                <a:cubicBezTo>
                  <a:pt x="59302" y="97055"/>
                  <a:pt x="62393" y="93965"/>
                  <a:pt x="62393" y="90123"/>
                </a:cubicBezTo>
                <a:lnTo>
                  <a:pt x="62393" y="80879"/>
                </a:lnTo>
                <a:lnTo>
                  <a:pt x="71636" y="80879"/>
                </a:lnTo>
                <a:cubicBezTo>
                  <a:pt x="75478" y="80879"/>
                  <a:pt x="78569" y="77789"/>
                  <a:pt x="78569" y="73947"/>
                </a:cubicBezTo>
                <a:cubicBezTo>
                  <a:pt x="78569" y="70105"/>
                  <a:pt x="75478" y="67014"/>
                  <a:pt x="71636" y="67014"/>
                </a:cubicBezTo>
                <a:lnTo>
                  <a:pt x="62393" y="67014"/>
                </a:lnTo>
                <a:lnTo>
                  <a:pt x="62393" y="57771"/>
                </a:lnTo>
                <a:cubicBezTo>
                  <a:pt x="62393" y="53929"/>
                  <a:pt x="59302" y="50839"/>
                  <a:pt x="55460" y="50839"/>
                </a:cubicBezTo>
                <a:close/>
                <a:moveTo>
                  <a:pt x="124785" y="78569"/>
                </a:moveTo>
                <a:cubicBezTo>
                  <a:pt x="119684" y="78569"/>
                  <a:pt x="115542" y="82710"/>
                  <a:pt x="115542" y="87812"/>
                </a:cubicBezTo>
                <a:cubicBezTo>
                  <a:pt x="115542" y="92914"/>
                  <a:pt x="119684" y="97055"/>
                  <a:pt x="124785" y="97055"/>
                </a:cubicBezTo>
                <a:cubicBezTo>
                  <a:pt x="129887" y="97055"/>
                  <a:pt x="134029" y="92914"/>
                  <a:pt x="134029" y="87812"/>
                </a:cubicBezTo>
                <a:cubicBezTo>
                  <a:pt x="134029" y="82710"/>
                  <a:pt x="129887" y="78569"/>
                  <a:pt x="124785" y="78569"/>
                </a:cubicBezTo>
                <a:close/>
                <a:moveTo>
                  <a:pt x="143272" y="50839"/>
                </a:moveTo>
                <a:cubicBezTo>
                  <a:pt x="138171" y="50839"/>
                  <a:pt x="134029" y="54980"/>
                  <a:pt x="134029" y="60082"/>
                </a:cubicBezTo>
                <a:cubicBezTo>
                  <a:pt x="134029" y="65183"/>
                  <a:pt x="138171" y="69325"/>
                  <a:pt x="143272" y="69325"/>
                </a:cubicBezTo>
                <a:cubicBezTo>
                  <a:pt x="148374" y="69325"/>
                  <a:pt x="152516" y="65183"/>
                  <a:pt x="152516" y="60082"/>
                </a:cubicBezTo>
                <a:cubicBezTo>
                  <a:pt x="152516" y="54980"/>
                  <a:pt x="148374" y="50839"/>
                  <a:pt x="143272" y="5083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5"/>
          <p:cNvSpPr/>
          <p:nvPr/>
        </p:nvSpPr>
        <p:spPr>
          <a:xfrm>
            <a:off x="4266276" y="2318239"/>
            <a:ext cx="628549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InGame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07462" y="2614027"/>
            <a:ext cx="3031824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局内状态：探索、战斗、结算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3432" y="3179719"/>
            <a:ext cx="6865972" cy="3150139"/>
          </a:xfrm>
          <a:custGeom>
            <a:avLst/>
            <a:gdLst/>
            <a:ahLst/>
            <a:cxnLst/>
            <a:rect l="l" t="t" r="r" b="b"/>
            <a:pathLst>
              <a:path w="6865972" h="3150139">
                <a:moveTo>
                  <a:pt x="110916" y="0"/>
                </a:moveTo>
                <a:lnTo>
                  <a:pt x="6755056" y="0"/>
                </a:lnTo>
                <a:cubicBezTo>
                  <a:pt x="6816313" y="0"/>
                  <a:pt x="6865972" y="49659"/>
                  <a:pt x="6865972" y="110916"/>
                </a:cubicBezTo>
                <a:lnTo>
                  <a:pt x="6865972" y="3039223"/>
                </a:lnTo>
                <a:cubicBezTo>
                  <a:pt x="6865972" y="3100480"/>
                  <a:pt x="6816313" y="3150139"/>
                  <a:pt x="6755056" y="3150139"/>
                </a:cubicBezTo>
                <a:lnTo>
                  <a:pt x="110916" y="3150139"/>
                </a:lnTo>
                <a:cubicBezTo>
                  <a:pt x="49659" y="3150139"/>
                  <a:pt x="0" y="3100480"/>
                  <a:pt x="0" y="3039223"/>
                </a:cubicBezTo>
                <a:lnTo>
                  <a:pt x="0" y="110916"/>
                </a:lnTo>
                <a:cubicBezTo>
                  <a:pt x="0" y="49700"/>
                  <a:pt x="49700" y="0"/>
                  <a:pt x="11091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023" y="3331308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29011" y="3432985"/>
            <a:ext cx="166381" cy="166381"/>
          </a:xfrm>
          <a:custGeom>
            <a:avLst/>
            <a:gdLst/>
            <a:ahLst/>
            <a:cxnLst/>
            <a:rect l="l" t="t" r="r" b="b"/>
            <a:pathLst>
              <a:path w="166381" h="166381">
                <a:moveTo>
                  <a:pt x="0" y="25997"/>
                </a:moveTo>
                <a:cubicBezTo>
                  <a:pt x="0" y="17385"/>
                  <a:pt x="6987" y="10399"/>
                  <a:pt x="15598" y="10399"/>
                </a:cubicBezTo>
                <a:lnTo>
                  <a:pt x="46795" y="10399"/>
                </a:lnTo>
                <a:cubicBezTo>
                  <a:pt x="55406" y="10399"/>
                  <a:pt x="62393" y="17385"/>
                  <a:pt x="62393" y="25997"/>
                </a:cubicBezTo>
                <a:lnTo>
                  <a:pt x="62393" y="31196"/>
                </a:lnTo>
                <a:lnTo>
                  <a:pt x="103988" y="31196"/>
                </a:lnTo>
                <a:lnTo>
                  <a:pt x="103988" y="25997"/>
                </a:lnTo>
                <a:cubicBezTo>
                  <a:pt x="103988" y="17385"/>
                  <a:pt x="110975" y="10399"/>
                  <a:pt x="119586" y="10399"/>
                </a:cubicBezTo>
                <a:lnTo>
                  <a:pt x="150782" y="10399"/>
                </a:lnTo>
                <a:cubicBezTo>
                  <a:pt x="159394" y="10399"/>
                  <a:pt x="166381" y="17385"/>
                  <a:pt x="166381" y="25997"/>
                </a:cubicBezTo>
                <a:lnTo>
                  <a:pt x="166381" y="57193"/>
                </a:lnTo>
                <a:cubicBezTo>
                  <a:pt x="166381" y="65805"/>
                  <a:pt x="159394" y="72792"/>
                  <a:pt x="150782" y="72792"/>
                </a:cubicBezTo>
                <a:lnTo>
                  <a:pt x="119586" y="72792"/>
                </a:lnTo>
                <a:cubicBezTo>
                  <a:pt x="110975" y="72792"/>
                  <a:pt x="103988" y="65805"/>
                  <a:pt x="103988" y="57193"/>
                </a:cubicBezTo>
                <a:lnTo>
                  <a:pt x="103988" y="51994"/>
                </a:lnTo>
                <a:lnTo>
                  <a:pt x="62393" y="51994"/>
                </a:lnTo>
                <a:lnTo>
                  <a:pt x="62393" y="57193"/>
                </a:lnTo>
                <a:cubicBezTo>
                  <a:pt x="62393" y="59566"/>
                  <a:pt x="61840" y="61840"/>
                  <a:pt x="60898" y="63855"/>
                </a:cubicBezTo>
                <a:lnTo>
                  <a:pt x="83190" y="93589"/>
                </a:lnTo>
                <a:lnTo>
                  <a:pt x="109187" y="93589"/>
                </a:lnTo>
                <a:cubicBezTo>
                  <a:pt x="117799" y="93589"/>
                  <a:pt x="124785" y="100576"/>
                  <a:pt x="124785" y="109187"/>
                </a:cubicBezTo>
                <a:lnTo>
                  <a:pt x="124785" y="140384"/>
                </a:lnTo>
                <a:cubicBezTo>
                  <a:pt x="124785" y="148995"/>
                  <a:pt x="117799" y="155982"/>
                  <a:pt x="109187" y="155982"/>
                </a:cubicBezTo>
                <a:lnTo>
                  <a:pt x="77991" y="155982"/>
                </a:lnTo>
                <a:cubicBezTo>
                  <a:pt x="69379" y="155982"/>
                  <a:pt x="62393" y="148995"/>
                  <a:pt x="62393" y="140384"/>
                </a:cubicBezTo>
                <a:lnTo>
                  <a:pt x="62393" y="109187"/>
                </a:lnTo>
                <a:cubicBezTo>
                  <a:pt x="62393" y="106815"/>
                  <a:pt x="62945" y="104540"/>
                  <a:pt x="63888" y="102526"/>
                </a:cubicBezTo>
                <a:lnTo>
                  <a:pt x="41595" y="72792"/>
                </a:lnTo>
                <a:lnTo>
                  <a:pt x="15598" y="72792"/>
                </a:lnTo>
                <a:cubicBezTo>
                  <a:pt x="6987" y="72792"/>
                  <a:pt x="0" y="65805"/>
                  <a:pt x="0" y="57193"/>
                </a:cubicBezTo>
                <a:lnTo>
                  <a:pt x="0" y="25997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2" name="Text 20"/>
          <p:cNvSpPr/>
          <p:nvPr/>
        </p:nvSpPr>
        <p:spPr>
          <a:xfrm>
            <a:off x="1005678" y="3386768"/>
            <a:ext cx="1201638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局内子状态机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5023" y="3830450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35944" y="3941370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88592" y="93907"/>
                </a:moveTo>
                <a:lnTo>
                  <a:pt x="46910" y="109938"/>
                </a:lnTo>
                <a:cubicBezTo>
                  <a:pt x="41306" y="112105"/>
                  <a:pt x="35789" y="106588"/>
                  <a:pt x="37956" y="100984"/>
                </a:cubicBezTo>
                <a:lnTo>
                  <a:pt x="53987" y="59302"/>
                </a:lnTo>
                <a:cubicBezTo>
                  <a:pt x="54940" y="56847"/>
                  <a:pt x="56847" y="54940"/>
                  <a:pt x="59302" y="53987"/>
                </a:cubicBezTo>
                <a:lnTo>
                  <a:pt x="100984" y="37956"/>
                </a:lnTo>
                <a:cubicBezTo>
                  <a:pt x="106588" y="35789"/>
                  <a:pt x="112105" y="41306"/>
                  <a:pt x="109938" y="46910"/>
                </a:cubicBezTo>
                <a:lnTo>
                  <a:pt x="93907" y="88592"/>
                </a:lnTo>
                <a:cubicBezTo>
                  <a:pt x="92982" y="91047"/>
                  <a:pt x="91047" y="92954"/>
                  <a:pt x="88592" y="93907"/>
                </a:cubicBezTo>
                <a:close/>
                <a:moveTo>
                  <a:pt x="83190" y="73947"/>
                </a:moveTo>
                <a:cubicBezTo>
                  <a:pt x="83190" y="68845"/>
                  <a:pt x="79048" y="64704"/>
                  <a:pt x="73947" y="64704"/>
                </a:cubicBezTo>
                <a:cubicBezTo>
                  <a:pt x="68845" y="64704"/>
                  <a:pt x="64704" y="68845"/>
                  <a:pt x="64704" y="73947"/>
                </a:cubicBezTo>
                <a:cubicBezTo>
                  <a:pt x="64704" y="79048"/>
                  <a:pt x="68845" y="83190"/>
                  <a:pt x="73947" y="83190"/>
                </a:cubicBezTo>
                <a:cubicBezTo>
                  <a:pt x="79048" y="83190"/>
                  <a:pt x="83190" y="79048"/>
                  <a:pt x="83190" y="7394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5" name="Text 23"/>
          <p:cNvSpPr/>
          <p:nvPr/>
        </p:nvSpPr>
        <p:spPr>
          <a:xfrm>
            <a:off x="1005678" y="3811963"/>
            <a:ext cx="6156082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ExplorationState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678" y="4033804"/>
            <a:ext cx="6146839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探索状态：自由移动、资源收集、事件触发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44026" y="4329592"/>
            <a:ext cx="124785" cy="166381"/>
          </a:xfrm>
          <a:custGeom>
            <a:avLst/>
            <a:gdLst/>
            <a:ahLst/>
            <a:cxnLst/>
            <a:rect l="l" t="t" r="r" b="b"/>
            <a:pathLst>
              <a:path w="124785" h="166381">
                <a:moveTo>
                  <a:pt x="55049" y="163326"/>
                </a:moveTo>
                <a:cubicBezTo>
                  <a:pt x="59111" y="167388"/>
                  <a:pt x="65707" y="167388"/>
                  <a:pt x="69769" y="163326"/>
                </a:cubicBezTo>
                <a:lnTo>
                  <a:pt x="121763" y="111332"/>
                </a:lnTo>
                <a:cubicBezTo>
                  <a:pt x="125825" y="107270"/>
                  <a:pt x="125825" y="100673"/>
                  <a:pt x="121763" y="96611"/>
                </a:cubicBezTo>
                <a:cubicBezTo>
                  <a:pt x="117701" y="92549"/>
                  <a:pt x="111105" y="92549"/>
                  <a:pt x="107043" y="96611"/>
                </a:cubicBezTo>
                <a:lnTo>
                  <a:pt x="72792" y="130862"/>
                </a:lnTo>
                <a:lnTo>
                  <a:pt x="72792" y="10399"/>
                </a:lnTo>
                <a:cubicBezTo>
                  <a:pt x="72792" y="4647"/>
                  <a:pt x="68145" y="0"/>
                  <a:pt x="62393" y="0"/>
                </a:cubicBezTo>
                <a:cubicBezTo>
                  <a:pt x="56641" y="0"/>
                  <a:pt x="51994" y="4647"/>
                  <a:pt x="51994" y="10399"/>
                </a:cubicBezTo>
                <a:lnTo>
                  <a:pt x="51994" y="130862"/>
                </a:lnTo>
                <a:lnTo>
                  <a:pt x="17743" y="96611"/>
                </a:lnTo>
                <a:cubicBezTo>
                  <a:pt x="13681" y="92549"/>
                  <a:pt x="7084" y="92549"/>
                  <a:pt x="3022" y="96611"/>
                </a:cubicBezTo>
                <a:cubicBezTo>
                  <a:pt x="-1040" y="100673"/>
                  <a:pt x="-1040" y="107270"/>
                  <a:pt x="3022" y="111332"/>
                </a:cubicBezTo>
                <a:lnTo>
                  <a:pt x="55016" y="16332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Shape 26"/>
          <p:cNvSpPr/>
          <p:nvPr/>
        </p:nvSpPr>
        <p:spPr>
          <a:xfrm>
            <a:off x="525023" y="4625380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54430" y="4736300"/>
            <a:ext cx="110920" cy="147894"/>
          </a:xfrm>
          <a:custGeom>
            <a:avLst/>
            <a:gdLst/>
            <a:ahLst/>
            <a:cxnLst/>
            <a:rect l="l" t="t" r="r" b="b"/>
            <a:pathLst>
              <a:path w="110920" h="147894">
                <a:moveTo>
                  <a:pt x="46217" y="0"/>
                </a:moveTo>
                <a:cubicBezTo>
                  <a:pt x="51330" y="0"/>
                  <a:pt x="55460" y="4131"/>
                  <a:pt x="55460" y="9243"/>
                </a:cubicBezTo>
                <a:lnTo>
                  <a:pt x="55460" y="41595"/>
                </a:lnTo>
                <a:lnTo>
                  <a:pt x="36973" y="41595"/>
                </a:lnTo>
                <a:lnTo>
                  <a:pt x="36973" y="9243"/>
                </a:lnTo>
                <a:cubicBezTo>
                  <a:pt x="36973" y="4131"/>
                  <a:pt x="41104" y="0"/>
                  <a:pt x="46217" y="0"/>
                </a:cubicBezTo>
                <a:close/>
                <a:moveTo>
                  <a:pt x="9243" y="18487"/>
                </a:moveTo>
                <a:cubicBezTo>
                  <a:pt x="9243" y="13374"/>
                  <a:pt x="13374" y="9243"/>
                  <a:pt x="18487" y="9243"/>
                </a:cubicBezTo>
                <a:cubicBezTo>
                  <a:pt x="23599" y="9243"/>
                  <a:pt x="27730" y="13374"/>
                  <a:pt x="27730" y="18487"/>
                </a:cubicBezTo>
                <a:lnTo>
                  <a:pt x="27730" y="41595"/>
                </a:lnTo>
                <a:lnTo>
                  <a:pt x="9243" y="41595"/>
                </a:lnTo>
                <a:lnTo>
                  <a:pt x="9243" y="18487"/>
                </a:lnTo>
                <a:close/>
                <a:moveTo>
                  <a:pt x="64704" y="18487"/>
                </a:moveTo>
                <a:cubicBezTo>
                  <a:pt x="64704" y="13374"/>
                  <a:pt x="68834" y="9243"/>
                  <a:pt x="73947" y="9243"/>
                </a:cubicBezTo>
                <a:cubicBezTo>
                  <a:pt x="79060" y="9243"/>
                  <a:pt x="83190" y="13374"/>
                  <a:pt x="83190" y="18487"/>
                </a:cubicBezTo>
                <a:lnTo>
                  <a:pt x="83190" y="46217"/>
                </a:lnTo>
                <a:cubicBezTo>
                  <a:pt x="83190" y="51330"/>
                  <a:pt x="79060" y="55460"/>
                  <a:pt x="73947" y="55460"/>
                </a:cubicBezTo>
                <a:cubicBezTo>
                  <a:pt x="68834" y="55460"/>
                  <a:pt x="64704" y="51330"/>
                  <a:pt x="64704" y="46217"/>
                </a:cubicBezTo>
                <a:lnTo>
                  <a:pt x="64704" y="18487"/>
                </a:lnTo>
                <a:close/>
                <a:moveTo>
                  <a:pt x="92434" y="36973"/>
                </a:moveTo>
                <a:cubicBezTo>
                  <a:pt x="92434" y="31861"/>
                  <a:pt x="96564" y="27730"/>
                  <a:pt x="101677" y="27730"/>
                </a:cubicBezTo>
                <a:cubicBezTo>
                  <a:pt x="106790" y="27730"/>
                  <a:pt x="110920" y="31861"/>
                  <a:pt x="110920" y="36973"/>
                </a:cubicBezTo>
                <a:lnTo>
                  <a:pt x="110920" y="55460"/>
                </a:lnTo>
                <a:cubicBezTo>
                  <a:pt x="110920" y="60573"/>
                  <a:pt x="106790" y="64704"/>
                  <a:pt x="101677" y="64704"/>
                </a:cubicBezTo>
                <a:cubicBezTo>
                  <a:pt x="96564" y="64704"/>
                  <a:pt x="92434" y="60573"/>
                  <a:pt x="92434" y="55460"/>
                </a:cubicBezTo>
                <a:lnTo>
                  <a:pt x="92434" y="36973"/>
                </a:lnTo>
                <a:close/>
                <a:moveTo>
                  <a:pt x="64704" y="62393"/>
                </a:moveTo>
                <a:lnTo>
                  <a:pt x="64704" y="62219"/>
                </a:lnTo>
                <a:cubicBezTo>
                  <a:pt x="67419" y="63779"/>
                  <a:pt x="70567" y="64704"/>
                  <a:pt x="73947" y="64704"/>
                </a:cubicBezTo>
                <a:cubicBezTo>
                  <a:pt x="77760" y="64704"/>
                  <a:pt x="81284" y="63548"/>
                  <a:pt x="84230" y="61584"/>
                </a:cubicBezTo>
                <a:cubicBezTo>
                  <a:pt x="86743" y="68776"/>
                  <a:pt x="93618" y="73947"/>
                  <a:pt x="101677" y="73947"/>
                </a:cubicBezTo>
                <a:cubicBezTo>
                  <a:pt x="105057" y="73947"/>
                  <a:pt x="108205" y="73051"/>
                  <a:pt x="110920" y="71463"/>
                </a:cubicBezTo>
                <a:lnTo>
                  <a:pt x="110920" y="73947"/>
                </a:lnTo>
                <a:cubicBezTo>
                  <a:pt x="110920" y="89054"/>
                  <a:pt x="103670" y="102486"/>
                  <a:pt x="92434" y="110920"/>
                </a:cubicBezTo>
                <a:lnTo>
                  <a:pt x="92434" y="138650"/>
                </a:lnTo>
                <a:cubicBezTo>
                  <a:pt x="92434" y="143763"/>
                  <a:pt x="88303" y="147894"/>
                  <a:pt x="83190" y="147894"/>
                </a:cubicBezTo>
                <a:lnTo>
                  <a:pt x="36973" y="147894"/>
                </a:lnTo>
                <a:cubicBezTo>
                  <a:pt x="31861" y="147894"/>
                  <a:pt x="27730" y="143763"/>
                  <a:pt x="27730" y="138650"/>
                </a:cubicBezTo>
                <a:lnTo>
                  <a:pt x="27730" y="116004"/>
                </a:lnTo>
                <a:cubicBezTo>
                  <a:pt x="22733" y="113722"/>
                  <a:pt x="18140" y="110574"/>
                  <a:pt x="14183" y="106616"/>
                </a:cubicBezTo>
                <a:lnTo>
                  <a:pt x="10832" y="103266"/>
                </a:lnTo>
                <a:cubicBezTo>
                  <a:pt x="3900" y="96333"/>
                  <a:pt x="0" y="86917"/>
                  <a:pt x="0" y="77124"/>
                </a:cubicBezTo>
                <a:lnTo>
                  <a:pt x="0" y="69325"/>
                </a:lnTo>
                <a:cubicBezTo>
                  <a:pt x="0" y="59129"/>
                  <a:pt x="8290" y="50839"/>
                  <a:pt x="18487" y="50839"/>
                </a:cubicBezTo>
                <a:lnTo>
                  <a:pt x="43906" y="50839"/>
                </a:lnTo>
                <a:cubicBezTo>
                  <a:pt x="50290" y="50839"/>
                  <a:pt x="55460" y="56009"/>
                  <a:pt x="55460" y="62393"/>
                </a:cubicBezTo>
                <a:cubicBezTo>
                  <a:pt x="55460" y="68776"/>
                  <a:pt x="50290" y="73947"/>
                  <a:pt x="43906" y="73947"/>
                </a:cubicBezTo>
                <a:lnTo>
                  <a:pt x="27730" y="73947"/>
                </a:lnTo>
                <a:cubicBezTo>
                  <a:pt x="25188" y="73947"/>
                  <a:pt x="23108" y="76027"/>
                  <a:pt x="23108" y="78569"/>
                </a:cubicBezTo>
                <a:cubicBezTo>
                  <a:pt x="23108" y="81111"/>
                  <a:pt x="25188" y="83190"/>
                  <a:pt x="27730" y="83190"/>
                </a:cubicBezTo>
                <a:lnTo>
                  <a:pt x="43906" y="83190"/>
                </a:lnTo>
                <a:cubicBezTo>
                  <a:pt x="55402" y="83190"/>
                  <a:pt x="64704" y="73889"/>
                  <a:pt x="64704" y="6239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0" name="Text 28"/>
          <p:cNvSpPr/>
          <p:nvPr/>
        </p:nvSpPr>
        <p:spPr>
          <a:xfrm>
            <a:off x="1005678" y="4606893"/>
            <a:ext cx="6156082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CombatState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5678" y="4828734"/>
            <a:ext cx="6146839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战斗状态：自走棋战斗、卡牌干预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90072" y="1223822"/>
            <a:ext cx="4425724" cy="2281263"/>
          </a:xfrm>
          <a:custGeom>
            <a:avLst/>
            <a:gdLst/>
            <a:ahLst/>
            <a:cxnLst/>
            <a:rect l="l" t="t" r="r" b="b"/>
            <a:pathLst>
              <a:path w="4425724" h="2281263">
                <a:moveTo>
                  <a:pt x="110915" y="0"/>
                </a:moveTo>
                <a:lnTo>
                  <a:pt x="4314809" y="0"/>
                </a:lnTo>
                <a:cubicBezTo>
                  <a:pt x="4376065" y="0"/>
                  <a:pt x="4425724" y="49658"/>
                  <a:pt x="4425724" y="110915"/>
                </a:cubicBezTo>
                <a:lnTo>
                  <a:pt x="4425724" y="2170348"/>
                </a:lnTo>
                <a:cubicBezTo>
                  <a:pt x="4425724" y="2231604"/>
                  <a:pt x="4376065" y="2281263"/>
                  <a:pt x="4314809" y="2281263"/>
                </a:cubicBezTo>
                <a:lnTo>
                  <a:pt x="110915" y="2281263"/>
                </a:lnTo>
                <a:cubicBezTo>
                  <a:pt x="49658" y="2281263"/>
                  <a:pt x="0" y="2231604"/>
                  <a:pt x="0" y="2170348"/>
                </a:cubicBezTo>
                <a:lnTo>
                  <a:pt x="0" y="110915"/>
                </a:lnTo>
                <a:cubicBezTo>
                  <a:pt x="0" y="49699"/>
                  <a:pt x="49699" y="0"/>
                  <a:pt x="11091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1663" y="1375416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7666448" y="1477093"/>
            <a:ext cx="124785" cy="166381"/>
          </a:xfrm>
          <a:custGeom>
            <a:avLst/>
            <a:gdLst/>
            <a:ahLst/>
            <a:cxnLst/>
            <a:rect l="l" t="t" r="r" b="b"/>
            <a:pathLst>
              <a:path w="124785" h="166381">
                <a:moveTo>
                  <a:pt x="62393" y="25997"/>
                </a:moveTo>
                <a:cubicBezTo>
                  <a:pt x="72436" y="25997"/>
                  <a:pt x="80591" y="17843"/>
                  <a:pt x="80591" y="7799"/>
                </a:cubicBezTo>
                <a:cubicBezTo>
                  <a:pt x="80591" y="-2245"/>
                  <a:pt x="72436" y="-10399"/>
                  <a:pt x="62393" y="-10399"/>
                </a:cubicBezTo>
                <a:cubicBezTo>
                  <a:pt x="52349" y="-10399"/>
                  <a:pt x="44195" y="-2245"/>
                  <a:pt x="44195" y="7799"/>
                </a:cubicBezTo>
                <a:cubicBezTo>
                  <a:pt x="44195" y="17843"/>
                  <a:pt x="52349" y="25997"/>
                  <a:pt x="62393" y="25997"/>
                </a:cubicBezTo>
                <a:close/>
                <a:moveTo>
                  <a:pt x="34251" y="74059"/>
                </a:moveTo>
                <a:lnTo>
                  <a:pt x="41595" y="66715"/>
                </a:lnTo>
                <a:lnTo>
                  <a:pt x="41595" y="89235"/>
                </a:lnTo>
                <a:cubicBezTo>
                  <a:pt x="41595" y="98334"/>
                  <a:pt x="45560" y="107010"/>
                  <a:pt x="52481" y="112924"/>
                </a:cubicBezTo>
                <a:lnTo>
                  <a:pt x="75684" y="132812"/>
                </a:lnTo>
                <a:cubicBezTo>
                  <a:pt x="77601" y="134469"/>
                  <a:pt x="78868" y="136744"/>
                  <a:pt x="79226" y="139246"/>
                </a:cubicBezTo>
                <a:lnTo>
                  <a:pt x="83320" y="167875"/>
                </a:lnTo>
                <a:cubicBezTo>
                  <a:pt x="84133" y="173562"/>
                  <a:pt x="89397" y="177527"/>
                  <a:pt x="95084" y="176714"/>
                </a:cubicBezTo>
                <a:cubicBezTo>
                  <a:pt x="100771" y="175902"/>
                  <a:pt x="104735" y="170638"/>
                  <a:pt x="103923" y="164951"/>
                </a:cubicBezTo>
                <a:lnTo>
                  <a:pt x="99828" y="136322"/>
                </a:lnTo>
                <a:cubicBezTo>
                  <a:pt x="98756" y="128815"/>
                  <a:pt x="94986" y="121991"/>
                  <a:pt x="89235" y="117051"/>
                </a:cubicBezTo>
                <a:lnTo>
                  <a:pt x="78023" y="107432"/>
                </a:lnTo>
                <a:lnTo>
                  <a:pt x="78023" y="69997"/>
                </a:lnTo>
                <a:lnTo>
                  <a:pt x="79258" y="71524"/>
                </a:lnTo>
                <a:cubicBezTo>
                  <a:pt x="85173" y="78933"/>
                  <a:pt x="94142" y="83223"/>
                  <a:pt x="103630" y="83223"/>
                </a:cubicBezTo>
                <a:lnTo>
                  <a:pt x="114419" y="83223"/>
                </a:lnTo>
                <a:cubicBezTo>
                  <a:pt x="120171" y="83223"/>
                  <a:pt x="124818" y="78576"/>
                  <a:pt x="124818" y="72824"/>
                </a:cubicBezTo>
                <a:cubicBezTo>
                  <a:pt x="124818" y="67072"/>
                  <a:pt x="120171" y="62425"/>
                  <a:pt x="114419" y="62425"/>
                </a:cubicBezTo>
                <a:lnTo>
                  <a:pt x="103630" y="62425"/>
                </a:lnTo>
                <a:cubicBezTo>
                  <a:pt x="100478" y="62425"/>
                  <a:pt x="97489" y="60995"/>
                  <a:pt x="95506" y="58526"/>
                </a:cubicBezTo>
                <a:lnTo>
                  <a:pt x="89690" y="51247"/>
                </a:lnTo>
                <a:cubicBezTo>
                  <a:pt x="82215" y="41888"/>
                  <a:pt x="70874" y="36428"/>
                  <a:pt x="58883" y="36428"/>
                </a:cubicBezTo>
                <a:cubicBezTo>
                  <a:pt x="48419" y="36428"/>
                  <a:pt x="38378" y="40588"/>
                  <a:pt x="31001" y="47997"/>
                </a:cubicBezTo>
                <a:lnTo>
                  <a:pt x="19530" y="59338"/>
                </a:lnTo>
                <a:cubicBezTo>
                  <a:pt x="13681" y="65187"/>
                  <a:pt x="10399" y="73116"/>
                  <a:pt x="10399" y="81403"/>
                </a:cubicBezTo>
                <a:lnTo>
                  <a:pt x="10399" y="93589"/>
                </a:lnTo>
                <a:cubicBezTo>
                  <a:pt x="10399" y="99341"/>
                  <a:pt x="15046" y="103988"/>
                  <a:pt x="20798" y="103988"/>
                </a:cubicBezTo>
                <a:cubicBezTo>
                  <a:pt x="26549" y="103988"/>
                  <a:pt x="31196" y="99341"/>
                  <a:pt x="31196" y="93589"/>
                </a:cubicBezTo>
                <a:lnTo>
                  <a:pt x="31196" y="81403"/>
                </a:lnTo>
                <a:cubicBezTo>
                  <a:pt x="31196" y="78641"/>
                  <a:pt x="32301" y="76009"/>
                  <a:pt x="34251" y="74059"/>
                </a:cubicBezTo>
                <a:close/>
                <a:moveTo>
                  <a:pt x="38281" y="132357"/>
                </a:moveTo>
                <a:cubicBezTo>
                  <a:pt x="37793" y="134047"/>
                  <a:pt x="36883" y="135607"/>
                  <a:pt x="35648" y="136842"/>
                </a:cubicBezTo>
                <a:lnTo>
                  <a:pt x="13453" y="159036"/>
                </a:lnTo>
                <a:cubicBezTo>
                  <a:pt x="9391" y="163098"/>
                  <a:pt x="9391" y="169695"/>
                  <a:pt x="13453" y="173757"/>
                </a:cubicBezTo>
                <a:cubicBezTo>
                  <a:pt x="17515" y="177819"/>
                  <a:pt x="24112" y="177819"/>
                  <a:pt x="28174" y="173757"/>
                </a:cubicBezTo>
                <a:lnTo>
                  <a:pt x="50369" y="151562"/>
                </a:lnTo>
                <a:cubicBezTo>
                  <a:pt x="54106" y="147825"/>
                  <a:pt x="56836" y="143178"/>
                  <a:pt x="58298" y="138076"/>
                </a:cubicBezTo>
                <a:lnTo>
                  <a:pt x="59013" y="135607"/>
                </a:lnTo>
                <a:lnTo>
                  <a:pt x="44065" y="122803"/>
                </a:lnTo>
                <a:cubicBezTo>
                  <a:pt x="43252" y="122088"/>
                  <a:pt x="42440" y="121373"/>
                  <a:pt x="41660" y="120593"/>
                </a:cubicBezTo>
                <a:lnTo>
                  <a:pt x="38281" y="132357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5" name="Text 33"/>
          <p:cNvSpPr/>
          <p:nvPr/>
        </p:nvSpPr>
        <p:spPr>
          <a:xfrm>
            <a:off x="8022318" y="1430876"/>
            <a:ext cx="1016770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角色状态机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41663" y="1856071"/>
            <a:ext cx="4196488" cy="240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完善</a:t>
            </a:r>
            <a:r>
              <a:rPr lang="en-US" sz="116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PlayerController</a:t>
            </a:r>
            <a:r>
              <a:rPr lang="en-US" sz="116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状态管理，实现流畅的状态切换：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41663" y="2207319"/>
            <a:ext cx="4122541" cy="887363"/>
          </a:xfrm>
          <a:custGeom>
            <a:avLst/>
            <a:gdLst/>
            <a:ahLst/>
            <a:cxnLst/>
            <a:rect l="l" t="t" r="r" b="b"/>
            <a:pathLst>
              <a:path w="4122541" h="887363">
                <a:moveTo>
                  <a:pt x="73944" y="0"/>
                </a:moveTo>
                <a:lnTo>
                  <a:pt x="4048597" y="0"/>
                </a:lnTo>
                <a:cubicBezTo>
                  <a:pt x="4089435" y="0"/>
                  <a:pt x="4122541" y="33106"/>
                  <a:pt x="4122541" y="73944"/>
                </a:cubicBezTo>
                <a:lnTo>
                  <a:pt x="4122541" y="813419"/>
                </a:lnTo>
                <a:cubicBezTo>
                  <a:pt x="4122541" y="854257"/>
                  <a:pt x="4089435" y="887363"/>
                  <a:pt x="4048597" y="887363"/>
                </a:cubicBezTo>
                <a:lnTo>
                  <a:pt x="73944" y="887363"/>
                </a:lnTo>
                <a:cubicBezTo>
                  <a:pt x="33106" y="887363"/>
                  <a:pt x="0" y="854257"/>
                  <a:pt x="0" y="813419"/>
                </a:cubicBezTo>
                <a:lnTo>
                  <a:pt x="0" y="73944"/>
                </a:lnTo>
                <a:cubicBezTo>
                  <a:pt x="0" y="33133"/>
                  <a:pt x="33133" y="0"/>
                  <a:pt x="7394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7620231" y="2318239"/>
            <a:ext cx="508385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Idle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52583" y="2540080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221841" y="0"/>
                </a:moveTo>
                <a:lnTo>
                  <a:pt x="221841" y="0"/>
                </a:lnTo>
                <a:cubicBezTo>
                  <a:pt x="344360" y="0"/>
                  <a:pt x="443682" y="99322"/>
                  <a:pt x="443682" y="221841"/>
                </a:cubicBezTo>
                <a:lnTo>
                  <a:pt x="443682" y="221841"/>
                </a:lnTo>
                <a:cubicBezTo>
                  <a:pt x="443682" y="344360"/>
                  <a:pt x="344360" y="443682"/>
                  <a:pt x="221841" y="443682"/>
                </a:cubicBezTo>
                <a:lnTo>
                  <a:pt x="221841" y="443682"/>
                </a:lnTo>
                <a:cubicBezTo>
                  <a:pt x="99322" y="443682"/>
                  <a:pt x="0" y="344360"/>
                  <a:pt x="0" y="221841"/>
                </a:cubicBezTo>
                <a:lnTo>
                  <a:pt x="0" y="221841"/>
                </a:lnTo>
                <a:cubicBezTo>
                  <a:pt x="0" y="99322"/>
                  <a:pt x="99321" y="0"/>
                  <a:pt x="22184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7818964" y="2687974"/>
            <a:ext cx="110920" cy="147894"/>
          </a:xfrm>
          <a:custGeom>
            <a:avLst/>
            <a:gdLst/>
            <a:ahLst/>
            <a:cxnLst/>
            <a:rect l="l" t="t" r="r" b="b"/>
            <a:pathLst>
              <a:path w="110920" h="147894">
                <a:moveTo>
                  <a:pt x="71636" y="6933"/>
                </a:moveTo>
                <a:cubicBezTo>
                  <a:pt x="71636" y="-1995"/>
                  <a:pt x="64388" y="-9243"/>
                  <a:pt x="55460" y="-9243"/>
                </a:cubicBezTo>
                <a:cubicBezTo>
                  <a:pt x="46532" y="-9243"/>
                  <a:pt x="39284" y="-1995"/>
                  <a:pt x="39284" y="6933"/>
                </a:cubicBezTo>
                <a:cubicBezTo>
                  <a:pt x="39284" y="15860"/>
                  <a:pt x="46532" y="23108"/>
                  <a:pt x="55460" y="23108"/>
                </a:cubicBezTo>
                <a:cubicBezTo>
                  <a:pt x="64388" y="23108"/>
                  <a:pt x="71636" y="15860"/>
                  <a:pt x="71636" y="6933"/>
                </a:cubicBezTo>
                <a:close/>
                <a:moveTo>
                  <a:pt x="78569" y="68372"/>
                </a:moveTo>
                <a:lnTo>
                  <a:pt x="91943" y="86397"/>
                </a:lnTo>
                <a:cubicBezTo>
                  <a:pt x="94976" y="90498"/>
                  <a:pt x="100782" y="91365"/>
                  <a:pt x="104883" y="88303"/>
                </a:cubicBezTo>
                <a:cubicBezTo>
                  <a:pt x="108985" y="85241"/>
                  <a:pt x="109852" y="79464"/>
                  <a:pt x="106790" y="75362"/>
                </a:cubicBezTo>
                <a:lnTo>
                  <a:pt x="86425" y="47921"/>
                </a:lnTo>
                <a:cubicBezTo>
                  <a:pt x="79146" y="38129"/>
                  <a:pt x="67679" y="32352"/>
                  <a:pt x="55460" y="32352"/>
                </a:cubicBezTo>
                <a:cubicBezTo>
                  <a:pt x="43242" y="32352"/>
                  <a:pt x="31774" y="38129"/>
                  <a:pt x="24495" y="47921"/>
                </a:cubicBezTo>
                <a:lnTo>
                  <a:pt x="4131" y="75362"/>
                </a:lnTo>
                <a:cubicBezTo>
                  <a:pt x="1098" y="79464"/>
                  <a:pt x="1935" y="85241"/>
                  <a:pt x="6037" y="88303"/>
                </a:cubicBezTo>
                <a:cubicBezTo>
                  <a:pt x="10139" y="91365"/>
                  <a:pt x="15916" y="90498"/>
                  <a:pt x="18978" y="86397"/>
                </a:cubicBezTo>
                <a:lnTo>
                  <a:pt x="32352" y="68372"/>
                </a:lnTo>
                <a:lnTo>
                  <a:pt x="32352" y="147894"/>
                </a:lnTo>
                <a:cubicBezTo>
                  <a:pt x="32352" y="153007"/>
                  <a:pt x="36482" y="157137"/>
                  <a:pt x="41595" y="157137"/>
                </a:cubicBezTo>
                <a:cubicBezTo>
                  <a:pt x="46708" y="157137"/>
                  <a:pt x="50839" y="153007"/>
                  <a:pt x="50839" y="147894"/>
                </a:cubicBezTo>
                <a:lnTo>
                  <a:pt x="50839" y="101677"/>
                </a:lnTo>
                <a:cubicBezTo>
                  <a:pt x="50839" y="99135"/>
                  <a:pt x="52918" y="97055"/>
                  <a:pt x="55460" y="97055"/>
                </a:cubicBezTo>
                <a:cubicBezTo>
                  <a:pt x="58002" y="97055"/>
                  <a:pt x="60082" y="99135"/>
                  <a:pt x="60082" y="101677"/>
                </a:cubicBezTo>
                <a:lnTo>
                  <a:pt x="60082" y="147894"/>
                </a:lnTo>
                <a:cubicBezTo>
                  <a:pt x="60082" y="153007"/>
                  <a:pt x="64213" y="157137"/>
                  <a:pt x="69325" y="157137"/>
                </a:cubicBezTo>
                <a:cubicBezTo>
                  <a:pt x="74438" y="157137"/>
                  <a:pt x="78569" y="153007"/>
                  <a:pt x="78569" y="147894"/>
                </a:cubicBezTo>
                <a:lnTo>
                  <a:pt x="78569" y="68372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1" name="Shape 39"/>
          <p:cNvSpPr/>
          <p:nvPr/>
        </p:nvSpPr>
        <p:spPr>
          <a:xfrm>
            <a:off x="8665656" y="2577053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145179" y="80475"/>
                </a:moveTo>
                <a:cubicBezTo>
                  <a:pt x="148789" y="76864"/>
                  <a:pt x="148789" y="71001"/>
                  <a:pt x="145179" y="67390"/>
                </a:cubicBezTo>
                <a:lnTo>
                  <a:pt x="98962" y="21173"/>
                </a:lnTo>
                <a:cubicBezTo>
                  <a:pt x="95351" y="17562"/>
                  <a:pt x="89487" y="17562"/>
                  <a:pt x="85877" y="21173"/>
                </a:cubicBezTo>
                <a:cubicBezTo>
                  <a:pt x="82266" y="24784"/>
                  <a:pt x="82266" y="30648"/>
                  <a:pt x="85877" y="34258"/>
                </a:cubicBezTo>
                <a:lnTo>
                  <a:pt x="116322" y="64704"/>
                </a:lnTo>
                <a:lnTo>
                  <a:pt x="9243" y="64704"/>
                </a:lnTo>
                <a:cubicBezTo>
                  <a:pt x="4131" y="64704"/>
                  <a:pt x="0" y="68834"/>
                  <a:pt x="0" y="73947"/>
                </a:cubicBezTo>
                <a:cubicBezTo>
                  <a:pt x="0" y="79060"/>
                  <a:pt x="4131" y="83190"/>
                  <a:pt x="9243" y="83190"/>
                </a:cubicBezTo>
                <a:lnTo>
                  <a:pt x="116322" y="83190"/>
                </a:lnTo>
                <a:lnTo>
                  <a:pt x="85877" y="113636"/>
                </a:lnTo>
                <a:cubicBezTo>
                  <a:pt x="82266" y="117246"/>
                  <a:pt x="82266" y="123110"/>
                  <a:pt x="85877" y="126721"/>
                </a:cubicBezTo>
                <a:cubicBezTo>
                  <a:pt x="89487" y="130331"/>
                  <a:pt x="95351" y="130331"/>
                  <a:pt x="98962" y="126721"/>
                </a:cubicBezTo>
                <a:lnTo>
                  <a:pt x="145179" y="8050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2" name="Text 40"/>
          <p:cNvSpPr/>
          <p:nvPr/>
        </p:nvSpPr>
        <p:spPr>
          <a:xfrm>
            <a:off x="9350590" y="2318239"/>
            <a:ext cx="508385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Walk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382941" y="2540080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221841" y="0"/>
                </a:moveTo>
                <a:lnTo>
                  <a:pt x="221841" y="0"/>
                </a:lnTo>
                <a:cubicBezTo>
                  <a:pt x="344360" y="0"/>
                  <a:pt x="443682" y="99322"/>
                  <a:pt x="443682" y="221841"/>
                </a:cubicBezTo>
                <a:lnTo>
                  <a:pt x="443682" y="221841"/>
                </a:lnTo>
                <a:cubicBezTo>
                  <a:pt x="443682" y="344360"/>
                  <a:pt x="344360" y="443682"/>
                  <a:pt x="221841" y="443682"/>
                </a:cubicBezTo>
                <a:lnTo>
                  <a:pt x="221841" y="443682"/>
                </a:lnTo>
                <a:cubicBezTo>
                  <a:pt x="99322" y="443682"/>
                  <a:pt x="0" y="344360"/>
                  <a:pt x="0" y="221841"/>
                </a:cubicBezTo>
                <a:lnTo>
                  <a:pt x="0" y="221841"/>
                </a:lnTo>
                <a:cubicBezTo>
                  <a:pt x="0" y="99322"/>
                  <a:pt x="99321" y="0"/>
                  <a:pt x="22184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9549321" y="2687974"/>
            <a:ext cx="110920" cy="147894"/>
          </a:xfrm>
          <a:custGeom>
            <a:avLst/>
            <a:gdLst/>
            <a:ahLst/>
            <a:cxnLst/>
            <a:rect l="l" t="t" r="r" b="b"/>
            <a:pathLst>
              <a:path w="110920" h="147894">
                <a:moveTo>
                  <a:pt x="55460" y="23108"/>
                </a:moveTo>
                <a:cubicBezTo>
                  <a:pt x="64388" y="23108"/>
                  <a:pt x="71636" y="15860"/>
                  <a:pt x="71636" y="6933"/>
                </a:cubicBezTo>
                <a:cubicBezTo>
                  <a:pt x="71636" y="-1995"/>
                  <a:pt x="64388" y="-9243"/>
                  <a:pt x="55460" y="-9243"/>
                </a:cubicBezTo>
                <a:cubicBezTo>
                  <a:pt x="46532" y="-9243"/>
                  <a:pt x="39284" y="-1995"/>
                  <a:pt x="39284" y="6933"/>
                </a:cubicBezTo>
                <a:cubicBezTo>
                  <a:pt x="39284" y="15860"/>
                  <a:pt x="46532" y="23108"/>
                  <a:pt x="55460" y="23108"/>
                </a:cubicBezTo>
                <a:close/>
                <a:moveTo>
                  <a:pt x="30445" y="65830"/>
                </a:moveTo>
                <a:lnTo>
                  <a:pt x="36973" y="59302"/>
                </a:lnTo>
                <a:lnTo>
                  <a:pt x="36973" y="79320"/>
                </a:lnTo>
                <a:cubicBezTo>
                  <a:pt x="36973" y="87408"/>
                  <a:pt x="40497" y="95120"/>
                  <a:pt x="46650" y="100377"/>
                </a:cubicBezTo>
                <a:lnTo>
                  <a:pt x="67274" y="118055"/>
                </a:lnTo>
                <a:cubicBezTo>
                  <a:pt x="68979" y="119528"/>
                  <a:pt x="70105" y="121550"/>
                  <a:pt x="70423" y="123774"/>
                </a:cubicBezTo>
                <a:lnTo>
                  <a:pt x="74062" y="149223"/>
                </a:lnTo>
                <a:cubicBezTo>
                  <a:pt x="74785" y="154278"/>
                  <a:pt x="79464" y="157802"/>
                  <a:pt x="84519" y="157079"/>
                </a:cubicBezTo>
                <a:cubicBezTo>
                  <a:pt x="89574" y="156357"/>
                  <a:pt x="93098" y="151678"/>
                  <a:pt x="92376" y="146623"/>
                </a:cubicBezTo>
                <a:lnTo>
                  <a:pt x="88736" y="121175"/>
                </a:lnTo>
                <a:cubicBezTo>
                  <a:pt x="87783" y="114502"/>
                  <a:pt x="84432" y="108436"/>
                  <a:pt x="79320" y="104046"/>
                </a:cubicBezTo>
                <a:lnTo>
                  <a:pt x="69354" y="95496"/>
                </a:lnTo>
                <a:lnTo>
                  <a:pt x="69354" y="62219"/>
                </a:lnTo>
                <a:lnTo>
                  <a:pt x="70452" y="63577"/>
                </a:lnTo>
                <a:cubicBezTo>
                  <a:pt x="75709" y="70163"/>
                  <a:pt x="83681" y="73976"/>
                  <a:pt x="92116" y="73976"/>
                </a:cubicBezTo>
                <a:lnTo>
                  <a:pt x="101706" y="73976"/>
                </a:lnTo>
                <a:cubicBezTo>
                  <a:pt x="106819" y="73976"/>
                  <a:pt x="110949" y="69845"/>
                  <a:pt x="110949" y="64732"/>
                </a:cubicBezTo>
                <a:cubicBezTo>
                  <a:pt x="110949" y="59620"/>
                  <a:pt x="106819" y="55489"/>
                  <a:pt x="101706" y="55489"/>
                </a:cubicBezTo>
                <a:lnTo>
                  <a:pt x="92116" y="55489"/>
                </a:lnTo>
                <a:cubicBezTo>
                  <a:pt x="89314" y="55489"/>
                  <a:pt x="86657" y="54218"/>
                  <a:pt x="84895" y="52023"/>
                </a:cubicBezTo>
                <a:lnTo>
                  <a:pt x="79724" y="45552"/>
                </a:lnTo>
                <a:cubicBezTo>
                  <a:pt x="73080" y="37233"/>
                  <a:pt x="62999" y="32381"/>
                  <a:pt x="52341" y="32381"/>
                </a:cubicBezTo>
                <a:cubicBezTo>
                  <a:pt x="43039" y="32381"/>
                  <a:pt x="34114" y="36078"/>
                  <a:pt x="27557" y="42664"/>
                </a:cubicBezTo>
                <a:lnTo>
                  <a:pt x="17360" y="52745"/>
                </a:lnTo>
                <a:cubicBezTo>
                  <a:pt x="12161" y="57944"/>
                  <a:pt x="9243" y="64992"/>
                  <a:pt x="9243" y="72358"/>
                </a:cubicBezTo>
                <a:lnTo>
                  <a:pt x="9243" y="83190"/>
                </a:lnTo>
                <a:cubicBezTo>
                  <a:pt x="9243" y="88303"/>
                  <a:pt x="13374" y="92434"/>
                  <a:pt x="18487" y="92434"/>
                </a:cubicBezTo>
                <a:cubicBezTo>
                  <a:pt x="23599" y="92434"/>
                  <a:pt x="27730" y="88303"/>
                  <a:pt x="27730" y="83190"/>
                </a:cubicBezTo>
                <a:lnTo>
                  <a:pt x="27730" y="72358"/>
                </a:lnTo>
                <a:cubicBezTo>
                  <a:pt x="27730" y="69903"/>
                  <a:pt x="28712" y="67563"/>
                  <a:pt x="30445" y="65830"/>
                </a:cubicBezTo>
                <a:close/>
                <a:moveTo>
                  <a:pt x="34027" y="117651"/>
                </a:moveTo>
                <a:cubicBezTo>
                  <a:pt x="33594" y="119153"/>
                  <a:pt x="32785" y="120539"/>
                  <a:pt x="31687" y="121637"/>
                </a:cubicBezTo>
                <a:lnTo>
                  <a:pt x="11959" y="141366"/>
                </a:lnTo>
                <a:cubicBezTo>
                  <a:pt x="8348" y="144976"/>
                  <a:pt x="8348" y="150840"/>
                  <a:pt x="11959" y="154451"/>
                </a:cubicBezTo>
                <a:cubicBezTo>
                  <a:pt x="15569" y="158062"/>
                  <a:pt x="21433" y="158062"/>
                  <a:pt x="25044" y="154451"/>
                </a:cubicBezTo>
                <a:lnTo>
                  <a:pt x="44773" y="134722"/>
                </a:lnTo>
                <a:cubicBezTo>
                  <a:pt x="48094" y="131400"/>
                  <a:pt x="50521" y="127270"/>
                  <a:pt x="51821" y="122735"/>
                </a:cubicBezTo>
                <a:lnTo>
                  <a:pt x="52456" y="120539"/>
                </a:lnTo>
                <a:lnTo>
                  <a:pt x="39169" y="109158"/>
                </a:lnTo>
                <a:cubicBezTo>
                  <a:pt x="38447" y="108523"/>
                  <a:pt x="37724" y="107887"/>
                  <a:pt x="37031" y="107194"/>
                </a:cubicBezTo>
                <a:lnTo>
                  <a:pt x="34027" y="117651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5" name="Shape 43"/>
          <p:cNvSpPr/>
          <p:nvPr/>
        </p:nvSpPr>
        <p:spPr>
          <a:xfrm>
            <a:off x="10396015" y="2577053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145179" y="80475"/>
                </a:moveTo>
                <a:cubicBezTo>
                  <a:pt x="148789" y="76864"/>
                  <a:pt x="148789" y="71001"/>
                  <a:pt x="145179" y="67390"/>
                </a:cubicBezTo>
                <a:lnTo>
                  <a:pt x="98962" y="21173"/>
                </a:lnTo>
                <a:cubicBezTo>
                  <a:pt x="95351" y="17562"/>
                  <a:pt x="89487" y="17562"/>
                  <a:pt x="85877" y="21173"/>
                </a:cubicBezTo>
                <a:cubicBezTo>
                  <a:pt x="82266" y="24784"/>
                  <a:pt x="82266" y="30648"/>
                  <a:pt x="85877" y="34258"/>
                </a:cubicBezTo>
                <a:lnTo>
                  <a:pt x="116322" y="64704"/>
                </a:lnTo>
                <a:lnTo>
                  <a:pt x="9243" y="64704"/>
                </a:lnTo>
                <a:cubicBezTo>
                  <a:pt x="4131" y="64704"/>
                  <a:pt x="0" y="68834"/>
                  <a:pt x="0" y="73947"/>
                </a:cubicBezTo>
                <a:cubicBezTo>
                  <a:pt x="0" y="79060"/>
                  <a:pt x="4131" y="83190"/>
                  <a:pt x="9243" y="83190"/>
                </a:cubicBezTo>
                <a:lnTo>
                  <a:pt x="116322" y="83190"/>
                </a:lnTo>
                <a:lnTo>
                  <a:pt x="85877" y="113636"/>
                </a:lnTo>
                <a:cubicBezTo>
                  <a:pt x="82266" y="117246"/>
                  <a:pt x="82266" y="123110"/>
                  <a:pt x="85877" y="126721"/>
                </a:cubicBezTo>
                <a:cubicBezTo>
                  <a:pt x="89487" y="130331"/>
                  <a:pt x="95351" y="130331"/>
                  <a:pt x="98962" y="126721"/>
                </a:cubicBezTo>
                <a:lnTo>
                  <a:pt x="145179" y="8050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6" name="Text 44"/>
          <p:cNvSpPr/>
          <p:nvPr/>
        </p:nvSpPr>
        <p:spPr>
          <a:xfrm>
            <a:off x="11080948" y="2318239"/>
            <a:ext cx="508385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Run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13300" y="2540080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221841" y="0"/>
                </a:moveTo>
                <a:lnTo>
                  <a:pt x="221841" y="0"/>
                </a:lnTo>
                <a:cubicBezTo>
                  <a:pt x="344360" y="0"/>
                  <a:pt x="443682" y="99322"/>
                  <a:pt x="443682" y="221841"/>
                </a:cubicBezTo>
                <a:lnTo>
                  <a:pt x="443682" y="221841"/>
                </a:lnTo>
                <a:cubicBezTo>
                  <a:pt x="443682" y="344360"/>
                  <a:pt x="344360" y="443682"/>
                  <a:pt x="221841" y="443682"/>
                </a:cubicBezTo>
                <a:lnTo>
                  <a:pt x="221841" y="443682"/>
                </a:lnTo>
                <a:cubicBezTo>
                  <a:pt x="99322" y="443682"/>
                  <a:pt x="0" y="344360"/>
                  <a:pt x="0" y="221841"/>
                </a:cubicBezTo>
                <a:lnTo>
                  <a:pt x="0" y="221841"/>
                </a:lnTo>
                <a:cubicBezTo>
                  <a:pt x="0" y="99322"/>
                  <a:pt x="99321" y="0"/>
                  <a:pt x="22184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11270437" y="2687974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74091" y="-9243"/>
                </a:moveTo>
                <a:cubicBezTo>
                  <a:pt x="83019" y="-9243"/>
                  <a:pt x="90267" y="-1995"/>
                  <a:pt x="90267" y="6933"/>
                </a:cubicBezTo>
                <a:cubicBezTo>
                  <a:pt x="90267" y="15860"/>
                  <a:pt x="83019" y="23108"/>
                  <a:pt x="74091" y="23108"/>
                </a:cubicBezTo>
                <a:cubicBezTo>
                  <a:pt x="65164" y="23108"/>
                  <a:pt x="57915" y="15860"/>
                  <a:pt x="57915" y="6933"/>
                </a:cubicBezTo>
                <a:cubicBezTo>
                  <a:pt x="57915" y="-1995"/>
                  <a:pt x="65164" y="-9243"/>
                  <a:pt x="74091" y="-9243"/>
                </a:cubicBezTo>
                <a:close/>
                <a:moveTo>
                  <a:pt x="35703" y="50839"/>
                </a:moveTo>
                <a:cubicBezTo>
                  <a:pt x="34749" y="50839"/>
                  <a:pt x="33912" y="51416"/>
                  <a:pt x="33565" y="52283"/>
                </a:cubicBezTo>
                <a:lnTo>
                  <a:pt x="27210" y="68141"/>
                </a:lnTo>
                <a:cubicBezTo>
                  <a:pt x="25304" y="72878"/>
                  <a:pt x="19931" y="75189"/>
                  <a:pt x="15194" y="73283"/>
                </a:cubicBezTo>
                <a:cubicBezTo>
                  <a:pt x="10457" y="71376"/>
                  <a:pt x="8146" y="66003"/>
                  <a:pt x="10052" y="61266"/>
                </a:cubicBezTo>
                <a:lnTo>
                  <a:pt x="16378" y="45408"/>
                </a:lnTo>
                <a:cubicBezTo>
                  <a:pt x="19555" y="37522"/>
                  <a:pt x="27181" y="32352"/>
                  <a:pt x="35703" y="32352"/>
                </a:cubicBezTo>
                <a:lnTo>
                  <a:pt x="63808" y="32352"/>
                </a:lnTo>
                <a:cubicBezTo>
                  <a:pt x="72040" y="32352"/>
                  <a:pt x="79637" y="36713"/>
                  <a:pt x="83768" y="43819"/>
                </a:cubicBezTo>
                <a:lnTo>
                  <a:pt x="93242" y="60082"/>
                </a:lnTo>
                <a:lnTo>
                  <a:pt x="111036" y="60082"/>
                </a:lnTo>
                <a:cubicBezTo>
                  <a:pt x="116149" y="60082"/>
                  <a:pt x="120279" y="64213"/>
                  <a:pt x="120279" y="69325"/>
                </a:cubicBezTo>
                <a:cubicBezTo>
                  <a:pt x="120279" y="74438"/>
                  <a:pt x="116149" y="78569"/>
                  <a:pt x="111036" y="78569"/>
                </a:cubicBezTo>
                <a:lnTo>
                  <a:pt x="93242" y="78569"/>
                </a:lnTo>
                <a:cubicBezTo>
                  <a:pt x="86657" y="78569"/>
                  <a:pt x="80591" y="75073"/>
                  <a:pt x="77269" y="69383"/>
                </a:cubicBezTo>
                <a:lnTo>
                  <a:pt x="74380" y="64444"/>
                </a:lnTo>
                <a:lnTo>
                  <a:pt x="68401" y="84779"/>
                </a:lnTo>
                <a:lnTo>
                  <a:pt x="90181" y="91307"/>
                </a:lnTo>
                <a:cubicBezTo>
                  <a:pt x="98182" y="93705"/>
                  <a:pt x="102255" y="102572"/>
                  <a:pt x="98875" y="110227"/>
                </a:cubicBezTo>
                <a:lnTo>
                  <a:pt x="82526" y="147027"/>
                </a:lnTo>
                <a:cubicBezTo>
                  <a:pt x="80446" y="151707"/>
                  <a:pt x="74987" y="153787"/>
                  <a:pt x="70336" y="151707"/>
                </a:cubicBezTo>
                <a:cubicBezTo>
                  <a:pt x="65686" y="149627"/>
                  <a:pt x="63577" y="144168"/>
                  <a:pt x="65657" y="139517"/>
                </a:cubicBezTo>
                <a:lnTo>
                  <a:pt x="79868" y="107512"/>
                </a:lnTo>
                <a:lnTo>
                  <a:pt x="52167" y="99193"/>
                </a:lnTo>
                <a:cubicBezTo>
                  <a:pt x="42722" y="96362"/>
                  <a:pt x="37147" y="86570"/>
                  <a:pt x="39544" y="77009"/>
                </a:cubicBezTo>
                <a:lnTo>
                  <a:pt x="46101" y="50839"/>
                </a:lnTo>
                <a:lnTo>
                  <a:pt x="35731" y="50839"/>
                </a:lnTo>
                <a:close/>
                <a:moveTo>
                  <a:pt x="33392" y="103121"/>
                </a:moveTo>
                <a:cubicBezTo>
                  <a:pt x="37233" y="107425"/>
                  <a:pt x="42260" y="110718"/>
                  <a:pt x="48181" y="112480"/>
                </a:cubicBezTo>
                <a:lnTo>
                  <a:pt x="49539" y="112885"/>
                </a:lnTo>
                <a:lnTo>
                  <a:pt x="47546" y="118460"/>
                </a:lnTo>
                <a:cubicBezTo>
                  <a:pt x="45870" y="123168"/>
                  <a:pt x="42924" y="127356"/>
                  <a:pt x="39082" y="130534"/>
                </a:cubicBezTo>
                <a:lnTo>
                  <a:pt x="15280" y="150147"/>
                </a:lnTo>
                <a:cubicBezTo>
                  <a:pt x="11352" y="153382"/>
                  <a:pt x="5517" y="152833"/>
                  <a:pt x="2282" y="148905"/>
                </a:cubicBezTo>
                <a:cubicBezTo>
                  <a:pt x="-953" y="144976"/>
                  <a:pt x="-404" y="139142"/>
                  <a:pt x="3524" y="135906"/>
                </a:cubicBezTo>
                <a:lnTo>
                  <a:pt x="27326" y="116293"/>
                </a:lnTo>
                <a:cubicBezTo>
                  <a:pt x="28626" y="115224"/>
                  <a:pt x="29579" y="113838"/>
                  <a:pt x="30156" y="112278"/>
                </a:cubicBezTo>
                <a:lnTo>
                  <a:pt x="33392" y="103121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9" name="Text 47"/>
          <p:cNvSpPr/>
          <p:nvPr/>
        </p:nvSpPr>
        <p:spPr>
          <a:xfrm>
            <a:off x="7509311" y="3168629"/>
            <a:ext cx="4187245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支持双击W键触发奔跑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90072" y="3623400"/>
            <a:ext cx="4425724" cy="2706458"/>
          </a:xfrm>
          <a:custGeom>
            <a:avLst/>
            <a:gdLst/>
            <a:ahLst/>
            <a:cxnLst/>
            <a:rect l="l" t="t" r="r" b="b"/>
            <a:pathLst>
              <a:path w="4425724" h="2706458">
                <a:moveTo>
                  <a:pt x="110911" y="0"/>
                </a:moveTo>
                <a:lnTo>
                  <a:pt x="4314813" y="0"/>
                </a:lnTo>
                <a:cubicBezTo>
                  <a:pt x="4376067" y="0"/>
                  <a:pt x="4425724" y="49656"/>
                  <a:pt x="4425724" y="110911"/>
                </a:cubicBezTo>
                <a:lnTo>
                  <a:pt x="4425724" y="2595547"/>
                </a:lnTo>
                <a:cubicBezTo>
                  <a:pt x="4425724" y="2656801"/>
                  <a:pt x="4376067" y="2706458"/>
                  <a:pt x="4314813" y="2706458"/>
                </a:cubicBezTo>
                <a:lnTo>
                  <a:pt x="110911" y="2706458"/>
                </a:lnTo>
                <a:cubicBezTo>
                  <a:pt x="49656" y="2706458"/>
                  <a:pt x="0" y="2656801"/>
                  <a:pt x="0" y="2595547"/>
                </a:cubicBezTo>
                <a:lnTo>
                  <a:pt x="0" y="110911"/>
                </a:lnTo>
                <a:cubicBezTo>
                  <a:pt x="0" y="49656"/>
                  <a:pt x="49656" y="0"/>
                  <a:pt x="11091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41663" y="3774990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7656049" y="3876667"/>
            <a:ext cx="145583" cy="166381"/>
          </a:xfrm>
          <a:custGeom>
            <a:avLst/>
            <a:gdLst/>
            <a:ahLst/>
            <a:cxnLst/>
            <a:rect l="l" t="t" r="r" b="b"/>
            <a:pathLst>
              <a:path w="145583" h="166381">
                <a:moveTo>
                  <a:pt x="72792" y="0"/>
                </a:moveTo>
                <a:cubicBezTo>
                  <a:pt x="67040" y="0"/>
                  <a:pt x="62393" y="4647"/>
                  <a:pt x="62393" y="10399"/>
                </a:cubicBezTo>
                <a:lnTo>
                  <a:pt x="62393" y="11439"/>
                </a:lnTo>
                <a:cubicBezTo>
                  <a:pt x="38670" y="16248"/>
                  <a:pt x="20798" y="37241"/>
                  <a:pt x="20798" y="62393"/>
                </a:cubicBezTo>
                <a:lnTo>
                  <a:pt x="20798" y="69444"/>
                </a:lnTo>
                <a:cubicBezTo>
                  <a:pt x="20798" y="85075"/>
                  <a:pt x="15468" y="100251"/>
                  <a:pt x="5719" y="112469"/>
                </a:cubicBezTo>
                <a:lnTo>
                  <a:pt x="2535" y="116434"/>
                </a:lnTo>
                <a:cubicBezTo>
                  <a:pt x="877" y="118481"/>
                  <a:pt x="0" y="121016"/>
                  <a:pt x="0" y="123648"/>
                </a:cubicBezTo>
                <a:cubicBezTo>
                  <a:pt x="0" y="130017"/>
                  <a:pt x="5167" y="135184"/>
                  <a:pt x="11536" y="135184"/>
                </a:cubicBezTo>
                <a:lnTo>
                  <a:pt x="134014" y="135184"/>
                </a:lnTo>
                <a:cubicBezTo>
                  <a:pt x="140384" y="135184"/>
                  <a:pt x="145551" y="130017"/>
                  <a:pt x="145551" y="123648"/>
                </a:cubicBezTo>
                <a:cubicBezTo>
                  <a:pt x="145551" y="121016"/>
                  <a:pt x="144673" y="118481"/>
                  <a:pt x="143016" y="116434"/>
                </a:cubicBezTo>
                <a:lnTo>
                  <a:pt x="139831" y="112469"/>
                </a:lnTo>
                <a:cubicBezTo>
                  <a:pt x="130115" y="100251"/>
                  <a:pt x="124785" y="85075"/>
                  <a:pt x="124785" y="69444"/>
                </a:cubicBezTo>
                <a:lnTo>
                  <a:pt x="124785" y="62393"/>
                </a:lnTo>
                <a:cubicBezTo>
                  <a:pt x="124785" y="37241"/>
                  <a:pt x="106913" y="16248"/>
                  <a:pt x="83190" y="11439"/>
                </a:cubicBezTo>
                <a:lnTo>
                  <a:pt x="83190" y="10399"/>
                </a:lnTo>
                <a:cubicBezTo>
                  <a:pt x="83190" y="4647"/>
                  <a:pt x="78543" y="0"/>
                  <a:pt x="72792" y="0"/>
                </a:cubicBezTo>
                <a:close/>
                <a:moveTo>
                  <a:pt x="52644" y="150782"/>
                </a:moveTo>
                <a:cubicBezTo>
                  <a:pt x="54951" y="159751"/>
                  <a:pt x="63108" y="166381"/>
                  <a:pt x="72792" y="166381"/>
                </a:cubicBezTo>
                <a:cubicBezTo>
                  <a:pt x="82475" y="166381"/>
                  <a:pt x="90632" y="159751"/>
                  <a:pt x="92939" y="150782"/>
                </a:cubicBezTo>
                <a:lnTo>
                  <a:pt x="52644" y="150782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3" name="Text 51"/>
          <p:cNvSpPr/>
          <p:nvPr/>
        </p:nvSpPr>
        <p:spPr>
          <a:xfrm>
            <a:off x="8022318" y="3830450"/>
            <a:ext cx="1201638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事件系统解耦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41663" y="4255645"/>
            <a:ext cx="4196488" cy="48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</a:t>
            </a:r>
            <a:r>
              <a:rPr lang="en-US" sz="116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EventComponent</a:t>
            </a:r>
            <a:r>
              <a:rPr lang="en-US" sz="116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事件系统，在状态进入/退出时派发事件，UI组件监听事件自动响应，实现状态与UI的完全解耦。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41663" y="4847220"/>
            <a:ext cx="4122541" cy="1331045"/>
          </a:xfrm>
          <a:custGeom>
            <a:avLst/>
            <a:gdLst/>
            <a:ahLst/>
            <a:cxnLst/>
            <a:rect l="l" t="t" r="r" b="b"/>
            <a:pathLst>
              <a:path w="4122541" h="1331045">
                <a:moveTo>
                  <a:pt x="73953" y="0"/>
                </a:moveTo>
                <a:lnTo>
                  <a:pt x="4048588" y="0"/>
                </a:lnTo>
                <a:cubicBezTo>
                  <a:pt x="4089432" y="0"/>
                  <a:pt x="4122541" y="33110"/>
                  <a:pt x="4122541" y="73953"/>
                </a:cubicBezTo>
                <a:lnTo>
                  <a:pt x="4122541" y="1257092"/>
                </a:lnTo>
                <a:cubicBezTo>
                  <a:pt x="4122541" y="1297935"/>
                  <a:pt x="4089432" y="1331045"/>
                  <a:pt x="4048588" y="1331045"/>
                </a:cubicBezTo>
                <a:lnTo>
                  <a:pt x="73953" y="1331045"/>
                </a:lnTo>
                <a:cubicBezTo>
                  <a:pt x="33110" y="1331045"/>
                  <a:pt x="0" y="1297935"/>
                  <a:pt x="0" y="1257092"/>
                </a:cubicBezTo>
                <a:lnTo>
                  <a:pt x="0" y="73953"/>
                </a:lnTo>
                <a:cubicBezTo>
                  <a:pt x="0" y="33137"/>
                  <a:pt x="33137" y="0"/>
                  <a:pt x="7395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7652583" y="4958141"/>
            <a:ext cx="3965404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状态切换事件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652583" y="5143008"/>
            <a:ext cx="3965404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EventComponent.Fire(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652583" y="5327875"/>
            <a:ext cx="3965404" cy="184867"/>
          </a:xfrm>
          <a:prstGeom prst="rect">
            <a:avLst/>
          </a:prstGeom>
          <a:noFill/>
        </p:spPr>
        <p:txBody>
          <a:bodyPr wrap="square" lIns="147894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GameStateChangeEventArgs.Create(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652583" y="5512743"/>
            <a:ext cx="3965404" cy="184867"/>
          </a:xfrm>
          <a:prstGeom prst="rect">
            <a:avLst/>
          </a:prstGeom>
          <a:noFill/>
        </p:spPr>
        <p:txBody>
          <a:bodyPr wrap="square" lIns="29578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newState, oldState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652583" y="5697610"/>
            <a:ext cx="3965404" cy="184867"/>
          </a:xfrm>
          <a:prstGeom prst="rect">
            <a:avLst/>
          </a:prstGeom>
          <a:noFill/>
        </p:spPr>
        <p:txBody>
          <a:bodyPr wrap="square" lIns="147894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652583" y="5882477"/>
            <a:ext cx="3965404" cy="1848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69735" y="6485148"/>
            <a:ext cx="11452531" cy="7395"/>
          </a:xfrm>
          <a:custGeom>
            <a:avLst/>
            <a:gdLst/>
            <a:ahLst/>
            <a:cxnLst/>
            <a:rect l="l" t="t" r="r" b="b"/>
            <a:pathLst>
              <a:path w="11452531" h="7395">
                <a:moveTo>
                  <a:pt x="0" y="0"/>
                </a:moveTo>
                <a:lnTo>
                  <a:pt x="11452531" y="0"/>
                </a:lnTo>
                <a:lnTo>
                  <a:pt x="11452531" y="7395"/>
                </a:lnTo>
                <a:lnTo>
                  <a:pt x="0" y="739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397465" y="6673710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36973" y="0"/>
                </a:moveTo>
                <a:cubicBezTo>
                  <a:pt x="42086" y="0"/>
                  <a:pt x="46217" y="4131"/>
                  <a:pt x="46217" y="9243"/>
                </a:cubicBezTo>
                <a:lnTo>
                  <a:pt x="46217" y="18487"/>
                </a:lnTo>
                <a:lnTo>
                  <a:pt x="83190" y="18487"/>
                </a:lnTo>
                <a:lnTo>
                  <a:pt x="83190" y="9243"/>
                </a:lnTo>
                <a:cubicBezTo>
                  <a:pt x="83190" y="4131"/>
                  <a:pt x="87321" y="0"/>
                  <a:pt x="92434" y="0"/>
                </a:cubicBezTo>
                <a:cubicBezTo>
                  <a:pt x="97546" y="0"/>
                  <a:pt x="101677" y="4131"/>
                  <a:pt x="101677" y="9243"/>
                </a:cubicBezTo>
                <a:lnTo>
                  <a:pt x="101677" y="18487"/>
                </a:lnTo>
                <a:lnTo>
                  <a:pt x="110920" y="18487"/>
                </a:lnTo>
                <a:cubicBezTo>
                  <a:pt x="121117" y="18487"/>
                  <a:pt x="129407" y="26777"/>
                  <a:pt x="129407" y="36973"/>
                </a:cubicBezTo>
                <a:lnTo>
                  <a:pt x="129407" y="120164"/>
                </a:lnTo>
                <a:cubicBezTo>
                  <a:pt x="129407" y="130360"/>
                  <a:pt x="121117" y="138650"/>
                  <a:pt x="110920" y="138650"/>
                </a:cubicBezTo>
                <a:lnTo>
                  <a:pt x="18487" y="138650"/>
                </a:lnTo>
                <a:cubicBezTo>
                  <a:pt x="8290" y="138650"/>
                  <a:pt x="0" y="130360"/>
                  <a:pt x="0" y="120164"/>
                </a:cubicBezTo>
                <a:lnTo>
                  <a:pt x="0" y="36973"/>
                </a:lnTo>
                <a:cubicBezTo>
                  <a:pt x="0" y="26777"/>
                  <a:pt x="8290" y="18487"/>
                  <a:pt x="18487" y="18487"/>
                </a:cubicBezTo>
                <a:lnTo>
                  <a:pt x="27730" y="18487"/>
                </a:lnTo>
                <a:lnTo>
                  <a:pt x="27730" y="9243"/>
                </a:lnTo>
                <a:cubicBezTo>
                  <a:pt x="27730" y="4131"/>
                  <a:pt x="31861" y="0"/>
                  <a:pt x="36973" y="0"/>
                </a:cubicBezTo>
                <a:close/>
                <a:moveTo>
                  <a:pt x="89083" y="66061"/>
                </a:moveTo>
                <a:cubicBezTo>
                  <a:pt x="91105" y="62826"/>
                  <a:pt x="90123" y="58551"/>
                  <a:pt x="86888" y="56500"/>
                </a:cubicBezTo>
                <a:cubicBezTo>
                  <a:pt x="83652" y="54449"/>
                  <a:pt x="79377" y="55460"/>
                  <a:pt x="77327" y="58695"/>
                </a:cubicBezTo>
                <a:lnTo>
                  <a:pt x="59591" y="87090"/>
                </a:lnTo>
                <a:lnTo>
                  <a:pt x="51792" y="76691"/>
                </a:lnTo>
                <a:cubicBezTo>
                  <a:pt x="49481" y="73629"/>
                  <a:pt x="45148" y="72994"/>
                  <a:pt x="42086" y="75305"/>
                </a:cubicBezTo>
                <a:cubicBezTo>
                  <a:pt x="39024" y="77615"/>
                  <a:pt x="38389" y="81948"/>
                  <a:pt x="40700" y="85010"/>
                </a:cubicBezTo>
                <a:lnTo>
                  <a:pt x="54565" y="103497"/>
                </a:lnTo>
                <a:cubicBezTo>
                  <a:pt x="55922" y="105317"/>
                  <a:pt x="58118" y="106356"/>
                  <a:pt x="60400" y="106270"/>
                </a:cubicBezTo>
                <a:cubicBezTo>
                  <a:pt x="62682" y="106183"/>
                  <a:pt x="64761" y="104970"/>
                  <a:pt x="65975" y="103006"/>
                </a:cubicBezTo>
                <a:lnTo>
                  <a:pt x="89083" y="66032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64" name="Text 62"/>
          <p:cNvSpPr/>
          <p:nvPr/>
        </p:nvSpPr>
        <p:spPr>
          <a:xfrm>
            <a:off x="628549" y="6636737"/>
            <a:ext cx="1386505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开发周期：Week 04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418198" y="6673710"/>
            <a:ext cx="110920" cy="147894"/>
          </a:xfrm>
          <a:custGeom>
            <a:avLst/>
            <a:gdLst/>
            <a:ahLst/>
            <a:cxnLst/>
            <a:rect l="l" t="t" r="r" b="b"/>
            <a:pathLst>
              <a:path w="110920" h="147894">
                <a:moveTo>
                  <a:pt x="72185" y="19296"/>
                </a:moveTo>
                <a:cubicBezTo>
                  <a:pt x="75189" y="15165"/>
                  <a:pt x="74265" y="9388"/>
                  <a:pt x="70134" y="6384"/>
                </a:cubicBezTo>
                <a:cubicBezTo>
                  <a:pt x="66003" y="3380"/>
                  <a:pt x="60226" y="4304"/>
                  <a:pt x="57222" y="8435"/>
                </a:cubicBezTo>
                <a:lnTo>
                  <a:pt x="26604" y="50521"/>
                </a:lnTo>
                <a:lnTo>
                  <a:pt x="15771" y="39689"/>
                </a:lnTo>
                <a:cubicBezTo>
                  <a:pt x="12161" y="36078"/>
                  <a:pt x="6297" y="36078"/>
                  <a:pt x="2686" y="39689"/>
                </a:cubicBezTo>
                <a:cubicBezTo>
                  <a:pt x="-924" y="43299"/>
                  <a:pt x="-924" y="49163"/>
                  <a:pt x="2686" y="52774"/>
                </a:cubicBezTo>
                <a:lnTo>
                  <a:pt x="21173" y="71261"/>
                </a:lnTo>
                <a:cubicBezTo>
                  <a:pt x="23080" y="73167"/>
                  <a:pt x="25737" y="74149"/>
                  <a:pt x="28423" y="73947"/>
                </a:cubicBezTo>
                <a:cubicBezTo>
                  <a:pt x="31110" y="73745"/>
                  <a:pt x="33594" y="72358"/>
                  <a:pt x="35183" y="70163"/>
                </a:cubicBezTo>
                <a:lnTo>
                  <a:pt x="72156" y="19324"/>
                </a:lnTo>
                <a:close/>
                <a:moveTo>
                  <a:pt x="109158" y="58580"/>
                </a:moveTo>
                <a:cubicBezTo>
                  <a:pt x="112162" y="54449"/>
                  <a:pt x="111238" y="48672"/>
                  <a:pt x="107108" y="45668"/>
                </a:cubicBezTo>
                <a:cubicBezTo>
                  <a:pt x="102977" y="42664"/>
                  <a:pt x="97200" y="43588"/>
                  <a:pt x="94196" y="47719"/>
                </a:cubicBezTo>
                <a:lnTo>
                  <a:pt x="45090" y="115224"/>
                </a:lnTo>
                <a:lnTo>
                  <a:pt x="25015" y="95149"/>
                </a:lnTo>
                <a:cubicBezTo>
                  <a:pt x="21404" y="91538"/>
                  <a:pt x="15540" y="91538"/>
                  <a:pt x="11930" y="95149"/>
                </a:cubicBezTo>
                <a:cubicBezTo>
                  <a:pt x="8319" y="98760"/>
                  <a:pt x="8319" y="104623"/>
                  <a:pt x="11930" y="108234"/>
                </a:cubicBezTo>
                <a:lnTo>
                  <a:pt x="39660" y="135964"/>
                </a:lnTo>
                <a:cubicBezTo>
                  <a:pt x="41566" y="137871"/>
                  <a:pt x="44224" y="138853"/>
                  <a:pt x="46910" y="138650"/>
                </a:cubicBezTo>
                <a:cubicBezTo>
                  <a:pt x="49596" y="138448"/>
                  <a:pt x="52081" y="137062"/>
                  <a:pt x="53669" y="134866"/>
                </a:cubicBezTo>
                <a:lnTo>
                  <a:pt x="109129" y="58609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66" name="Text 64"/>
          <p:cNvSpPr/>
          <p:nvPr/>
        </p:nvSpPr>
        <p:spPr>
          <a:xfrm>
            <a:off x="10640039" y="6636737"/>
            <a:ext cx="1257098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完成状态：</a:t>
            </a:r>
            <a:r>
              <a:rPr lang="en-US" sz="1165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技术架构总览：模块化设计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展示1-4周开发系统的架构关系与模块协作</a:t>
            </a:r>
            <a:endParaRPr lang="en-US" sz="1600" dirty="0"/>
          </a:p>
        </p:txBody>
      </p:sp>
      <p:pic>
        <p:nvPicPr>
          <p:cNvPr id="5" name="Image 0" descr="https://kimi-img.moonshot.cn/pub/slides/26-02-24-22:42:23-d6erhju947od88s5ljg0.png"/>
          <p:cNvPicPr>
            <a:picLocks noChangeAspect="1"/>
          </p:cNvPicPr>
          <p:nvPr/>
        </p:nvPicPr>
        <p:blipFill>
          <a:blip r:embed="rId1"/>
          <a:srcRect l="48" r="48"/>
          <a:stretch>
            <a:fillRect/>
          </a:stretch>
        </p:blipFill>
        <p:spPr>
          <a:xfrm>
            <a:off x="381000" y="1600200"/>
            <a:ext cx="11430000" cy="394335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84810" y="5703690"/>
            <a:ext cx="2731770" cy="769620"/>
          </a:xfrm>
          <a:custGeom>
            <a:avLst/>
            <a:gdLst/>
            <a:ahLst/>
            <a:cxnLst/>
            <a:rect l="l" t="t" r="r" b="b"/>
            <a:pathLst>
              <a:path w="2731770" h="7696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693420"/>
                </a:lnTo>
                <a:cubicBezTo>
                  <a:pt x="2731770" y="735504"/>
                  <a:pt x="2697654" y="769620"/>
                  <a:pt x="26555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5770" y="5821798"/>
            <a:ext cx="2609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9582" y="6164582"/>
            <a:ext cx="2562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核心系统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80410" y="5703690"/>
            <a:ext cx="2731770" cy="769620"/>
          </a:xfrm>
          <a:custGeom>
            <a:avLst/>
            <a:gdLst/>
            <a:ahLst/>
            <a:cxnLst/>
            <a:rect l="l" t="t" r="r" b="b"/>
            <a:pathLst>
              <a:path w="2731770" h="7696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693420"/>
                </a:lnTo>
                <a:cubicBezTo>
                  <a:pt x="2731770" y="735504"/>
                  <a:pt x="2697654" y="769620"/>
                  <a:pt x="26555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41370" y="5821798"/>
            <a:ext cx="2609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65183" y="6164582"/>
            <a:ext cx="2562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功能模块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6010" y="5703690"/>
            <a:ext cx="2731770" cy="769620"/>
          </a:xfrm>
          <a:custGeom>
            <a:avLst/>
            <a:gdLst/>
            <a:ahLst/>
            <a:cxnLst/>
            <a:rect l="l" t="t" r="r" b="b"/>
            <a:pathLst>
              <a:path w="2731770" h="7696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693420"/>
                </a:lnTo>
                <a:cubicBezTo>
                  <a:pt x="2731770" y="735504"/>
                  <a:pt x="2697654" y="769620"/>
                  <a:pt x="26555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970" y="5821798"/>
            <a:ext cx="2609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60782" y="6164582"/>
            <a:ext cx="2562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技术难点解决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71610" y="5703690"/>
            <a:ext cx="2731770" cy="769620"/>
          </a:xfrm>
          <a:custGeom>
            <a:avLst/>
            <a:gdLst/>
            <a:ahLst/>
            <a:cxnLst/>
            <a:rect l="l" t="t" r="r" b="b"/>
            <a:pathLst>
              <a:path w="2731770" h="7696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693420"/>
                </a:lnTo>
                <a:cubicBezTo>
                  <a:pt x="2731770" y="735504"/>
                  <a:pt x="2697654" y="769620"/>
                  <a:pt x="26555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32570" y="5821798"/>
            <a:ext cx="2609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56382" y="6164582"/>
            <a:ext cx="2562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代码规范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85000">
                <a:srgbClr val="1A1D24"/>
              </a:gs>
              <a:gs pos="98000">
                <a:srgbClr val="1A1D2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4810" y="874873"/>
            <a:ext cx="1560195" cy="426720"/>
          </a:xfrm>
          <a:custGeom>
            <a:avLst/>
            <a:gdLst/>
            <a:ahLst/>
            <a:cxnLst/>
            <a:rect l="l" t="t" r="r" b="b"/>
            <a:pathLst>
              <a:path w="1560195" h="426720">
                <a:moveTo>
                  <a:pt x="76199" y="0"/>
                </a:moveTo>
                <a:lnTo>
                  <a:pt x="1483996" y="0"/>
                </a:lnTo>
                <a:cubicBezTo>
                  <a:pt x="1526079" y="0"/>
                  <a:pt x="1560195" y="34116"/>
                  <a:pt x="1560195" y="76199"/>
                </a:cubicBezTo>
                <a:lnTo>
                  <a:pt x="1560195" y="350521"/>
                </a:lnTo>
                <a:cubicBezTo>
                  <a:pt x="1560195" y="392604"/>
                  <a:pt x="1526079" y="426720"/>
                  <a:pt x="1483996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954881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10204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技术难点与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29504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5"/>
          <p:cNvSpPr/>
          <p:nvPr/>
        </p:nvSpPr>
        <p:spPr>
          <a:xfrm>
            <a:off x="381000" y="3991454"/>
            <a:ext cx="65436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b="1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工程实践中的关键问题与应对策略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8D93A6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架构优化与最佳实践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529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26256" y="566308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8"/>
          <p:cNvSpPr/>
          <p:nvPr/>
        </p:nvSpPr>
        <p:spPr>
          <a:xfrm>
            <a:off x="952500" y="5624987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配置表加载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14550" y="5529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2235994" y="566308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0836" y="83939"/>
                </a:moveTo>
                <a:lnTo>
                  <a:pt x="12055" y="110207"/>
                </a:lnTo>
                <a:lnTo>
                  <a:pt x="12055" y="35719"/>
                </a:lnTo>
                <a:cubicBezTo>
                  <a:pt x="12055" y="22585"/>
                  <a:pt x="22733" y="11906"/>
                  <a:pt x="35868" y="11906"/>
                </a:cubicBezTo>
                <a:lnTo>
                  <a:pt x="87474" y="11906"/>
                </a:lnTo>
                <a:cubicBezTo>
                  <a:pt x="92608" y="11906"/>
                  <a:pt x="97631" y="13581"/>
                  <a:pt x="101761" y="16669"/>
                </a:cubicBezTo>
                <a:lnTo>
                  <a:pt x="116049" y="27384"/>
                </a:lnTo>
                <a:cubicBezTo>
                  <a:pt x="118095" y="28947"/>
                  <a:pt x="120625" y="29766"/>
                  <a:pt x="123192" y="29766"/>
                </a:cubicBezTo>
                <a:lnTo>
                  <a:pt x="166836" y="29766"/>
                </a:lnTo>
                <a:cubicBezTo>
                  <a:pt x="179970" y="29766"/>
                  <a:pt x="190649" y="40444"/>
                  <a:pt x="190649" y="53578"/>
                </a:cubicBezTo>
                <a:lnTo>
                  <a:pt x="190649" y="59531"/>
                </a:lnTo>
                <a:lnTo>
                  <a:pt x="54694" y="59531"/>
                </a:lnTo>
                <a:cubicBezTo>
                  <a:pt x="39328" y="59531"/>
                  <a:pt x="25673" y="69354"/>
                  <a:pt x="20799" y="83939"/>
                </a:cubicBezTo>
                <a:close/>
                <a:moveTo>
                  <a:pt x="177775" y="166688"/>
                </a:moveTo>
                <a:lnTo>
                  <a:pt x="36835" y="166688"/>
                </a:lnTo>
                <a:cubicBezTo>
                  <a:pt x="24631" y="166688"/>
                  <a:pt x="16036" y="154744"/>
                  <a:pt x="19906" y="143173"/>
                </a:cubicBezTo>
                <a:lnTo>
                  <a:pt x="37765" y="89595"/>
                </a:lnTo>
                <a:cubicBezTo>
                  <a:pt x="40184" y="82302"/>
                  <a:pt x="47030" y="77391"/>
                  <a:pt x="54694" y="77391"/>
                </a:cubicBezTo>
                <a:lnTo>
                  <a:pt x="195635" y="77391"/>
                </a:lnTo>
                <a:cubicBezTo>
                  <a:pt x="207838" y="77391"/>
                  <a:pt x="216433" y="89334"/>
                  <a:pt x="212564" y="100905"/>
                </a:cubicBezTo>
                <a:lnTo>
                  <a:pt x="194704" y="154484"/>
                </a:lnTo>
                <a:cubicBezTo>
                  <a:pt x="192286" y="161776"/>
                  <a:pt x="185440" y="166688"/>
                  <a:pt x="177775" y="166688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1"/>
          <p:cNvSpPr/>
          <p:nvPr/>
        </p:nvSpPr>
        <p:spPr>
          <a:xfrm>
            <a:off x="2686050" y="562498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76650" y="5529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3798094" y="566308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4"/>
          <p:cNvSpPr/>
          <p:nvPr/>
        </p:nvSpPr>
        <p:spPr>
          <a:xfrm>
            <a:off x="4248150" y="5624987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摄像机优化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10200" y="5529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5531644" y="566308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0" name="Text 17"/>
          <p:cNvSpPr/>
          <p:nvPr/>
        </p:nvSpPr>
        <p:spPr>
          <a:xfrm>
            <a:off x="5981700" y="562498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系统解耦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028" y="337028"/>
            <a:ext cx="11585349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kern="0" spc="53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01 · DATA TABLE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028" y="606651"/>
            <a:ext cx="11669606" cy="337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问题一：GF框架配置表加载失败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0399" y="1115564"/>
            <a:ext cx="6966376" cy="1961505"/>
          </a:xfrm>
          <a:custGeom>
            <a:avLst/>
            <a:gdLst/>
            <a:ahLst/>
            <a:cxnLst/>
            <a:rect l="l" t="t" r="r" b="b"/>
            <a:pathLst>
              <a:path w="6966376" h="1961505">
                <a:moveTo>
                  <a:pt x="101116" y="0"/>
                </a:moveTo>
                <a:lnTo>
                  <a:pt x="6865260" y="0"/>
                </a:lnTo>
                <a:cubicBezTo>
                  <a:pt x="6921105" y="0"/>
                  <a:pt x="6966376" y="45271"/>
                  <a:pt x="6966376" y="101116"/>
                </a:cubicBezTo>
                <a:lnTo>
                  <a:pt x="6966376" y="1860389"/>
                </a:lnTo>
                <a:cubicBezTo>
                  <a:pt x="6966376" y="1916234"/>
                  <a:pt x="6921105" y="1961505"/>
                  <a:pt x="6865260" y="1961505"/>
                </a:cubicBezTo>
                <a:lnTo>
                  <a:pt x="101116" y="1961505"/>
                </a:lnTo>
                <a:cubicBezTo>
                  <a:pt x="45271" y="1961505"/>
                  <a:pt x="0" y="1916234"/>
                  <a:pt x="0" y="1860389"/>
                </a:cubicBezTo>
                <a:lnTo>
                  <a:pt x="0" y="101116"/>
                </a:lnTo>
                <a:cubicBezTo>
                  <a:pt x="0" y="45271"/>
                  <a:pt x="45271" y="0"/>
                  <a:pt x="10111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283" y="1287447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30243" y="1405407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84257" y="0"/>
                </a:moveTo>
                <a:cubicBezTo>
                  <a:pt x="89095" y="0"/>
                  <a:pt x="93539" y="2666"/>
                  <a:pt x="95842" y="6912"/>
                </a:cubicBezTo>
                <a:lnTo>
                  <a:pt x="166934" y="138563"/>
                </a:lnTo>
                <a:cubicBezTo>
                  <a:pt x="169140" y="142645"/>
                  <a:pt x="169041" y="147582"/>
                  <a:pt x="166671" y="151564"/>
                </a:cubicBezTo>
                <a:cubicBezTo>
                  <a:pt x="164301" y="155546"/>
                  <a:pt x="159990" y="157982"/>
                  <a:pt x="155349" y="157982"/>
                </a:cubicBezTo>
                <a:lnTo>
                  <a:pt x="13165" y="157982"/>
                </a:lnTo>
                <a:cubicBezTo>
                  <a:pt x="8524" y="157982"/>
                  <a:pt x="4246" y="155546"/>
                  <a:pt x="1843" y="151564"/>
                </a:cubicBezTo>
                <a:cubicBezTo>
                  <a:pt x="-560" y="147582"/>
                  <a:pt x="-625" y="142645"/>
                  <a:pt x="1580" y="138563"/>
                </a:cubicBezTo>
                <a:lnTo>
                  <a:pt x="72672" y="6912"/>
                </a:lnTo>
                <a:cubicBezTo>
                  <a:pt x="74976" y="2666"/>
                  <a:pt x="79419" y="0"/>
                  <a:pt x="84257" y="0"/>
                </a:cubicBezTo>
                <a:close/>
                <a:moveTo>
                  <a:pt x="84257" y="55294"/>
                </a:moveTo>
                <a:cubicBezTo>
                  <a:pt x="79880" y="55294"/>
                  <a:pt x="76358" y="58815"/>
                  <a:pt x="76358" y="63193"/>
                </a:cubicBezTo>
                <a:lnTo>
                  <a:pt x="76358" y="100055"/>
                </a:lnTo>
                <a:cubicBezTo>
                  <a:pt x="76358" y="104433"/>
                  <a:pt x="79880" y="107954"/>
                  <a:pt x="84257" y="107954"/>
                </a:cubicBezTo>
                <a:cubicBezTo>
                  <a:pt x="88635" y="107954"/>
                  <a:pt x="92156" y="104433"/>
                  <a:pt x="92156" y="100055"/>
                </a:cubicBezTo>
                <a:lnTo>
                  <a:pt x="92156" y="63193"/>
                </a:lnTo>
                <a:cubicBezTo>
                  <a:pt x="92156" y="58815"/>
                  <a:pt x="88635" y="55294"/>
                  <a:pt x="84257" y="55294"/>
                </a:cubicBezTo>
                <a:close/>
                <a:moveTo>
                  <a:pt x="93045" y="126386"/>
                </a:moveTo>
                <a:cubicBezTo>
                  <a:pt x="93245" y="123124"/>
                  <a:pt x="91618" y="120020"/>
                  <a:pt x="88822" y="118329"/>
                </a:cubicBezTo>
                <a:cubicBezTo>
                  <a:pt x="86025" y="116637"/>
                  <a:pt x="82522" y="116637"/>
                  <a:pt x="79725" y="118329"/>
                </a:cubicBezTo>
                <a:cubicBezTo>
                  <a:pt x="76929" y="120020"/>
                  <a:pt x="75302" y="123124"/>
                  <a:pt x="75502" y="126386"/>
                </a:cubicBezTo>
                <a:cubicBezTo>
                  <a:pt x="75302" y="129648"/>
                  <a:pt x="76929" y="132751"/>
                  <a:pt x="79725" y="134442"/>
                </a:cubicBezTo>
                <a:cubicBezTo>
                  <a:pt x="82522" y="136134"/>
                  <a:pt x="86025" y="136134"/>
                  <a:pt x="88822" y="134442"/>
                </a:cubicBezTo>
                <a:cubicBezTo>
                  <a:pt x="91618" y="132751"/>
                  <a:pt x="93245" y="129648"/>
                  <a:pt x="93045" y="12638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7" name="Text 5"/>
          <p:cNvSpPr/>
          <p:nvPr/>
        </p:nvSpPr>
        <p:spPr>
          <a:xfrm>
            <a:off x="1017826" y="1354852"/>
            <a:ext cx="909977" cy="269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9134" y="1860395"/>
            <a:ext cx="134811" cy="134811"/>
          </a:xfrm>
          <a:custGeom>
            <a:avLst/>
            <a:gdLst/>
            <a:ahLst/>
            <a:cxnLst/>
            <a:rect l="l" t="t" r="r" b="b"/>
            <a:pathLst>
              <a:path w="134811" h="134811">
                <a:moveTo>
                  <a:pt x="67406" y="134811"/>
                </a:moveTo>
                <a:cubicBezTo>
                  <a:pt x="104608" y="134811"/>
                  <a:pt x="134811" y="104608"/>
                  <a:pt x="134811" y="67406"/>
                </a:cubicBezTo>
                <a:cubicBezTo>
                  <a:pt x="134811" y="30203"/>
                  <a:pt x="104608" y="0"/>
                  <a:pt x="67406" y="0"/>
                </a:cubicBezTo>
                <a:cubicBezTo>
                  <a:pt x="30203" y="0"/>
                  <a:pt x="0" y="30203"/>
                  <a:pt x="0" y="67406"/>
                </a:cubicBezTo>
                <a:cubicBezTo>
                  <a:pt x="0" y="104608"/>
                  <a:pt x="30203" y="134811"/>
                  <a:pt x="67406" y="134811"/>
                </a:cubicBezTo>
                <a:close/>
                <a:moveTo>
                  <a:pt x="43972" y="43972"/>
                </a:moveTo>
                <a:cubicBezTo>
                  <a:pt x="46447" y="41497"/>
                  <a:pt x="50449" y="41497"/>
                  <a:pt x="52898" y="43972"/>
                </a:cubicBezTo>
                <a:lnTo>
                  <a:pt x="67379" y="58453"/>
                </a:lnTo>
                <a:lnTo>
                  <a:pt x="81861" y="43972"/>
                </a:lnTo>
                <a:cubicBezTo>
                  <a:pt x="84336" y="41497"/>
                  <a:pt x="88338" y="41497"/>
                  <a:pt x="90787" y="43972"/>
                </a:cubicBezTo>
                <a:cubicBezTo>
                  <a:pt x="93236" y="46447"/>
                  <a:pt x="93262" y="50449"/>
                  <a:pt x="90787" y="52898"/>
                </a:cubicBezTo>
                <a:lnTo>
                  <a:pt x="76305" y="67379"/>
                </a:lnTo>
                <a:lnTo>
                  <a:pt x="90787" y="81861"/>
                </a:lnTo>
                <a:cubicBezTo>
                  <a:pt x="93262" y="84336"/>
                  <a:pt x="93262" y="88338"/>
                  <a:pt x="90787" y="90787"/>
                </a:cubicBezTo>
                <a:cubicBezTo>
                  <a:pt x="88312" y="93236"/>
                  <a:pt x="84310" y="93262"/>
                  <a:pt x="81861" y="90787"/>
                </a:cubicBezTo>
                <a:lnTo>
                  <a:pt x="67379" y="76305"/>
                </a:lnTo>
                <a:lnTo>
                  <a:pt x="52898" y="90787"/>
                </a:lnTo>
                <a:cubicBezTo>
                  <a:pt x="50423" y="93262"/>
                  <a:pt x="46420" y="93262"/>
                  <a:pt x="43972" y="90787"/>
                </a:cubicBezTo>
                <a:cubicBezTo>
                  <a:pt x="41523" y="88312"/>
                  <a:pt x="41497" y="84310"/>
                  <a:pt x="43972" y="81861"/>
                </a:cubicBezTo>
                <a:lnTo>
                  <a:pt x="58453" y="67379"/>
                </a:lnTo>
                <a:lnTo>
                  <a:pt x="43972" y="52898"/>
                </a:lnTo>
                <a:cubicBezTo>
                  <a:pt x="41497" y="50423"/>
                  <a:pt x="41497" y="46420"/>
                  <a:pt x="43972" y="43972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781906" y="1586621"/>
            <a:ext cx="6420390" cy="690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对GF框架的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DataTable工具使用不熟练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，导致初始数据加载失败，游戏启动时无法读取角色配置、技能参数等核心数据。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9134" y="2399640"/>
            <a:ext cx="134811" cy="134811"/>
          </a:xfrm>
          <a:custGeom>
            <a:avLst/>
            <a:gdLst/>
            <a:ahLst/>
            <a:cxnLst/>
            <a:rect l="l" t="t" r="r" b="b"/>
            <a:pathLst>
              <a:path w="134811" h="134811">
                <a:moveTo>
                  <a:pt x="67406" y="134811"/>
                </a:moveTo>
                <a:cubicBezTo>
                  <a:pt x="104608" y="134811"/>
                  <a:pt x="134811" y="104608"/>
                  <a:pt x="134811" y="67406"/>
                </a:cubicBezTo>
                <a:cubicBezTo>
                  <a:pt x="134811" y="30203"/>
                  <a:pt x="104608" y="0"/>
                  <a:pt x="67406" y="0"/>
                </a:cubicBezTo>
                <a:cubicBezTo>
                  <a:pt x="30203" y="0"/>
                  <a:pt x="0" y="30203"/>
                  <a:pt x="0" y="67406"/>
                </a:cubicBezTo>
                <a:cubicBezTo>
                  <a:pt x="0" y="104608"/>
                  <a:pt x="30203" y="134811"/>
                  <a:pt x="67406" y="134811"/>
                </a:cubicBezTo>
                <a:close/>
                <a:moveTo>
                  <a:pt x="43972" y="43972"/>
                </a:moveTo>
                <a:cubicBezTo>
                  <a:pt x="46447" y="41497"/>
                  <a:pt x="50449" y="41497"/>
                  <a:pt x="52898" y="43972"/>
                </a:cubicBezTo>
                <a:lnTo>
                  <a:pt x="67379" y="58453"/>
                </a:lnTo>
                <a:lnTo>
                  <a:pt x="81861" y="43972"/>
                </a:lnTo>
                <a:cubicBezTo>
                  <a:pt x="84336" y="41497"/>
                  <a:pt x="88338" y="41497"/>
                  <a:pt x="90787" y="43972"/>
                </a:cubicBezTo>
                <a:cubicBezTo>
                  <a:pt x="93236" y="46447"/>
                  <a:pt x="93262" y="50449"/>
                  <a:pt x="90787" y="52898"/>
                </a:cubicBezTo>
                <a:lnTo>
                  <a:pt x="76305" y="67379"/>
                </a:lnTo>
                <a:lnTo>
                  <a:pt x="90787" y="81861"/>
                </a:lnTo>
                <a:cubicBezTo>
                  <a:pt x="93262" y="84336"/>
                  <a:pt x="93262" y="88338"/>
                  <a:pt x="90787" y="90787"/>
                </a:cubicBezTo>
                <a:cubicBezTo>
                  <a:pt x="88312" y="93236"/>
                  <a:pt x="84310" y="93262"/>
                  <a:pt x="81861" y="90787"/>
                </a:cubicBezTo>
                <a:lnTo>
                  <a:pt x="67379" y="76305"/>
                </a:lnTo>
                <a:lnTo>
                  <a:pt x="52898" y="90787"/>
                </a:lnTo>
                <a:cubicBezTo>
                  <a:pt x="50423" y="93262"/>
                  <a:pt x="46420" y="93262"/>
                  <a:pt x="43972" y="90787"/>
                </a:cubicBezTo>
                <a:cubicBezTo>
                  <a:pt x="41523" y="88312"/>
                  <a:pt x="41497" y="84310"/>
                  <a:pt x="43972" y="81861"/>
                </a:cubicBezTo>
                <a:lnTo>
                  <a:pt x="58453" y="67379"/>
                </a:lnTo>
                <a:lnTo>
                  <a:pt x="43972" y="52898"/>
                </a:lnTo>
                <a:cubicBezTo>
                  <a:pt x="41497" y="50423"/>
                  <a:pt x="41497" y="46420"/>
                  <a:pt x="43972" y="43972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1" name="Text 9"/>
          <p:cNvSpPr/>
          <p:nvPr/>
        </p:nvSpPr>
        <p:spPr>
          <a:xfrm>
            <a:off x="798757" y="2323440"/>
            <a:ext cx="6263279" cy="219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配置表加载接口分散，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缺乏统一的错误处理机制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，调试困难，难以定位问题根源。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9134" y="2719817"/>
            <a:ext cx="134811" cy="134811"/>
          </a:xfrm>
          <a:custGeom>
            <a:avLst/>
            <a:gdLst/>
            <a:ahLst/>
            <a:cxnLst/>
            <a:rect l="l" t="t" r="r" b="b"/>
            <a:pathLst>
              <a:path w="134811" h="134811">
                <a:moveTo>
                  <a:pt x="67406" y="134811"/>
                </a:moveTo>
                <a:cubicBezTo>
                  <a:pt x="104608" y="134811"/>
                  <a:pt x="134811" y="104608"/>
                  <a:pt x="134811" y="67406"/>
                </a:cubicBezTo>
                <a:cubicBezTo>
                  <a:pt x="134811" y="30203"/>
                  <a:pt x="104608" y="0"/>
                  <a:pt x="67406" y="0"/>
                </a:cubicBezTo>
                <a:cubicBezTo>
                  <a:pt x="30203" y="0"/>
                  <a:pt x="0" y="30203"/>
                  <a:pt x="0" y="67406"/>
                </a:cubicBezTo>
                <a:cubicBezTo>
                  <a:pt x="0" y="104608"/>
                  <a:pt x="30203" y="134811"/>
                  <a:pt x="67406" y="134811"/>
                </a:cubicBezTo>
                <a:close/>
                <a:moveTo>
                  <a:pt x="43972" y="43972"/>
                </a:moveTo>
                <a:cubicBezTo>
                  <a:pt x="46447" y="41497"/>
                  <a:pt x="50449" y="41497"/>
                  <a:pt x="52898" y="43972"/>
                </a:cubicBezTo>
                <a:lnTo>
                  <a:pt x="67379" y="58453"/>
                </a:lnTo>
                <a:lnTo>
                  <a:pt x="81861" y="43972"/>
                </a:lnTo>
                <a:cubicBezTo>
                  <a:pt x="84336" y="41497"/>
                  <a:pt x="88338" y="41497"/>
                  <a:pt x="90787" y="43972"/>
                </a:cubicBezTo>
                <a:cubicBezTo>
                  <a:pt x="93236" y="46447"/>
                  <a:pt x="93262" y="50449"/>
                  <a:pt x="90787" y="52898"/>
                </a:cubicBezTo>
                <a:lnTo>
                  <a:pt x="76305" y="67379"/>
                </a:lnTo>
                <a:lnTo>
                  <a:pt x="90787" y="81861"/>
                </a:lnTo>
                <a:cubicBezTo>
                  <a:pt x="93262" y="84336"/>
                  <a:pt x="93262" y="88338"/>
                  <a:pt x="90787" y="90787"/>
                </a:cubicBezTo>
                <a:cubicBezTo>
                  <a:pt x="88312" y="93236"/>
                  <a:pt x="84310" y="93262"/>
                  <a:pt x="81861" y="90787"/>
                </a:cubicBezTo>
                <a:lnTo>
                  <a:pt x="67379" y="76305"/>
                </a:lnTo>
                <a:lnTo>
                  <a:pt x="52898" y="90787"/>
                </a:lnTo>
                <a:cubicBezTo>
                  <a:pt x="50423" y="93262"/>
                  <a:pt x="46420" y="93262"/>
                  <a:pt x="43972" y="90787"/>
                </a:cubicBezTo>
                <a:cubicBezTo>
                  <a:pt x="41523" y="88312"/>
                  <a:pt x="41497" y="84310"/>
                  <a:pt x="43972" y="81861"/>
                </a:cubicBezTo>
                <a:lnTo>
                  <a:pt x="58453" y="67379"/>
                </a:lnTo>
                <a:lnTo>
                  <a:pt x="43972" y="52898"/>
                </a:lnTo>
                <a:cubicBezTo>
                  <a:pt x="41497" y="50423"/>
                  <a:pt x="41497" y="46420"/>
                  <a:pt x="43972" y="43972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3" name="Text 11"/>
          <p:cNvSpPr/>
          <p:nvPr/>
        </p:nvSpPr>
        <p:spPr>
          <a:xfrm>
            <a:off x="781906" y="2648014"/>
            <a:ext cx="5514829" cy="219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不同模块各自实现数据加载逻辑，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代码重复度高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，维护成本大。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0399" y="3218626"/>
            <a:ext cx="6966376" cy="3629795"/>
          </a:xfrm>
          <a:custGeom>
            <a:avLst/>
            <a:gdLst/>
            <a:ahLst/>
            <a:cxnLst/>
            <a:rect l="l" t="t" r="r" b="b"/>
            <a:pathLst>
              <a:path w="6966376" h="3629795">
                <a:moveTo>
                  <a:pt x="101126" y="0"/>
                </a:moveTo>
                <a:lnTo>
                  <a:pt x="6865250" y="0"/>
                </a:lnTo>
                <a:cubicBezTo>
                  <a:pt x="6921100" y="0"/>
                  <a:pt x="6966376" y="45276"/>
                  <a:pt x="6966376" y="101126"/>
                </a:cubicBezTo>
                <a:lnTo>
                  <a:pt x="6966376" y="3528669"/>
                </a:lnTo>
                <a:cubicBezTo>
                  <a:pt x="6966376" y="3584519"/>
                  <a:pt x="6921100" y="3629795"/>
                  <a:pt x="6865250" y="3629795"/>
                </a:cubicBezTo>
                <a:lnTo>
                  <a:pt x="101126" y="3629795"/>
                </a:lnTo>
                <a:cubicBezTo>
                  <a:pt x="45276" y="3629795"/>
                  <a:pt x="0" y="3584519"/>
                  <a:pt x="0" y="3528669"/>
                </a:cubicBezTo>
                <a:lnTo>
                  <a:pt x="0" y="101126"/>
                </a:lnTo>
                <a:cubicBezTo>
                  <a:pt x="0" y="45313"/>
                  <a:pt x="45313" y="0"/>
                  <a:pt x="10112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283" y="3390508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51307" y="3508468"/>
            <a:ext cx="126386" cy="168514"/>
          </a:xfrm>
          <a:custGeom>
            <a:avLst/>
            <a:gdLst/>
            <a:ahLst/>
            <a:cxnLst/>
            <a:rect l="l" t="t" r="r" b="b"/>
            <a:pathLst>
              <a:path w="126386" h="168514">
                <a:moveTo>
                  <a:pt x="96402" y="126386"/>
                </a:moveTo>
                <a:cubicBezTo>
                  <a:pt x="98805" y="119046"/>
                  <a:pt x="103610" y="112398"/>
                  <a:pt x="109041" y="106671"/>
                </a:cubicBezTo>
                <a:cubicBezTo>
                  <a:pt x="119803" y="95349"/>
                  <a:pt x="126386" y="80044"/>
                  <a:pt x="126386" y="63193"/>
                </a:cubicBezTo>
                <a:cubicBezTo>
                  <a:pt x="126386" y="28305"/>
                  <a:pt x="98081" y="0"/>
                  <a:pt x="63193" y="0"/>
                </a:cubicBezTo>
                <a:cubicBezTo>
                  <a:pt x="28305" y="0"/>
                  <a:pt x="0" y="28305"/>
                  <a:pt x="0" y="63193"/>
                </a:cubicBezTo>
                <a:cubicBezTo>
                  <a:pt x="0" y="80044"/>
                  <a:pt x="6583" y="95349"/>
                  <a:pt x="17345" y="106671"/>
                </a:cubicBezTo>
                <a:cubicBezTo>
                  <a:pt x="22776" y="112398"/>
                  <a:pt x="27614" y="119046"/>
                  <a:pt x="29984" y="126386"/>
                </a:cubicBezTo>
                <a:lnTo>
                  <a:pt x="96369" y="126386"/>
                </a:lnTo>
                <a:close/>
                <a:moveTo>
                  <a:pt x="94789" y="142184"/>
                </a:moveTo>
                <a:lnTo>
                  <a:pt x="31596" y="142184"/>
                </a:lnTo>
                <a:lnTo>
                  <a:pt x="31596" y="147450"/>
                </a:lnTo>
                <a:cubicBezTo>
                  <a:pt x="31596" y="161997"/>
                  <a:pt x="43379" y="173780"/>
                  <a:pt x="57927" y="173780"/>
                </a:cubicBezTo>
                <a:lnTo>
                  <a:pt x="68459" y="173780"/>
                </a:lnTo>
                <a:cubicBezTo>
                  <a:pt x="83006" y="173780"/>
                  <a:pt x="94789" y="161997"/>
                  <a:pt x="94789" y="147450"/>
                </a:cubicBezTo>
                <a:lnTo>
                  <a:pt x="94789" y="142184"/>
                </a:lnTo>
                <a:close/>
                <a:moveTo>
                  <a:pt x="60560" y="36862"/>
                </a:moveTo>
                <a:cubicBezTo>
                  <a:pt x="47460" y="36862"/>
                  <a:pt x="36862" y="47460"/>
                  <a:pt x="36862" y="60560"/>
                </a:cubicBezTo>
                <a:cubicBezTo>
                  <a:pt x="36862" y="64937"/>
                  <a:pt x="33341" y="68459"/>
                  <a:pt x="28963" y="68459"/>
                </a:cubicBezTo>
                <a:cubicBezTo>
                  <a:pt x="24586" y="68459"/>
                  <a:pt x="21064" y="64937"/>
                  <a:pt x="21064" y="60560"/>
                </a:cubicBezTo>
                <a:cubicBezTo>
                  <a:pt x="21064" y="38739"/>
                  <a:pt x="38739" y="21064"/>
                  <a:pt x="60560" y="21064"/>
                </a:cubicBezTo>
                <a:cubicBezTo>
                  <a:pt x="64937" y="21064"/>
                  <a:pt x="68459" y="24586"/>
                  <a:pt x="68459" y="28963"/>
                </a:cubicBezTo>
                <a:cubicBezTo>
                  <a:pt x="68459" y="33341"/>
                  <a:pt x="64937" y="36862"/>
                  <a:pt x="60560" y="3686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5"/>
          <p:cNvSpPr/>
          <p:nvPr/>
        </p:nvSpPr>
        <p:spPr>
          <a:xfrm>
            <a:off x="1017826" y="3457914"/>
            <a:ext cx="909977" cy="269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根因分析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283" y="3946605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101109" y="0"/>
                </a:moveTo>
                <a:lnTo>
                  <a:pt x="101109" y="0"/>
                </a:lnTo>
                <a:cubicBezTo>
                  <a:pt x="156912" y="0"/>
                  <a:pt x="202217" y="45305"/>
                  <a:pt x="202217" y="101109"/>
                </a:cubicBezTo>
                <a:lnTo>
                  <a:pt x="202217" y="101109"/>
                </a:lnTo>
                <a:cubicBezTo>
                  <a:pt x="202217" y="156912"/>
                  <a:pt x="156912" y="202217"/>
                  <a:pt x="101109" y="202217"/>
                </a:cubicBezTo>
                <a:lnTo>
                  <a:pt x="101109" y="202217"/>
                </a:lnTo>
                <a:cubicBezTo>
                  <a:pt x="45305" y="202217"/>
                  <a:pt x="0" y="156912"/>
                  <a:pt x="0" y="101109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578530" y="3963457"/>
            <a:ext cx="126386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5609" y="3929754"/>
            <a:ext cx="6246427" cy="219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对GF框架DataTable模块的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加载流程理解不够深入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，未正确配置数据表路径和解析器。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2283" y="4266782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101109" y="0"/>
                </a:moveTo>
                <a:lnTo>
                  <a:pt x="101109" y="0"/>
                </a:lnTo>
                <a:cubicBezTo>
                  <a:pt x="156912" y="0"/>
                  <a:pt x="202217" y="45305"/>
                  <a:pt x="202217" y="101109"/>
                </a:cubicBezTo>
                <a:lnTo>
                  <a:pt x="202217" y="101109"/>
                </a:lnTo>
                <a:cubicBezTo>
                  <a:pt x="202217" y="156912"/>
                  <a:pt x="156912" y="202217"/>
                  <a:pt x="101109" y="202217"/>
                </a:cubicBezTo>
                <a:lnTo>
                  <a:pt x="101109" y="202217"/>
                </a:lnTo>
                <a:cubicBezTo>
                  <a:pt x="45305" y="202217"/>
                  <a:pt x="0" y="156912"/>
                  <a:pt x="0" y="101109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578530" y="4283633"/>
            <a:ext cx="126386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5609" y="4249931"/>
            <a:ext cx="5642344" cy="219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缺少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统一的配置表管理规范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，各模块独立实现导致接口不一致。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77816" y="1115564"/>
            <a:ext cx="4371257" cy="5736222"/>
          </a:xfrm>
          <a:custGeom>
            <a:avLst/>
            <a:gdLst/>
            <a:ahLst/>
            <a:cxnLst/>
            <a:rect l="l" t="t" r="r" b="b"/>
            <a:pathLst>
              <a:path w="4371257" h="5736222">
                <a:moveTo>
                  <a:pt x="101107" y="0"/>
                </a:moveTo>
                <a:lnTo>
                  <a:pt x="4270150" y="0"/>
                </a:lnTo>
                <a:cubicBezTo>
                  <a:pt x="4325990" y="0"/>
                  <a:pt x="4371257" y="45267"/>
                  <a:pt x="4371257" y="101107"/>
                </a:cubicBezTo>
                <a:lnTo>
                  <a:pt x="4371257" y="5635115"/>
                </a:lnTo>
                <a:cubicBezTo>
                  <a:pt x="4371257" y="5690955"/>
                  <a:pt x="4325990" y="5736222"/>
                  <a:pt x="4270150" y="5736222"/>
                </a:cubicBezTo>
                <a:lnTo>
                  <a:pt x="101107" y="5736222"/>
                </a:lnTo>
                <a:cubicBezTo>
                  <a:pt x="45267" y="5736222"/>
                  <a:pt x="0" y="5690955"/>
                  <a:pt x="0" y="5635115"/>
                </a:cubicBezTo>
                <a:lnTo>
                  <a:pt x="0" y="101107"/>
                </a:lnTo>
                <a:cubicBezTo>
                  <a:pt x="0" y="45305"/>
                  <a:pt x="45305" y="0"/>
                  <a:pt x="10110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9701" y="1287447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7767661" y="1405407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84257" y="168514"/>
                </a:moveTo>
                <a:cubicBezTo>
                  <a:pt x="130760" y="168514"/>
                  <a:pt x="168514" y="130760"/>
                  <a:pt x="168514" y="84257"/>
                </a:cubicBezTo>
                <a:cubicBezTo>
                  <a:pt x="168514" y="37754"/>
                  <a:pt x="130760" y="0"/>
                  <a:pt x="84257" y="0"/>
                </a:cubicBezTo>
                <a:cubicBezTo>
                  <a:pt x="37754" y="0"/>
                  <a:pt x="0" y="37754"/>
                  <a:pt x="0" y="84257"/>
                </a:cubicBezTo>
                <a:cubicBezTo>
                  <a:pt x="0" y="130760"/>
                  <a:pt x="37754" y="168514"/>
                  <a:pt x="84257" y="168514"/>
                </a:cubicBezTo>
                <a:close/>
                <a:moveTo>
                  <a:pt x="112036" y="70006"/>
                </a:moveTo>
                <a:lnTo>
                  <a:pt x="85705" y="112134"/>
                </a:lnTo>
                <a:cubicBezTo>
                  <a:pt x="84323" y="114339"/>
                  <a:pt x="81953" y="115722"/>
                  <a:pt x="79353" y="115853"/>
                </a:cubicBezTo>
                <a:cubicBezTo>
                  <a:pt x="76753" y="115985"/>
                  <a:pt x="74252" y="114800"/>
                  <a:pt x="72705" y="112694"/>
                </a:cubicBezTo>
                <a:lnTo>
                  <a:pt x="56906" y="91630"/>
                </a:lnTo>
                <a:cubicBezTo>
                  <a:pt x="54273" y="88141"/>
                  <a:pt x="54997" y="83204"/>
                  <a:pt x="58486" y="80571"/>
                </a:cubicBezTo>
                <a:cubicBezTo>
                  <a:pt x="61975" y="77938"/>
                  <a:pt x="66912" y="78662"/>
                  <a:pt x="69545" y="82151"/>
                </a:cubicBezTo>
                <a:lnTo>
                  <a:pt x="78431" y="93999"/>
                </a:lnTo>
                <a:lnTo>
                  <a:pt x="98640" y="61646"/>
                </a:lnTo>
                <a:cubicBezTo>
                  <a:pt x="100944" y="57960"/>
                  <a:pt x="105815" y="56808"/>
                  <a:pt x="109534" y="59145"/>
                </a:cubicBezTo>
                <a:cubicBezTo>
                  <a:pt x="113253" y="61481"/>
                  <a:pt x="114372" y="66320"/>
                  <a:pt x="112036" y="7003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Text 25"/>
          <p:cNvSpPr/>
          <p:nvPr/>
        </p:nvSpPr>
        <p:spPr>
          <a:xfrm>
            <a:off x="8155243" y="1354852"/>
            <a:ext cx="909977" cy="269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66552" y="1826692"/>
            <a:ext cx="4010637" cy="2628821"/>
          </a:xfrm>
          <a:custGeom>
            <a:avLst/>
            <a:gdLst/>
            <a:ahLst/>
            <a:cxnLst/>
            <a:rect l="l" t="t" r="r" b="b"/>
            <a:pathLst>
              <a:path w="4010637" h="2628821">
                <a:moveTo>
                  <a:pt x="33703" y="0"/>
                </a:moveTo>
                <a:lnTo>
                  <a:pt x="3943234" y="0"/>
                </a:lnTo>
                <a:cubicBezTo>
                  <a:pt x="3980460" y="0"/>
                  <a:pt x="4010637" y="30177"/>
                  <a:pt x="4010637" y="67403"/>
                </a:cubicBezTo>
                <a:lnTo>
                  <a:pt x="4010637" y="2561418"/>
                </a:lnTo>
                <a:cubicBezTo>
                  <a:pt x="4010637" y="2598644"/>
                  <a:pt x="3980460" y="2628821"/>
                  <a:pt x="3943234" y="2628821"/>
                </a:cubicBezTo>
                <a:lnTo>
                  <a:pt x="33703" y="2628821"/>
                </a:lnTo>
                <a:cubicBezTo>
                  <a:pt x="15089" y="2628821"/>
                  <a:pt x="0" y="2613732"/>
                  <a:pt x="0" y="259511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7666552" y="1826692"/>
            <a:ext cx="33703" cy="2628821"/>
          </a:xfrm>
          <a:custGeom>
            <a:avLst/>
            <a:gdLst/>
            <a:ahLst/>
            <a:cxnLst/>
            <a:rect l="l" t="t" r="r" b="b"/>
            <a:pathLst>
              <a:path w="33703" h="2628821">
                <a:moveTo>
                  <a:pt x="33703" y="0"/>
                </a:moveTo>
                <a:lnTo>
                  <a:pt x="33703" y="0"/>
                </a:lnTo>
                <a:lnTo>
                  <a:pt x="33703" y="2628821"/>
                </a:lnTo>
                <a:lnTo>
                  <a:pt x="33703" y="2628821"/>
                </a:lnTo>
                <a:cubicBezTo>
                  <a:pt x="15089" y="2628821"/>
                  <a:pt x="0" y="2613732"/>
                  <a:pt x="0" y="259511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0" name="Shape 28"/>
          <p:cNvSpPr/>
          <p:nvPr/>
        </p:nvSpPr>
        <p:spPr>
          <a:xfrm>
            <a:off x="7826641" y="1995206"/>
            <a:ext cx="151663" cy="134811"/>
          </a:xfrm>
          <a:custGeom>
            <a:avLst/>
            <a:gdLst/>
            <a:ahLst/>
            <a:cxnLst/>
            <a:rect l="l" t="t" r="r" b="b"/>
            <a:pathLst>
              <a:path w="151663" h="134811">
                <a:moveTo>
                  <a:pt x="95000" y="316"/>
                </a:moveTo>
                <a:cubicBezTo>
                  <a:pt x="90524" y="-974"/>
                  <a:pt x="85863" y="1632"/>
                  <a:pt x="84573" y="6109"/>
                </a:cubicBezTo>
                <a:lnTo>
                  <a:pt x="50870" y="124069"/>
                </a:lnTo>
                <a:cubicBezTo>
                  <a:pt x="49580" y="128545"/>
                  <a:pt x="52187" y="133205"/>
                  <a:pt x="56663" y="134495"/>
                </a:cubicBezTo>
                <a:cubicBezTo>
                  <a:pt x="61139" y="135786"/>
                  <a:pt x="65800" y="133179"/>
                  <a:pt x="67090" y="128703"/>
                </a:cubicBezTo>
                <a:lnTo>
                  <a:pt x="100793" y="10743"/>
                </a:lnTo>
                <a:cubicBezTo>
                  <a:pt x="102083" y="6267"/>
                  <a:pt x="99476" y="1606"/>
                  <a:pt x="95000" y="316"/>
                </a:cubicBezTo>
                <a:close/>
                <a:moveTo>
                  <a:pt x="112009" y="36152"/>
                </a:moveTo>
                <a:cubicBezTo>
                  <a:pt x="108718" y="39443"/>
                  <a:pt x="108718" y="44788"/>
                  <a:pt x="112009" y="48079"/>
                </a:cubicBezTo>
                <a:lnTo>
                  <a:pt x="131336" y="67406"/>
                </a:lnTo>
                <a:lnTo>
                  <a:pt x="112009" y="86732"/>
                </a:lnTo>
                <a:cubicBezTo>
                  <a:pt x="108718" y="90023"/>
                  <a:pt x="108718" y="95368"/>
                  <a:pt x="112009" y="98660"/>
                </a:cubicBezTo>
                <a:cubicBezTo>
                  <a:pt x="115301" y="101951"/>
                  <a:pt x="120646" y="101951"/>
                  <a:pt x="123937" y="98660"/>
                </a:cubicBezTo>
                <a:lnTo>
                  <a:pt x="149214" y="73383"/>
                </a:lnTo>
                <a:cubicBezTo>
                  <a:pt x="152505" y="70091"/>
                  <a:pt x="152505" y="64746"/>
                  <a:pt x="149214" y="61455"/>
                </a:cubicBezTo>
                <a:lnTo>
                  <a:pt x="123937" y="36178"/>
                </a:lnTo>
                <a:cubicBezTo>
                  <a:pt x="120646" y="32887"/>
                  <a:pt x="115301" y="32887"/>
                  <a:pt x="112009" y="36178"/>
                </a:cubicBezTo>
                <a:close/>
                <a:moveTo>
                  <a:pt x="39680" y="36152"/>
                </a:moveTo>
                <a:cubicBezTo>
                  <a:pt x="36389" y="32860"/>
                  <a:pt x="31043" y="32860"/>
                  <a:pt x="27752" y="36152"/>
                </a:cubicBezTo>
                <a:lnTo>
                  <a:pt x="2475" y="61429"/>
                </a:lnTo>
                <a:cubicBezTo>
                  <a:pt x="-816" y="64720"/>
                  <a:pt x="-816" y="70065"/>
                  <a:pt x="2475" y="73356"/>
                </a:cubicBezTo>
                <a:lnTo>
                  <a:pt x="27752" y="98633"/>
                </a:lnTo>
                <a:cubicBezTo>
                  <a:pt x="31043" y="101925"/>
                  <a:pt x="36389" y="101925"/>
                  <a:pt x="39680" y="98633"/>
                </a:cubicBezTo>
                <a:cubicBezTo>
                  <a:pt x="42971" y="95342"/>
                  <a:pt x="42971" y="89997"/>
                  <a:pt x="39680" y="86706"/>
                </a:cubicBezTo>
                <a:lnTo>
                  <a:pt x="20353" y="67406"/>
                </a:lnTo>
                <a:lnTo>
                  <a:pt x="39653" y="48079"/>
                </a:lnTo>
                <a:cubicBezTo>
                  <a:pt x="42945" y="44788"/>
                  <a:pt x="42945" y="39443"/>
                  <a:pt x="39653" y="3615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1" name="Text 29"/>
          <p:cNvSpPr/>
          <p:nvPr/>
        </p:nvSpPr>
        <p:spPr>
          <a:xfrm>
            <a:off x="8054135" y="1961503"/>
            <a:ext cx="2792299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DataTableExtension扩展类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18215" y="2231126"/>
            <a:ext cx="3791569" cy="438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编写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DataTableExtension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扩展类，统一封装配置表的加载、解析、验证流程，提供简洁的调用接口。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18215" y="2770371"/>
            <a:ext cx="3724163" cy="1550330"/>
          </a:xfrm>
          <a:custGeom>
            <a:avLst/>
            <a:gdLst/>
            <a:ahLst/>
            <a:cxnLst/>
            <a:rect l="l" t="t" r="r" b="b"/>
            <a:pathLst>
              <a:path w="3724163" h="1550330">
                <a:moveTo>
                  <a:pt x="67408" y="0"/>
                </a:moveTo>
                <a:lnTo>
                  <a:pt x="3656755" y="0"/>
                </a:lnTo>
                <a:cubicBezTo>
                  <a:pt x="3693983" y="0"/>
                  <a:pt x="3724163" y="30180"/>
                  <a:pt x="3724163" y="67408"/>
                </a:cubicBezTo>
                <a:lnTo>
                  <a:pt x="3724163" y="1482922"/>
                </a:lnTo>
                <a:cubicBezTo>
                  <a:pt x="3724163" y="1520151"/>
                  <a:pt x="3693983" y="1550330"/>
                  <a:pt x="3656755" y="1550330"/>
                </a:cubicBezTo>
                <a:lnTo>
                  <a:pt x="67408" y="1550330"/>
                </a:lnTo>
                <a:cubicBezTo>
                  <a:pt x="30180" y="1550330"/>
                  <a:pt x="0" y="1520151"/>
                  <a:pt x="0" y="1482922"/>
                </a:cubicBezTo>
                <a:lnTo>
                  <a:pt x="0" y="67408"/>
                </a:lnTo>
                <a:cubicBezTo>
                  <a:pt x="0" y="30205"/>
                  <a:pt x="30205" y="0"/>
                  <a:pt x="67408" y="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34" name="Text 32"/>
          <p:cNvSpPr/>
          <p:nvPr/>
        </p:nvSpPr>
        <p:spPr>
          <a:xfrm>
            <a:off x="7919323" y="2871480"/>
            <a:ext cx="3580926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统一加载接口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19323" y="3039994"/>
            <a:ext cx="3580926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static void LoadDataTable(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19323" y="3208508"/>
            <a:ext cx="3580926" cy="168514"/>
          </a:xfrm>
          <a:prstGeom prst="rect">
            <a:avLst/>
          </a:prstGeom>
          <a:noFill/>
        </p:spPr>
        <p:txBody>
          <a:bodyPr wrap="square" lIns="134811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dataTableName,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19323" y="3377022"/>
            <a:ext cx="3580926" cy="168514"/>
          </a:xfrm>
          <a:prstGeom prst="rect">
            <a:avLst/>
          </a:prstGeom>
          <a:noFill/>
        </p:spPr>
        <p:txBody>
          <a:bodyPr wrap="square" lIns="134811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 userData = null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919323" y="3545536"/>
            <a:ext cx="3580926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where T : IDataRow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919323" y="3714051"/>
            <a:ext cx="3580926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919323" y="3882565"/>
            <a:ext cx="3580926" cy="168514"/>
          </a:xfrm>
          <a:prstGeom prst="rect">
            <a:avLst/>
          </a:prstGeom>
          <a:noFill/>
        </p:spPr>
        <p:txBody>
          <a:bodyPr wrap="square" lIns="134811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路径构建 + 加载 + 验证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919323" y="4051079"/>
            <a:ext cx="3580926" cy="168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66552" y="4590324"/>
            <a:ext cx="4010637" cy="977382"/>
          </a:xfrm>
          <a:custGeom>
            <a:avLst/>
            <a:gdLst/>
            <a:ahLst/>
            <a:cxnLst/>
            <a:rect l="l" t="t" r="r" b="b"/>
            <a:pathLst>
              <a:path w="4010637" h="977382">
                <a:moveTo>
                  <a:pt x="33703" y="0"/>
                </a:moveTo>
                <a:lnTo>
                  <a:pt x="3943227" y="0"/>
                </a:lnTo>
                <a:cubicBezTo>
                  <a:pt x="3980457" y="0"/>
                  <a:pt x="4010637" y="30181"/>
                  <a:pt x="4010637" y="67410"/>
                </a:cubicBezTo>
                <a:lnTo>
                  <a:pt x="4010637" y="909972"/>
                </a:lnTo>
                <a:cubicBezTo>
                  <a:pt x="4010637" y="947202"/>
                  <a:pt x="3980457" y="977382"/>
                  <a:pt x="3943227" y="977382"/>
                </a:cubicBezTo>
                <a:lnTo>
                  <a:pt x="33703" y="977382"/>
                </a:lnTo>
                <a:cubicBezTo>
                  <a:pt x="15089" y="977382"/>
                  <a:pt x="0" y="962293"/>
                  <a:pt x="0" y="943679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7666552" y="4590324"/>
            <a:ext cx="33703" cy="977382"/>
          </a:xfrm>
          <a:custGeom>
            <a:avLst/>
            <a:gdLst/>
            <a:ahLst/>
            <a:cxnLst/>
            <a:rect l="l" t="t" r="r" b="b"/>
            <a:pathLst>
              <a:path w="33703" h="977382">
                <a:moveTo>
                  <a:pt x="33703" y="0"/>
                </a:moveTo>
                <a:lnTo>
                  <a:pt x="33703" y="0"/>
                </a:lnTo>
                <a:lnTo>
                  <a:pt x="33703" y="977382"/>
                </a:lnTo>
                <a:lnTo>
                  <a:pt x="33703" y="977382"/>
                </a:lnTo>
                <a:cubicBezTo>
                  <a:pt x="15089" y="977382"/>
                  <a:pt x="0" y="962293"/>
                  <a:pt x="0" y="943679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4" name="Shape 42"/>
          <p:cNvSpPr/>
          <p:nvPr/>
        </p:nvSpPr>
        <p:spPr>
          <a:xfrm>
            <a:off x="7835066" y="4758838"/>
            <a:ext cx="134811" cy="134811"/>
          </a:xfrm>
          <a:custGeom>
            <a:avLst/>
            <a:gdLst/>
            <a:ahLst/>
            <a:cxnLst/>
            <a:rect l="l" t="t" r="r" b="b"/>
            <a:pathLst>
              <a:path w="134811" h="134811">
                <a:moveTo>
                  <a:pt x="67406" y="0"/>
                </a:moveTo>
                <a:cubicBezTo>
                  <a:pt x="68617" y="0"/>
                  <a:pt x="69828" y="263"/>
                  <a:pt x="70934" y="764"/>
                </a:cubicBezTo>
                <a:lnTo>
                  <a:pt x="120540" y="21802"/>
                </a:lnTo>
                <a:cubicBezTo>
                  <a:pt x="126333" y="24250"/>
                  <a:pt x="130651" y="29964"/>
                  <a:pt x="130625" y="36862"/>
                </a:cubicBezTo>
                <a:cubicBezTo>
                  <a:pt x="130493" y="62982"/>
                  <a:pt x="119750" y="110772"/>
                  <a:pt x="74383" y="132494"/>
                </a:cubicBezTo>
                <a:cubicBezTo>
                  <a:pt x="69986" y="134601"/>
                  <a:pt x="64878" y="134601"/>
                  <a:pt x="60481" y="132494"/>
                </a:cubicBezTo>
                <a:cubicBezTo>
                  <a:pt x="15087" y="110772"/>
                  <a:pt x="4371" y="62982"/>
                  <a:pt x="4239" y="36862"/>
                </a:cubicBezTo>
                <a:cubicBezTo>
                  <a:pt x="4213" y="29964"/>
                  <a:pt x="8531" y="24250"/>
                  <a:pt x="14324" y="21802"/>
                </a:cubicBezTo>
                <a:lnTo>
                  <a:pt x="63904" y="764"/>
                </a:lnTo>
                <a:cubicBezTo>
                  <a:pt x="65010" y="263"/>
                  <a:pt x="66194" y="0"/>
                  <a:pt x="67406" y="0"/>
                </a:cubicBezTo>
                <a:close/>
                <a:moveTo>
                  <a:pt x="67406" y="17589"/>
                </a:moveTo>
                <a:lnTo>
                  <a:pt x="67406" y="117144"/>
                </a:lnTo>
                <a:cubicBezTo>
                  <a:pt x="103742" y="99555"/>
                  <a:pt x="113510" y="60586"/>
                  <a:pt x="113747" y="37257"/>
                </a:cubicBezTo>
                <a:lnTo>
                  <a:pt x="67406" y="17615"/>
                </a:lnTo>
                <a:lnTo>
                  <a:pt x="67406" y="17615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5" name="Text 43"/>
          <p:cNvSpPr/>
          <p:nvPr/>
        </p:nvSpPr>
        <p:spPr>
          <a:xfrm>
            <a:off x="8054135" y="4725136"/>
            <a:ext cx="1393837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数据验证机制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18215" y="4994758"/>
            <a:ext cx="3791569" cy="438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在加载流程中增加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数据完整性验证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，检查配置表字段是否缺失、数值是否合法，提前发现并报告错误。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66552" y="5702518"/>
            <a:ext cx="4010637" cy="977382"/>
          </a:xfrm>
          <a:custGeom>
            <a:avLst/>
            <a:gdLst/>
            <a:ahLst/>
            <a:cxnLst/>
            <a:rect l="l" t="t" r="r" b="b"/>
            <a:pathLst>
              <a:path w="4010637" h="977382">
                <a:moveTo>
                  <a:pt x="33703" y="0"/>
                </a:moveTo>
                <a:lnTo>
                  <a:pt x="3943227" y="0"/>
                </a:lnTo>
                <a:cubicBezTo>
                  <a:pt x="3980457" y="0"/>
                  <a:pt x="4010637" y="30181"/>
                  <a:pt x="4010637" y="67410"/>
                </a:cubicBezTo>
                <a:lnTo>
                  <a:pt x="4010637" y="909972"/>
                </a:lnTo>
                <a:cubicBezTo>
                  <a:pt x="4010637" y="947202"/>
                  <a:pt x="3980457" y="977382"/>
                  <a:pt x="3943227" y="977382"/>
                </a:cubicBezTo>
                <a:lnTo>
                  <a:pt x="33703" y="977382"/>
                </a:lnTo>
                <a:cubicBezTo>
                  <a:pt x="15089" y="977382"/>
                  <a:pt x="0" y="962293"/>
                  <a:pt x="0" y="943679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7666552" y="5702518"/>
            <a:ext cx="33703" cy="977382"/>
          </a:xfrm>
          <a:custGeom>
            <a:avLst/>
            <a:gdLst/>
            <a:ahLst/>
            <a:cxnLst/>
            <a:rect l="l" t="t" r="r" b="b"/>
            <a:pathLst>
              <a:path w="33703" h="977382">
                <a:moveTo>
                  <a:pt x="33703" y="0"/>
                </a:moveTo>
                <a:lnTo>
                  <a:pt x="33703" y="0"/>
                </a:lnTo>
                <a:lnTo>
                  <a:pt x="33703" y="977382"/>
                </a:lnTo>
                <a:lnTo>
                  <a:pt x="33703" y="977382"/>
                </a:lnTo>
                <a:cubicBezTo>
                  <a:pt x="15089" y="977382"/>
                  <a:pt x="0" y="962293"/>
                  <a:pt x="0" y="943679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9" name="Shape 47"/>
          <p:cNvSpPr/>
          <p:nvPr/>
        </p:nvSpPr>
        <p:spPr>
          <a:xfrm>
            <a:off x="7843492" y="5871032"/>
            <a:ext cx="117960" cy="134811"/>
          </a:xfrm>
          <a:custGeom>
            <a:avLst/>
            <a:gdLst/>
            <a:ahLst/>
            <a:cxnLst/>
            <a:rect l="l" t="t" r="r" b="b"/>
            <a:pathLst>
              <a:path w="117960" h="134811">
                <a:moveTo>
                  <a:pt x="101109" y="134811"/>
                </a:moveTo>
                <a:lnTo>
                  <a:pt x="25277" y="134811"/>
                </a:lnTo>
                <a:cubicBezTo>
                  <a:pt x="11322" y="134811"/>
                  <a:pt x="0" y="123489"/>
                  <a:pt x="0" y="109534"/>
                </a:cubicBezTo>
                <a:lnTo>
                  <a:pt x="0" y="25277"/>
                </a:lnTo>
                <a:cubicBezTo>
                  <a:pt x="0" y="11322"/>
                  <a:pt x="11322" y="0"/>
                  <a:pt x="25277" y="0"/>
                </a:cubicBezTo>
                <a:lnTo>
                  <a:pt x="105321" y="0"/>
                </a:lnTo>
                <a:cubicBezTo>
                  <a:pt x="112299" y="0"/>
                  <a:pt x="117960" y="5661"/>
                  <a:pt x="117960" y="12639"/>
                </a:cubicBezTo>
                <a:lnTo>
                  <a:pt x="117960" y="88470"/>
                </a:lnTo>
                <a:cubicBezTo>
                  <a:pt x="117960" y="93973"/>
                  <a:pt x="114432" y="98660"/>
                  <a:pt x="109534" y="100398"/>
                </a:cubicBezTo>
                <a:lnTo>
                  <a:pt x="109534" y="117960"/>
                </a:lnTo>
                <a:cubicBezTo>
                  <a:pt x="114195" y="117960"/>
                  <a:pt x="117960" y="121725"/>
                  <a:pt x="117960" y="126386"/>
                </a:cubicBezTo>
                <a:cubicBezTo>
                  <a:pt x="117960" y="131046"/>
                  <a:pt x="114195" y="134811"/>
                  <a:pt x="109534" y="134811"/>
                </a:cubicBezTo>
                <a:lnTo>
                  <a:pt x="101109" y="134811"/>
                </a:lnTo>
                <a:close/>
                <a:moveTo>
                  <a:pt x="25277" y="101109"/>
                </a:moveTo>
                <a:cubicBezTo>
                  <a:pt x="20617" y="101109"/>
                  <a:pt x="16851" y="104874"/>
                  <a:pt x="16851" y="109534"/>
                </a:cubicBezTo>
                <a:cubicBezTo>
                  <a:pt x="16851" y="114195"/>
                  <a:pt x="20617" y="117960"/>
                  <a:pt x="25277" y="117960"/>
                </a:cubicBezTo>
                <a:lnTo>
                  <a:pt x="92683" y="117960"/>
                </a:lnTo>
                <a:lnTo>
                  <a:pt x="92683" y="101109"/>
                </a:lnTo>
                <a:lnTo>
                  <a:pt x="25277" y="101109"/>
                </a:lnTo>
                <a:close/>
                <a:moveTo>
                  <a:pt x="33703" y="40022"/>
                </a:moveTo>
                <a:cubicBezTo>
                  <a:pt x="33703" y="43524"/>
                  <a:pt x="36520" y="46341"/>
                  <a:pt x="40022" y="46341"/>
                </a:cubicBezTo>
                <a:lnTo>
                  <a:pt x="86364" y="46341"/>
                </a:lnTo>
                <a:cubicBezTo>
                  <a:pt x="89865" y="46341"/>
                  <a:pt x="92683" y="43524"/>
                  <a:pt x="92683" y="40022"/>
                </a:cubicBezTo>
                <a:cubicBezTo>
                  <a:pt x="92683" y="36520"/>
                  <a:pt x="89865" y="33703"/>
                  <a:pt x="86364" y="33703"/>
                </a:cubicBezTo>
                <a:lnTo>
                  <a:pt x="40022" y="33703"/>
                </a:lnTo>
                <a:cubicBezTo>
                  <a:pt x="36520" y="33703"/>
                  <a:pt x="33703" y="36520"/>
                  <a:pt x="33703" y="40022"/>
                </a:cubicBezTo>
                <a:close/>
                <a:moveTo>
                  <a:pt x="40022" y="58980"/>
                </a:moveTo>
                <a:cubicBezTo>
                  <a:pt x="36520" y="58980"/>
                  <a:pt x="33703" y="61797"/>
                  <a:pt x="33703" y="65299"/>
                </a:cubicBezTo>
                <a:cubicBezTo>
                  <a:pt x="33703" y="68801"/>
                  <a:pt x="36520" y="71619"/>
                  <a:pt x="40022" y="71619"/>
                </a:cubicBezTo>
                <a:lnTo>
                  <a:pt x="86364" y="71619"/>
                </a:lnTo>
                <a:cubicBezTo>
                  <a:pt x="89865" y="71619"/>
                  <a:pt x="92683" y="68801"/>
                  <a:pt x="92683" y="65299"/>
                </a:cubicBezTo>
                <a:cubicBezTo>
                  <a:pt x="92683" y="61797"/>
                  <a:pt x="89865" y="58980"/>
                  <a:pt x="86364" y="58980"/>
                </a:cubicBezTo>
                <a:lnTo>
                  <a:pt x="40022" y="5898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0" name="Text 48"/>
          <p:cNvSpPr/>
          <p:nvPr/>
        </p:nvSpPr>
        <p:spPr>
          <a:xfrm>
            <a:off x="8054135" y="5837329"/>
            <a:ext cx="809176" cy="2022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文档沉淀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18215" y="6106952"/>
            <a:ext cx="3791569" cy="438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整理GF框架DataTable模块的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使用文档和最佳实践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，建立团队知识库，降低后续开发的学习成本。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63" y="336563"/>
            <a:ext cx="11586186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kern="0" spc="53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02 · RESOURCE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563" y="605814"/>
            <a:ext cx="11670327" cy="336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问题二：UI资源路径管理混乱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929" y="1114024"/>
            <a:ext cx="7301737" cy="1740031"/>
          </a:xfrm>
          <a:custGeom>
            <a:avLst/>
            <a:gdLst/>
            <a:ahLst/>
            <a:cxnLst/>
            <a:rect l="l" t="t" r="r" b="b"/>
            <a:pathLst>
              <a:path w="7301737" h="1740031">
                <a:moveTo>
                  <a:pt x="100974" y="0"/>
                </a:moveTo>
                <a:lnTo>
                  <a:pt x="7200763" y="0"/>
                </a:lnTo>
                <a:cubicBezTo>
                  <a:pt x="7256530" y="0"/>
                  <a:pt x="7301737" y="45208"/>
                  <a:pt x="7301737" y="100974"/>
                </a:cubicBezTo>
                <a:lnTo>
                  <a:pt x="7301737" y="1639057"/>
                </a:lnTo>
                <a:cubicBezTo>
                  <a:pt x="7301737" y="1694824"/>
                  <a:pt x="7256530" y="1740031"/>
                  <a:pt x="7200763" y="1740031"/>
                </a:cubicBezTo>
                <a:lnTo>
                  <a:pt x="100974" y="1740031"/>
                </a:lnTo>
                <a:cubicBezTo>
                  <a:pt x="45208" y="1740031"/>
                  <a:pt x="0" y="1694824"/>
                  <a:pt x="0" y="1639057"/>
                </a:cubicBezTo>
                <a:lnTo>
                  <a:pt x="0" y="100974"/>
                </a:lnTo>
                <a:cubicBezTo>
                  <a:pt x="0" y="45208"/>
                  <a:pt x="45208" y="0"/>
                  <a:pt x="10097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1576" y="1285670"/>
            <a:ext cx="403876" cy="403876"/>
          </a:xfrm>
          <a:custGeom>
            <a:avLst/>
            <a:gdLst/>
            <a:ahLst/>
            <a:cxnLst/>
            <a:rect l="l" t="t" r="r" b="b"/>
            <a:pathLst>
              <a:path w="403876" h="403876">
                <a:moveTo>
                  <a:pt x="100969" y="0"/>
                </a:moveTo>
                <a:lnTo>
                  <a:pt x="302907" y="0"/>
                </a:lnTo>
                <a:cubicBezTo>
                  <a:pt x="358670" y="0"/>
                  <a:pt x="403876" y="45205"/>
                  <a:pt x="403876" y="100969"/>
                </a:cubicBezTo>
                <a:lnTo>
                  <a:pt x="403876" y="302907"/>
                </a:lnTo>
                <a:cubicBezTo>
                  <a:pt x="403876" y="358670"/>
                  <a:pt x="358670" y="403876"/>
                  <a:pt x="302907" y="403876"/>
                </a:cubicBezTo>
                <a:lnTo>
                  <a:pt x="100969" y="403876"/>
                </a:lnTo>
                <a:cubicBezTo>
                  <a:pt x="45205" y="403876"/>
                  <a:pt x="0" y="358670"/>
                  <a:pt x="0" y="302907"/>
                </a:cubicBezTo>
                <a:lnTo>
                  <a:pt x="0" y="100969"/>
                </a:lnTo>
                <a:cubicBezTo>
                  <a:pt x="0" y="45205"/>
                  <a:pt x="45205" y="0"/>
                  <a:pt x="10096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29373" y="1403467"/>
            <a:ext cx="168282" cy="168282"/>
          </a:xfrm>
          <a:custGeom>
            <a:avLst/>
            <a:gdLst/>
            <a:ahLst/>
            <a:cxnLst/>
            <a:rect l="l" t="t" r="r" b="b"/>
            <a:pathLst>
              <a:path w="168282" h="168282">
                <a:moveTo>
                  <a:pt x="84141" y="0"/>
                </a:moveTo>
                <a:cubicBezTo>
                  <a:pt x="88972" y="0"/>
                  <a:pt x="93409" y="2662"/>
                  <a:pt x="95710" y="6902"/>
                </a:cubicBezTo>
                <a:lnTo>
                  <a:pt x="166704" y="138372"/>
                </a:lnTo>
                <a:cubicBezTo>
                  <a:pt x="168906" y="142448"/>
                  <a:pt x="168807" y="147378"/>
                  <a:pt x="166441" y="151355"/>
                </a:cubicBezTo>
                <a:cubicBezTo>
                  <a:pt x="164075" y="155332"/>
                  <a:pt x="159769" y="157764"/>
                  <a:pt x="155135" y="157764"/>
                </a:cubicBezTo>
                <a:lnTo>
                  <a:pt x="13147" y="157764"/>
                </a:lnTo>
                <a:cubicBezTo>
                  <a:pt x="8513" y="157764"/>
                  <a:pt x="4240" y="155332"/>
                  <a:pt x="1841" y="151355"/>
                </a:cubicBezTo>
                <a:cubicBezTo>
                  <a:pt x="-559" y="147378"/>
                  <a:pt x="-624" y="142448"/>
                  <a:pt x="1578" y="138372"/>
                </a:cubicBezTo>
                <a:lnTo>
                  <a:pt x="72571" y="6902"/>
                </a:lnTo>
                <a:cubicBezTo>
                  <a:pt x="74872" y="2662"/>
                  <a:pt x="79309" y="0"/>
                  <a:pt x="84141" y="0"/>
                </a:cubicBezTo>
                <a:close/>
                <a:moveTo>
                  <a:pt x="84141" y="55217"/>
                </a:moveTo>
                <a:cubicBezTo>
                  <a:pt x="79769" y="55217"/>
                  <a:pt x="76253" y="58734"/>
                  <a:pt x="76253" y="63106"/>
                </a:cubicBezTo>
                <a:lnTo>
                  <a:pt x="76253" y="99917"/>
                </a:lnTo>
                <a:cubicBezTo>
                  <a:pt x="76253" y="104289"/>
                  <a:pt x="79769" y="107805"/>
                  <a:pt x="84141" y="107805"/>
                </a:cubicBezTo>
                <a:cubicBezTo>
                  <a:pt x="88512" y="107805"/>
                  <a:pt x="92029" y="104289"/>
                  <a:pt x="92029" y="99917"/>
                </a:cubicBezTo>
                <a:lnTo>
                  <a:pt x="92029" y="63106"/>
                </a:lnTo>
                <a:cubicBezTo>
                  <a:pt x="92029" y="58734"/>
                  <a:pt x="88512" y="55217"/>
                  <a:pt x="84141" y="55217"/>
                </a:cubicBezTo>
                <a:close/>
                <a:moveTo>
                  <a:pt x="92916" y="126211"/>
                </a:moveTo>
                <a:cubicBezTo>
                  <a:pt x="93116" y="122954"/>
                  <a:pt x="91492" y="119855"/>
                  <a:pt x="88699" y="118166"/>
                </a:cubicBezTo>
                <a:cubicBezTo>
                  <a:pt x="85907" y="116476"/>
                  <a:pt x="82408" y="116476"/>
                  <a:pt x="79615" y="118166"/>
                </a:cubicBezTo>
                <a:cubicBezTo>
                  <a:pt x="76823" y="119855"/>
                  <a:pt x="75198" y="122954"/>
                  <a:pt x="75398" y="126211"/>
                </a:cubicBezTo>
                <a:cubicBezTo>
                  <a:pt x="75198" y="129469"/>
                  <a:pt x="76823" y="132568"/>
                  <a:pt x="79615" y="134257"/>
                </a:cubicBezTo>
                <a:cubicBezTo>
                  <a:pt x="82408" y="135946"/>
                  <a:pt x="85907" y="135946"/>
                  <a:pt x="88699" y="134257"/>
                </a:cubicBezTo>
                <a:cubicBezTo>
                  <a:pt x="91492" y="132568"/>
                  <a:pt x="93116" y="129469"/>
                  <a:pt x="92916" y="12621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7" name="Text 5"/>
          <p:cNvSpPr/>
          <p:nvPr/>
        </p:nvSpPr>
        <p:spPr>
          <a:xfrm>
            <a:off x="1016421" y="1352982"/>
            <a:ext cx="908720" cy="269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8404" y="1857827"/>
            <a:ext cx="134625" cy="134625"/>
          </a:xfrm>
          <a:custGeom>
            <a:avLst/>
            <a:gdLst/>
            <a:ahLst/>
            <a:cxnLst/>
            <a:rect l="l" t="t" r="r" b="b"/>
            <a:pathLst>
              <a:path w="134625" h="134625">
                <a:moveTo>
                  <a:pt x="67313" y="134625"/>
                </a:moveTo>
                <a:cubicBezTo>
                  <a:pt x="104463" y="134625"/>
                  <a:pt x="134625" y="104463"/>
                  <a:pt x="134625" y="67313"/>
                </a:cubicBezTo>
                <a:cubicBezTo>
                  <a:pt x="134625" y="30162"/>
                  <a:pt x="104463" y="0"/>
                  <a:pt x="67313" y="0"/>
                </a:cubicBezTo>
                <a:cubicBezTo>
                  <a:pt x="30162" y="0"/>
                  <a:pt x="0" y="30162"/>
                  <a:pt x="0" y="67313"/>
                </a:cubicBezTo>
                <a:cubicBezTo>
                  <a:pt x="0" y="104463"/>
                  <a:pt x="30162" y="134625"/>
                  <a:pt x="67313" y="134625"/>
                </a:cubicBezTo>
                <a:close/>
                <a:moveTo>
                  <a:pt x="43911" y="43911"/>
                </a:moveTo>
                <a:cubicBezTo>
                  <a:pt x="46383" y="41439"/>
                  <a:pt x="50379" y="41439"/>
                  <a:pt x="52825" y="43911"/>
                </a:cubicBezTo>
                <a:lnTo>
                  <a:pt x="67286" y="58373"/>
                </a:lnTo>
                <a:lnTo>
                  <a:pt x="81748" y="43911"/>
                </a:lnTo>
                <a:cubicBezTo>
                  <a:pt x="84220" y="41439"/>
                  <a:pt x="88216" y="41439"/>
                  <a:pt x="90662" y="43911"/>
                </a:cubicBezTo>
                <a:cubicBezTo>
                  <a:pt x="93107" y="46383"/>
                  <a:pt x="93133" y="50379"/>
                  <a:pt x="90662" y="52825"/>
                </a:cubicBezTo>
                <a:lnTo>
                  <a:pt x="76200" y="67286"/>
                </a:lnTo>
                <a:lnTo>
                  <a:pt x="90662" y="81748"/>
                </a:lnTo>
                <a:cubicBezTo>
                  <a:pt x="93133" y="84220"/>
                  <a:pt x="93133" y="88216"/>
                  <a:pt x="90662" y="90662"/>
                </a:cubicBezTo>
                <a:cubicBezTo>
                  <a:pt x="88190" y="93107"/>
                  <a:pt x="84193" y="93133"/>
                  <a:pt x="81748" y="90662"/>
                </a:cubicBezTo>
                <a:lnTo>
                  <a:pt x="67286" y="76200"/>
                </a:lnTo>
                <a:lnTo>
                  <a:pt x="52825" y="90662"/>
                </a:lnTo>
                <a:cubicBezTo>
                  <a:pt x="50353" y="93133"/>
                  <a:pt x="46356" y="93133"/>
                  <a:pt x="43911" y="90662"/>
                </a:cubicBezTo>
                <a:cubicBezTo>
                  <a:pt x="41466" y="88190"/>
                  <a:pt x="41439" y="84193"/>
                  <a:pt x="43911" y="81748"/>
                </a:cubicBezTo>
                <a:lnTo>
                  <a:pt x="58373" y="67286"/>
                </a:lnTo>
                <a:lnTo>
                  <a:pt x="43911" y="52825"/>
                </a:lnTo>
                <a:cubicBezTo>
                  <a:pt x="41439" y="50353"/>
                  <a:pt x="41439" y="46356"/>
                  <a:pt x="43911" y="4391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780827" y="1824171"/>
            <a:ext cx="7495997" cy="218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UI预制体加载路径散布在代码各处，存在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大量硬编码字符串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，如"UI/StartMenuUI"、"UI/SettingsUI"等。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8404" y="2177562"/>
            <a:ext cx="134625" cy="134625"/>
          </a:xfrm>
          <a:custGeom>
            <a:avLst/>
            <a:gdLst/>
            <a:ahLst/>
            <a:cxnLst/>
            <a:rect l="l" t="t" r="r" b="b"/>
            <a:pathLst>
              <a:path w="134625" h="134625">
                <a:moveTo>
                  <a:pt x="67313" y="134625"/>
                </a:moveTo>
                <a:cubicBezTo>
                  <a:pt x="104463" y="134625"/>
                  <a:pt x="134625" y="104463"/>
                  <a:pt x="134625" y="67313"/>
                </a:cubicBezTo>
                <a:cubicBezTo>
                  <a:pt x="134625" y="30162"/>
                  <a:pt x="104463" y="0"/>
                  <a:pt x="67313" y="0"/>
                </a:cubicBezTo>
                <a:cubicBezTo>
                  <a:pt x="30162" y="0"/>
                  <a:pt x="0" y="30162"/>
                  <a:pt x="0" y="67313"/>
                </a:cubicBezTo>
                <a:cubicBezTo>
                  <a:pt x="0" y="104463"/>
                  <a:pt x="30162" y="134625"/>
                  <a:pt x="67313" y="134625"/>
                </a:cubicBezTo>
                <a:close/>
                <a:moveTo>
                  <a:pt x="43911" y="43911"/>
                </a:moveTo>
                <a:cubicBezTo>
                  <a:pt x="46383" y="41439"/>
                  <a:pt x="50379" y="41439"/>
                  <a:pt x="52825" y="43911"/>
                </a:cubicBezTo>
                <a:lnTo>
                  <a:pt x="67286" y="58373"/>
                </a:lnTo>
                <a:lnTo>
                  <a:pt x="81748" y="43911"/>
                </a:lnTo>
                <a:cubicBezTo>
                  <a:pt x="84220" y="41439"/>
                  <a:pt x="88216" y="41439"/>
                  <a:pt x="90662" y="43911"/>
                </a:cubicBezTo>
                <a:cubicBezTo>
                  <a:pt x="93107" y="46383"/>
                  <a:pt x="93133" y="50379"/>
                  <a:pt x="90662" y="52825"/>
                </a:cubicBezTo>
                <a:lnTo>
                  <a:pt x="76200" y="67286"/>
                </a:lnTo>
                <a:lnTo>
                  <a:pt x="90662" y="81748"/>
                </a:lnTo>
                <a:cubicBezTo>
                  <a:pt x="93133" y="84220"/>
                  <a:pt x="93133" y="88216"/>
                  <a:pt x="90662" y="90662"/>
                </a:cubicBezTo>
                <a:cubicBezTo>
                  <a:pt x="88190" y="93107"/>
                  <a:pt x="84193" y="93133"/>
                  <a:pt x="81748" y="90662"/>
                </a:cubicBezTo>
                <a:lnTo>
                  <a:pt x="67286" y="76200"/>
                </a:lnTo>
                <a:lnTo>
                  <a:pt x="52825" y="90662"/>
                </a:lnTo>
                <a:cubicBezTo>
                  <a:pt x="50353" y="93133"/>
                  <a:pt x="46356" y="93133"/>
                  <a:pt x="43911" y="90662"/>
                </a:cubicBezTo>
                <a:cubicBezTo>
                  <a:pt x="41466" y="88190"/>
                  <a:pt x="41439" y="84193"/>
                  <a:pt x="43911" y="81748"/>
                </a:cubicBezTo>
                <a:lnTo>
                  <a:pt x="58373" y="67286"/>
                </a:lnTo>
                <a:lnTo>
                  <a:pt x="43911" y="52825"/>
                </a:lnTo>
                <a:cubicBezTo>
                  <a:pt x="41439" y="50353"/>
                  <a:pt x="41439" y="46356"/>
                  <a:pt x="43911" y="4391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1" name="Text 9"/>
          <p:cNvSpPr/>
          <p:nvPr/>
        </p:nvSpPr>
        <p:spPr>
          <a:xfrm>
            <a:off x="780827" y="2143906"/>
            <a:ext cx="4782719" cy="218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资源路径变更时需要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全局搜索替换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，容易遗漏，维护困难。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8404" y="2497297"/>
            <a:ext cx="134625" cy="134625"/>
          </a:xfrm>
          <a:custGeom>
            <a:avLst/>
            <a:gdLst/>
            <a:ahLst/>
            <a:cxnLst/>
            <a:rect l="l" t="t" r="r" b="b"/>
            <a:pathLst>
              <a:path w="134625" h="134625">
                <a:moveTo>
                  <a:pt x="67313" y="134625"/>
                </a:moveTo>
                <a:cubicBezTo>
                  <a:pt x="104463" y="134625"/>
                  <a:pt x="134625" y="104463"/>
                  <a:pt x="134625" y="67313"/>
                </a:cubicBezTo>
                <a:cubicBezTo>
                  <a:pt x="134625" y="30162"/>
                  <a:pt x="104463" y="0"/>
                  <a:pt x="67313" y="0"/>
                </a:cubicBezTo>
                <a:cubicBezTo>
                  <a:pt x="30162" y="0"/>
                  <a:pt x="0" y="30162"/>
                  <a:pt x="0" y="67313"/>
                </a:cubicBezTo>
                <a:cubicBezTo>
                  <a:pt x="0" y="104463"/>
                  <a:pt x="30162" y="134625"/>
                  <a:pt x="67313" y="134625"/>
                </a:cubicBezTo>
                <a:close/>
                <a:moveTo>
                  <a:pt x="43911" y="43911"/>
                </a:moveTo>
                <a:cubicBezTo>
                  <a:pt x="46383" y="41439"/>
                  <a:pt x="50379" y="41439"/>
                  <a:pt x="52825" y="43911"/>
                </a:cubicBezTo>
                <a:lnTo>
                  <a:pt x="67286" y="58373"/>
                </a:lnTo>
                <a:lnTo>
                  <a:pt x="81748" y="43911"/>
                </a:lnTo>
                <a:cubicBezTo>
                  <a:pt x="84220" y="41439"/>
                  <a:pt x="88216" y="41439"/>
                  <a:pt x="90662" y="43911"/>
                </a:cubicBezTo>
                <a:cubicBezTo>
                  <a:pt x="93107" y="46383"/>
                  <a:pt x="93133" y="50379"/>
                  <a:pt x="90662" y="52825"/>
                </a:cubicBezTo>
                <a:lnTo>
                  <a:pt x="76200" y="67286"/>
                </a:lnTo>
                <a:lnTo>
                  <a:pt x="90662" y="81748"/>
                </a:lnTo>
                <a:cubicBezTo>
                  <a:pt x="93133" y="84220"/>
                  <a:pt x="93133" y="88216"/>
                  <a:pt x="90662" y="90662"/>
                </a:cubicBezTo>
                <a:cubicBezTo>
                  <a:pt x="88190" y="93107"/>
                  <a:pt x="84193" y="93133"/>
                  <a:pt x="81748" y="90662"/>
                </a:cubicBezTo>
                <a:lnTo>
                  <a:pt x="67286" y="76200"/>
                </a:lnTo>
                <a:lnTo>
                  <a:pt x="52825" y="90662"/>
                </a:lnTo>
                <a:cubicBezTo>
                  <a:pt x="50353" y="93133"/>
                  <a:pt x="46356" y="93133"/>
                  <a:pt x="43911" y="90662"/>
                </a:cubicBezTo>
                <a:cubicBezTo>
                  <a:pt x="41466" y="88190"/>
                  <a:pt x="41439" y="84193"/>
                  <a:pt x="43911" y="81748"/>
                </a:cubicBezTo>
                <a:lnTo>
                  <a:pt x="58373" y="67286"/>
                </a:lnTo>
                <a:lnTo>
                  <a:pt x="43911" y="52825"/>
                </a:lnTo>
                <a:cubicBezTo>
                  <a:pt x="41439" y="50353"/>
                  <a:pt x="41439" y="46356"/>
                  <a:pt x="43911" y="4391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3" name="Text 11"/>
          <p:cNvSpPr/>
          <p:nvPr/>
        </p:nvSpPr>
        <p:spPr>
          <a:xfrm>
            <a:off x="780827" y="2463641"/>
            <a:ext cx="6137255" cy="218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缺乏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统一的资源命名规范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，不同开发者使用不同的命名风格，代码可读性差。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9929" y="2995417"/>
            <a:ext cx="7301737" cy="3860379"/>
          </a:xfrm>
          <a:custGeom>
            <a:avLst/>
            <a:gdLst/>
            <a:ahLst/>
            <a:cxnLst/>
            <a:rect l="l" t="t" r="r" b="b"/>
            <a:pathLst>
              <a:path w="7301737" h="3860379">
                <a:moveTo>
                  <a:pt x="100988" y="0"/>
                </a:moveTo>
                <a:lnTo>
                  <a:pt x="7200750" y="0"/>
                </a:lnTo>
                <a:cubicBezTo>
                  <a:pt x="7256524" y="0"/>
                  <a:pt x="7301737" y="45214"/>
                  <a:pt x="7301737" y="100988"/>
                </a:cubicBezTo>
                <a:lnTo>
                  <a:pt x="7301737" y="3759392"/>
                </a:lnTo>
                <a:cubicBezTo>
                  <a:pt x="7301737" y="3815166"/>
                  <a:pt x="7256524" y="3860379"/>
                  <a:pt x="7200750" y="3860379"/>
                </a:cubicBezTo>
                <a:lnTo>
                  <a:pt x="100988" y="3860379"/>
                </a:lnTo>
                <a:cubicBezTo>
                  <a:pt x="45214" y="3860379"/>
                  <a:pt x="0" y="3815166"/>
                  <a:pt x="0" y="3759392"/>
                </a:cubicBezTo>
                <a:lnTo>
                  <a:pt x="0" y="100988"/>
                </a:lnTo>
                <a:cubicBezTo>
                  <a:pt x="0" y="45251"/>
                  <a:pt x="45251" y="0"/>
                  <a:pt x="10098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1576" y="3167063"/>
            <a:ext cx="403876" cy="403876"/>
          </a:xfrm>
          <a:custGeom>
            <a:avLst/>
            <a:gdLst/>
            <a:ahLst/>
            <a:cxnLst/>
            <a:rect l="l" t="t" r="r" b="b"/>
            <a:pathLst>
              <a:path w="403876" h="403876">
                <a:moveTo>
                  <a:pt x="100969" y="0"/>
                </a:moveTo>
                <a:lnTo>
                  <a:pt x="302907" y="0"/>
                </a:lnTo>
                <a:cubicBezTo>
                  <a:pt x="358670" y="0"/>
                  <a:pt x="403876" y="45205"/>
                  <a:pt x="403876" y="100969"/>
                </a:cubicBezTo>
                <a:lnTo>
                  <a:pt x="403876" y="302907"/>
                </a:lnTo>
                <a:cubicBezTo>
                  <a:pt x="403876" y="358670"/>
                  <a:pt x="358670" y="403876"/>
                  <a:pt x="302907" y="403876"/>
                </a:cubicBezTo>
                <a:lnTo>
                  <a:pt x="100969" y="403876"/>
                </a:lnTo>
                <a:cubicBezTo>
                  <a:pt x="45205" y="403876"/>
                  <a:pt x="0" y="358670"/>
                  <a:pt x="0" y="302907"/>
                </a:cubicBezTo>
                <a:lnTo>
                  <a:pt x="0" y="100969"/>
                </a:lnTo>
                <a:cubicBezTo>
                  <a:pt x="0" y="45205"/>
                  <a:pt x="45205" y="0"/>
                  <a:pt x="10096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29373" y="3284860"/>
            <a:ext cx="168282" cy="168282"/>
          </a:xfrm>
          <a:custGeom>
            <a:avLst/>
            <a:gdLst/>
            <a:ahLst/>
            <a:cxnLst/>
            <a:rect l="l" t="t" r="r" b="b"/>
            <a:pathLst>
              <a:path w="168282" h="168282">
                <a:moveTo>
                  <a:pt x="84141" y="168282"/>
                </a:moveTo>
                <a:cubicBezTo>
                  <a:pt x="130579" y="168282"/>
                  <a:pt x="168282" y="130579"/>
                  <a:pt x="168282" y="84141"/>
                </a:cubicBezTo>
                <a:cubicBezTo>
                  <a:pt x="168282" y="37702"/>
                  <a:pt x="130579" y="0"/>
                  <a:pt x="84141" y="0"/>
                </a:cubicBezTo>
                <a:cubicBezTo>
                  <a:pt x="37702" y="0"/>
                  <a:pt x="0" y="37702"/>
                  <a:pt x="0" y="84141"/>
                </a:cubicBezTo>
                <a:cubicBezTo>
                  <a:pt x="0" y="130579"/>
                  <a:pt x="37702" y="168282"/>
                  <a:pt x="84141" y="168282"/>
                </a:cubicBezTo>
                <a:close/>
                <a:moveTo>
                  <a:pt x="111881" y="69909"/>
                </a:moveTo>
                <a:lnTo>
                  <a:pt x="85587" y="111980"/>
                </a:lnTo>
                <a:cubicBezTo>
                  <a:pt x="84207" y="114182"/>
                  <a:pt x="81840" y="115562"/>
                  <a:pt x="79244" y="115694"/>
                </a:cubicBezTo>
                <a:cubicBezTo>
                  <a:pt x="76647" y="115825"/>
                  <a:pt x="74149" y="114642"/>
                  <a:pt x="72604" y="112538"/>
                </a:cubicBezTo>
                <a:lnTo>
                  <a:pt x="56828" y="91503"/>
                </a:lnTo>
                <a:cubicBezTo>
                  <a:pt x="54198" y="88019"/>
                  <a:pt x="54922" y="83089"/>
                  <a:pt x="58406" y="80460"/>
                </a:cubicBezTo>
                <a:cubicBezTo>
                  <a:pt x="61889" y="77830"/>
                  <a:pt x="66820" y="78553"/>
                  <a:pt x="69449" y="82037"/>
                </a:cubicBezTo>
                <a:lnTo>
                  <a:pt x="78323" y="93870"/>
                </a:lnTo>
                <a:lnTo>
                  <a:pt x="98504" y="61561"/>
                </a:lnTo>
                <a:cubicBezTo>
                  <a:pt x="100805" y="57880"/>
                  <a:pt x="105669" y="56729"/>
                  <a:pt x="109383" y="59063"/>
                </a:cubicBezTo>
                <a:cubicBezTo>
                  <a:pt x="113097" y="61396"/>
                  <a:pt x="114215" y="66228"/>
                  <a:pt x="111881" y="6994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5"/>
          <p:cNvSpPr/>
          <p:nvPr/>
        </p:nvSpPr>
        <p:spPr>
          <a:xfrm>
            <a:off x="1016421" y="3234375"/>
            <a:ext cx="908720" cy="269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8404" y="3705564"/>
            <a:ext cx="6941615" cy="2406427"/>
          </a:xfrm>
          <a:custGeom>
            <a:avLst/>
            <a:gdLst/>
            <a:ahLst/>
            <a:cxnLst/>
            <a:rect l="l" t="t" r="r" b="b"/>
            <a:pathLst>
              <a:path w="6941615" h="2406427">
                <a:moveTo>
                  <a:pt x="33656" y="0"/>
                </a:moveTo>
                <a:lnTo>
                  <a:pt x="6874307" y="0"/>
                </a:lnTo>
                <a:cubicBezTo>
                  <a:pt x="6911480" y="0"/>
                  <a:pt x="6941615" y="30135"/>
                  <a:pt x="6941615" y="67308"/>
                </a:cubicBezTo>
                <a:lnTo>
                  <a:pt x="6941615" y="2339119"/>
                </a:lnTo>
                <a:cubicBezTo>
                  <a:pt x="6941615" y="2376292"/>
                  <a:pt x="6911480" y="2406427"/>
                  <a:pt x="6874307" y="2406427"/>
                </a:cubicBezTo>
                <a:lnTo>
                  <a:pt x="33656" y="2406427"/>
                </a:lnTo>
                <a:cubicBezTo>
                  <a:pt x="15068" y="2406427"/>
                  <a:pt x="0" y="2391358"/>
                  <a:pt x="0" y="2372770"/>
                </a:cubicBezTo>
                <a:lnTo>
                  <a:pt x="0" y="33656"/>
                </a:lnTo>
                <a:cubicBezTo>
                  <a:pt x="0" y="15081"/>
                  <a:pt x="15081" y="0"/>
                  <a:pt x="336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28404" y="3705564"/>
            <a:ext cx="33656" cy="2406427"/>
          </a:xfrm>
          <a:custGeom>
            <a:avLst/>
            <a:gdLst/>
            <a:ahLst/>
            <a:cxnLst/>
            <a:rect l="l" t="t" r="r" b="b"/>
            <a:pathLst>
              <a:path w="33656" h="2406427">
                <a:moveTo>
                  <a:pt x="33656" y="0"/>
                </a:moveTo>
                <a:lnTo>
                  <a:pt x="33656" y="0"/>
                </a:lnTo>
                <a:lnTo>
                  <a:pt x="33656" y="2406427"/>
                </a:lnTo>
                <a:lnTo>
                  <a:pt x="33656" y="2406427"/>
                </a:lnTo>
                <a:cubicBezTo>
                  <a:pt x="15068" y="2406427"/>
                  <a:pt x="0" y="2391358"/>
                  <a:pt x="0" y="2372770"/>
                </a:cubicBezTo>
                <a:lnTo>
                  <a:pt x="0" y="33656"/>
                </a:lnTo>
                <a:cubicBezTo>
                  <a:pt x="0" y="15081"/>
                  <a:pt x="15081" y="0"/>
                  <a:pt x="33656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0" name="Shape 18"/>
          <p:cNvSpPr/>
          <p:nvPr/>
        </p:nvSpPr>
        <p:spPr>
          <a:xfrm>
            <a:off x="696686" y="3873845"/>
            <a:ext cx="134625" cy="134625"/>
          </a:xfrm>
          <a:custGeom>
            <a:avLst/>
            <a:gdLst/>
            <a:ahLst/>
            <a:cxnLst/>
            <a:rect l="l" t="t" r="r" b="b"/>
            <a:pathLst>
              <a:path w="134625" h="134625">
                <a:moveTo>
                  <a:pt x="0" y="18932"/>
                </a:moveTo>
                <a:cubicBezTo>
                  <a:pt x="0" y="15461"/>
                  <a:pt x="2813" y="12621"/>
                  <a:pt x="6311" y="12621"/>
                </a:cubicBezTo>
                <a:lnTo>
                  <a:pt x="18932" y="12621"/>
                </a:lnTo>
                <a:cubicBezTo>
                  <a:pt x="22429" y="12621"/>
                  <a:pt x="25242" y="15435"/>
                  <a:pt x="25242" y="18932"/>
                </a:cubicBezTo>
                <a:lnTo>
                  <a:pt x="25242" y="46277"/>
                </a:lnTo>
                <a:lnTo>
                  <a:pt x="31553" y="46277"/>
                </a:lnTo>
                <a:cubicBezTo>
                  <a:pt x="35050" y="46277"/>
                  <a:pt x="37863" y="49091"/>
                  <a:pt x="37863" y="52588"/>
                </a:cubicBezTo>
                <a:cubicBezTo>
                  <a:pt x="37863" y="56085"/>
                  <a:pt x="35050" y="58899"/>
                  <a:pt x="31553" y="58899"/>
                </a:cubicBezTo>
                <a:lnTo>
                  <a:pt x="6311" y="58899"/>
                </a:lnTo>
                <a:cubicBezTo>
                  <a:pt x="2813" y="58899"/>
                  <a:pt x="0" y="56085"/>
                  <a:pt x="0" y="52588"/>
                </a:cubicBezTo>
                <a:cubicBezTo>
                  <a:pt x="0" y="49091"/>
                  <a:pt x="2813" y="46277"/>
                  <a:pt x="6311" y="46277"/>
                </a:cubicBezTo>
                <a:lnTo>
                  <a:pt x="12621" y="46277"/>
                </a:lnTo>
                <a:lnTo>
                  <a:pt x="12621" y="25242"/>
                </a:lnTo>
                <a:lnTo>
                  <a:pt x="6311" y="25242"/>
                </a:lnTo>
                <a:cubicBezTo>
                  <a:pt x="2813" y="25242"/>
                  <a:pt x="0" y="22429"/>
                  <a:pt x="0" y="18932"/>
                </a:cubicBezTo>
                <a:close/>
                <a:moveTo>
                  <a:pt x="7993" y="79198"/>
                </a:moveTo>
                <a:cubicBezTo>
                  <a:pt x="10991" y="76936"/>
                  <a:pt x="14646" y="75727"/>
                  <a:pt x="18406" y="75727"/>
                </a:cubicBezTo>
                <a:lnTo>
                  <a:pt x="19694" y="75727"/>
                </a:lnTo>
                <a:cubicBezTo>
                  <a:pt x="28555" y="75727"/>
                  <a:pt x="35760" y="82931"/>
                  <a:pt x="35760" y="91792"/>
                </a:cubicBezTo>
                <a:cubicBezTo>
                  <a:pt x="35760" y="96946"/>
                  <a:pt x="33288" y="101758"/>
                  <a:pt x="29134" y="104782"/>
                </a:cubicBezTo>
                <a:lnTo>
                  <a:pt x="22823" y="109383"/>
                </a:lnTo>
                <a:lnTo>
                  <a:pt x="31553" y="109383"/>
                </a:lnTo>
                <a:cubicBezTo>
                  <a:pt x="35050" y="109383"/>
                  <a:pt x="37863" y="112196"/>
                  <a:pt x="37863" y="115694"/>
                </a:cubicBezTo>
                <a:cubicBezTo>
                  <a:pt x="37863" y="119191"/>
                  <a:pt x="35050" y="122004"/>
                  <a:pt x="31553" y="122004"/>
                </a:cubicBezTo>
                <a:lnTo>
                  <a:pt x="7704" y="122004"/>
                </a:lnTo>
                <a:cubicBezTo>
                  <a:pt x="3445" y="122004"/>
                  <a:pt x="0" y="118560"/>
                  <a:pt x="0" y="114300"/>
                </a:cubicBezTo>
                <a:cubicBezTo>
                  <a:pt x="0" y="111828"/>
                  <a:pt x="1183" y="109514"/>
                  <a:pt x="3182" y="108068"/>
                </a:cubicBezTo>
                <a:lnTo>
                  <a:pt x="21719" y="94580"/>
                </a:lnTo>
                <a:cubicBezTo>
                  <a:pt x="22613" y="93922"/>
                  <a:pt x="23139" y="92897"/>
                  <a:pt x="23139" y="91792"/>
                </a:cubicBezTo>
                <a:cubicBezTo>
                  <a:pt x="23139" y="89899"/>
                  <a:pt x="21587" y="88348"/>
                  <a:pt x="19694" y="88348"/>
                </a:cubicBezTo>
                <a:lnTo>
                  <a:pt x="18406" y="88348"/>
                </a:lnTo>
                <a:cubicBezTo>
                  <a:pt x="17380" y="88348"/>
                  <a:pt x="16381" y="88690"/>
                  <a:pt x="15566" y="89294"/>
                </a:cubicBezTo>
                <a:lnTo>
                  <a:pt x="10097" y="93396"/>
                </a:lnTo>
                <a:cubicBezTo>
                  <a:pt x="7310" y="95500"/>
                  <a:pt x="3366" y="94921"/>
                  <a:pt x="1262" y="92134"/>
                </a:cubicBezTo>
                <a:cubicBezTo>
                  <a:pt x="-841" y="89347"/>
                  <a:pt x="-263" y="85403"/>
                  <a:pt x="2524" y="83299"/>
                </a:cubicBezTo>
                <a:lnTo>
                  <a:pt x="7993" y="79198"/>
                </a:lnTo>
                <a:close/>
                <a:moveTo>
                  <a:pt x="58899" y="16828"/>
                </a:moveTo>
                <a:lnTo>
                  <a:pt x="126211" y="16828"/>
                </a:lnTo>
                <a:cubicBezTo>
                  <a:pt x="130865" y="16828"/>
                  <a:pt x="134625" y="20588"/>
                  <a:pt x="134625" y="25242"/>
                </a:cubicBezTo>
                <a:cubicBezTo>
                  <a:pt x="134625" y="29896"/>
                  <a:pt x="130865" y="33656"/>
                  <a:pt x="126211" y="33656"/>
                </a:cubicBezTo>
                <a:lnTo>
                  <a:pt x="58899" y="33656"/>
                </a:lnTo>
                <a:cubicBezTo>
                  <a:pt x="54245" y="33656"/>
                  <a:pt x="50484" y="29896"/>
                  <a:pt x="50484" y="25242"/>
                </a:cubicBezTo>
                <a:cubicBezTo>
                  <a:pt x="50484" y="20588"/>
                  <a:pt x="54245" y="16828"/>
                  <a:pt x="58899" y="16828"/>
                </a:cubicBezTo>
                <a:close/>
                <a:moveTo>
                  <a:pt x="58899" y="58899"/>
                </a:moveTo>
                <a:lnTo>
                  <a:pt x="126211" y="58899"/>
                </a:lnTo>
                <a:cubicBezTo>
                  <a:pt x="130865" y="58899"/>
                  <a:pt x="134625" y="62659"/>
                  <a:pt x="134625" y="67313"/>
                </a:cubicBezTo>
                <a:cubicBezTo>
                  <a:pt x="134625" y="71967"/>
                  <a:pt x="130865" y="75727"/>
                  <a:pt x="126211" y="75727"/>
                </a:cubicBezTo>
                <a:lnTo>
                  <a:pt x="58899" y="75727"/>
                </a:lnTo>
                <a:cubicBezTo>
                  <a:pt x="54245" y="75727"/>
                  <a:pt x="50484" y="71967"/>
                  <a:pt x="50484" y="67313"/>
                </a:cubicBezTo>
                <a:cubicBezTo>
                  <a:pt x="50484" y="62659"/>
                  <a:pt x="54245" y="58899"/>
                  <a:pt x="58899" y="58899"/>
                </a:cubicBezTo>
                <a:close/>
                <a:moveTo>
                  <a:pt x="58899" y="100969"/>
                </a:moveTo>
                <a:lnTo>
                  <a:pt x="126211" y="100969"/>
                </a:lnTo>
                <a:cubicBezTo>
                  <a:pt x="130865" y="100969"/>
                  <a:pt x="134625" y="104729"/>
                  <a:pt x="134625" y="109383"/>
                </a:cubicBezTo>
                <a:cubicBezTo>
                  <a:pt x="134625" y="114037"/>
                  <a:pt x="130865" y="117797"/>
                  <a:pt x="126211" y="117797"/>
                </a:cubicBezTo>
                <a:lnTo>
                  <a:pt x="58899" y="117797"/>
                </a:lnTo>
                <a:cubicBezTo>
                  <a:pt x="54245" y="117797"/>
                  <a:pt x="50484" y="114037"/>
                  <a:pt x="50484" y="109383"/>
                </a:cubicBezTo>
                <a:cubicBezTo>
                  <a:pt x="50484" y="104729"/>
                  <a:pt x="54245" y="100969"/>
                  <a:pt x="58899" y="10096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1" name="Text 19"/>
          <p:cNvSpPr/>
          <p:nvPr/>
        </p:nvSpPr>
        <p:spPr>
          <a:xfrm>
            <a:off x="915452" y="3840189"/>
            <a:ext cx="1435546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ResourceIds常量类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9858" y="4109439"/>
            <a:ext cx="6722849" cy="218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</a:t>
            </a: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ResourceIds</a:t>
            </a:r>
            <a:r>
              <a:rPr lang="en-US" sz="106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常量类，集中管理所有UI和资源ID，消除魔法字符串。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9858" y="4429174"/>
            <a:ext cx="6655536" cy="1548190"/>
          </a:xfrm>
          <a:custGeom>
            <a:avLst/>
            <a:gdLst/>
            <a:ahLst/>
            <a:cxnLst/>
            <a:rect l="l" t="t" r="r" b="b"/>
            <a:pathLst>
              <a:path w="6655536" h="1548190">
                <a:moveTo>
                  <a:pt x="67315" y="0"/>
                </a:moveTo>
                <a:lnTo>
                  <a:pt x="6588221" y="0"/>
                </a:lnTo>
                <a:cubicBezTo>
                  <a:pt x="6625398" y="0"/>
                  <a:pt x="6655536" y="30138"/>
                  <a:pt x="6655536" y="67315"/>
                </a:cubicBezTo>
                <a:lnTo>
                  <a:pt x="6655536" y="1480875"/>
                </a:lnTo>
                <a:cubicBezTo>
                  <a:pt x="6655536" y="1518052"/>
                  <a:pt x="6625398" y="1548190"/>
                  <a:pt x="6588221" y="1548190"/>
                </a:cubicBezTo>
                <a:lnTo>
                  <a:pt x="67315" y="1548190"/>
                </a:lnTo>
                <a:cubicBezTo>
                  <a:pt x="30138" y="1548190"/>
                  <a:pt x="0" y="1518052"/>
                  <a:pt x="0" y="1480875"/>
                </a:cubicBezTo>
                <a:lnTo>
                  <a:pt x="0" y="67315"/>
                </a:lnTo>
                <a:cubicBezTo>
                  <a:pt x="0" y="30163"/>
                  <a:pt x="30163" y="0"/>
                  <a:pt x="67315" y="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24" name="Text 22"/>
          <p:cNvSpPr/>
          <p:nvPr/>
        </p:nvSpPr>
        <p:spPr>
          <a:xfrm>
            <a:off x="780827" y="4530143"/>
            <a:ext cx="651249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资源ID常量定义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0827" y="4698425"/>
            <a:ext cx="651249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static class ResourceIds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0827" y="4866706"/>
            <a:ext cx="651249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0827" y="5034988"/>
            <a:ext cx="6512497" cy="168282"/>
          </a:xfrm>
          <a:prstGeom prst="rect">
            <a:avLst/>
          </a:prstGeom>
          <a:noFill/>
        </p:spPr>
        <p:txBody>
          <a:bodyPr wrap="square" lIns="134625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const string UI_START_MENU = "StartMenuUI";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0827" y="5203270"/>
            <a:ext cx="6512497" cy="168282"/>
          </a:xfrm>
          <a:prstGeom prst="rect">
            <a:avLst/>
          </a:prstGeom>
          <a:noFill/>
        </p:spPr>
        <p:txBody>
          <a:bodyPr wrap="square" lIns="134625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const string UI_SETTINGS = "SettingsUI";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0827" y="5371551"/>
            <a:ext cx="6512497" cy="168282"/>
          </a:xfrm>
          <a:prstGeom prst="rect">
            <a:avLst/>
          </a:prstGeom>
          <a:noFill/>
        </p:spPr>
        <p:txBody>
          <a:bodyPr wrap="square" lIns="134625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const string UI_PAUSE_MENU = "PauseMenuUI";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0827" y="5539833"/>
            <a:ext cx="6512497" cy="168282"/>
          </a:xfrm>
          <a:prstGeom prst="rect">
            <a:avLst/>
          </a:prstGeom>
          <a:noFill/>
        </p:spPr>
        <p:txBody>
          <a:bodyPr wrap="square" lIns="134625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... 其他资源ID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0827" y="5708114"/>
            <a:ext cx="651249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19098" y="1114024"/>
            <a:ext cx="4028661" cy="2800205"/>
          </a:xfrm>
          <a:custGeom>
            <a:avLst/>
            <a:gdLst/>
            <a:ahLst/>
            <a:cxnLst/>
            <a:rect l="l" t="t" r="r" b="b"/>
            <a:pathLst>
              <a:path w="4028661" h="2800205">
                <a:moveTo>
                  <a:pt x="100975" y="0"/>
                </a:moveTo>
                <a:lnTo>
                  <a:pt x="3927685" y="0"/>
                </a:lnTo>
                <a:cubicBezTo>
                  <a:pt x="3983453" y="0"/>
                  <a:pt x="4028661" y="45208"/>
                  <a:pt x="4028661" y="100975"/>
                </a:cubicBezTo>
                <a:lnTo>
                  <a:pt x="4028661" y="2699230"/>
                </a:lnTo>
                <a:cubicBezTo>
                  <a:pt x="4028661" y="2754997"/>
                  <a:pt x="3983453" y="2800205"/>
                  <a:pt x="3927685" y="2800205"/>
                </a:cubicBezTo>
                <a:lnTo>
                  <a:pt x="100975" y="2800205"/>
                </a:lnTo>
                <a:cubicBezTo>
                  <a:pt x="45208" y="2800205"/>
                  <a:pt x="0" y="2754997"/>
                  <a:pt x="0" y="2699230"/>
                </a:cubicBezTo>
                <a:lnTo>
                  <a:pt x="0" y="100975"/>
                </a:lnTo>
                <a:cubicBezTo>
                  <a:pt x="0" y="45208"/>
                  <a:pt x="45208" y="0"/>
                  <a:pt x="10097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90745" y="1285670"/>
            <a:ext cx="403876" cy="403876"/>
          </a:xfrm>
          <a:custGeom>
            <a:avLst/>
            <a:gdLst/>
            <a:ahLst/>
            <a:cxnLst/>
            <a:rect l="l" t="t" r="r" b="b"/>
            <a:pathLst>
              <a:path w="403876" h="403876">
                <a:moveTo>
                  <a:pt x="100969" y="0"/>
                </a:moveTo>
                <a:lnTo>
                  <a:pt x="302907" y="0"/>
                </a:lnTo>
                <a:cubicBezTo>
                  <a:pt x="358670" y="0"/>
                  <a:pt x="403876" y="45205"/>
                  <a:pt x="403876" y="100969"/>
                </a:cubicBezTo>
                <a:lnTo>
                  <a:pt x="403876" y="302907"/>
                </a:lnTo>
                <a:cubicBezTo>
                  <a:pt x="403876" y="358670"/>
                  <a:pt x="358670" y="403876"/>
                  <a:pt x="302907" y="403876"/>
                </a:cubicBezTo>
                <a:lnTo>
                  <a:pt x="100969" y="403876"/>
                </a:lnTo>
                <a:cubicBezTo>
                  <a:pt x="45205" y="403876"/>
                  <a:pt x="0" y="358670"/>
                  <a:pt x="0" y="302907"/>
                </a:cubicBezTo>
                <a:lnTo>
                  <a:pt x="0" y="100969"/>
                </a:lnTo>
                <a:cubicBezTo>
                  <a:pt x="0" y="45205"/>
                  <a:pt x="45205" y="0"/>
                  <a:pt x="10096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108542" y="1403467"/>
            <a:ext cx="168282" cy="168282"/>
          </a:xfrm>
          <a:custGeom>
            <a:avLst/>
            <a:gdLst/>
            <a:ahLst/>
            <a:cxnLst/>
            <a:rect l="l" t="t" r="r" b="b"/>
            <a:pathLst>
              <a:path w="168282" h="168282">
                <a:moveTo>
                  <a:pt x="76417" y="1709"/>
                </a:moveTo>
                <a:cubicBezTo>
                  <a:pt x="81314" y="-559"/>
                  <a:pt x="86967" y="-559"/>
                  <a:pt x="91865" y="1709"/>
                </a:cubicBezTo>
                <a:lnTo>
                  <a:pt x="163713" y="34905"/>
                </a:lnTo>
                <a:cubicBezTo>
                  <a:pt x="166507" y="36187"/>
                  <a:pt x="168282" y="38981"/>
                  <a:pt x="168282" y="42070"/>
                </a:cubicBezTo>
                <a:cubicBezTo>
                  <a:pt x="168282" y="45160"/>
                  <a:pt x="166507" y="47954"/>
                  <a:pt x="163713" y="49236"/>
                </a:cubicBezTo>
                <a:lnTo>
                  <a:pt x="91865" y="82432"/>
                </a:lnTo>
                <a:cubicBezTo>
                  <a:pt x="86967" y="84700"/>
                  <a:pt x="81314" y="84700"/>
                  <a:pt x="76417" y="82432"/>
                </a:cubicBezTo>
                <a:lnTo>
                  <a:pt x="4569" y="49236"/>
                </a:lnTo>
                <a:cubicBezTo>
                  <a:pt x="1775" y="47921"/>
                  <a:pt x="0" y="45127"/>
                  <a:pt x="0" y="42070"/>
                </a:cubicBezTo>
                <a:cubicBezTo>
                  <a:pt x="0" y="39014"/>
                  <a:pt x="1775" y="36187"/>
                  <a:pt x="4569" y="34905"/>
                </a:cubicBezTo>
                <a:lnTo>
                  <a:pt x="76417" y="1709"/>
                </a:lnTo>
                <a:close/>
                <a:moveTo>
                  <a:pt x="15809" y="71783"/>
                </a:moveTo>
                <a:lnTo>
                  <a:pt x="69811" y="96729"/>
                </a:lnTo>
                <a:cubicBezTo>
                  <a:pt x="78915" y="100936"/>
                  <a:pt x="89400" y="100936"/>
                  <a:pt x="98504" y="96729"/>
                </a:cubicBezTo>
                <a:lnTo>
                  <a:pt x="152505" y="71783"/>
                </a:lnTo>
                <a:lnTo>
                  <a:pt x="163713" y="76976"/>
                </a:lnTo>
                <a:cubicBezTo>
                  <a:pt x="166507" y="78258"/>
                  <a:pt x="168282" y="81051"/>
                  <a:pt x="168282" y="84141"/>
                </a:cubicBezTo>
                <a:cubicBezTo>
                  <a:pt x="168282" y="87230"/>
                  <a:pt x="166507" y="90024"/>
                  <a:pt x="163713" y="91306"/>
                </a:cubicBezTo>
                <a:lnTo>
                  <a:pt x="91865" y="124502"/>
                </a:lnTo>
                <a:cubicBezTo>
                  <a:pt x="86967" y="126770"/>
                  <a:pt x="81314" y="126770"/>
                  <a:pt x="76417" y="124502"/>
                </a:cubicBezTo>
                <a:lnTo>
                  <a:pt x="4569" y="91306"/>
                </a:lnTo>
                <a:cubicBezTo>
                  <a:pt x="1775" y="89991"/>
                  <a:pt x="0" y="87197"/>
                  <a:pt x="0" y="84141"/>
                </a:cubicBezTo>
                <a:cubicBezTo>
                  <a:pt x="0" y="81084"/>
                  <a:pt x="1775" y="78258"/>
                  <a:pt x="4569" y="76976"/>
                </a:cubicBezTo>
                <a:lnTo>
                  <a:pt x="15776" y="71783"/>
                </a:lnTo>
                <a:close/>
                <a:moveTo>
                  <a:pt x="4569" y="119046"/>
                </a:moveTo>
                <a:lnTo>
                  <a:pt x="15776" y="113853"/>
                </a:lnTo>
                <a:lnTo>
                  <a:pt x="69778" y="138799"/>
                </a:lnTo>
                <a:cubicBezTo>
                  <a:pt x="78882" y="143006"/>
                  <a:pt x="89367" y="143006"/>
                  <a:pt x="98471" y="138799"/>
                </a:cubicBezTo>
                <a:lnTo>
                  <a:pt x="152472" y="113853"/>
                </a:lnTo>
                <a:lnTo>
                  <a:pt x="163680" y="119046"/>
                </a:lnTo>
                <a:cubicBezTo>
                  <a:pt x="166474" y="120328"/>
                  <a:pt x="168249" y="123122"/>
                  <a:pt x="168249" y="126211"/>
                </a:cubicBezTo>
                <a:cubicBezTo>
                  <a:pt x="168249" y="129301"/>
                  <a:pt x="166474" y="132094"/>
                  <a:pt x="163680" y="133376"/>
                </a:cubicBezTo>
                <a:lnTo>
                  <a:pt x="91832" y="166572"/>
                </a:lnTo>
                <a:cubicBezTo>
                  <a:pt x="86935" y="168840"/>
                  <a:pt x="81281" y="168840"/>
                  <a:pt x="76384" y="166572"/>
                </a:cubicBezTo>
                <a:lnTo>
                  <a:pt x="4569" y="133376"/>
                </a:lnTo>
                <a:cubicBezTo>
                  <a:pt x="1775" y="132062"/>
                  <a:pt x="0" y="129268"/>
                  <a:pt x="0" y="126211"/>
                </a:cubicBezTo>
                <a:cubicBezTo>
                  <a:pt x="0" y="123155"/>
                  <a:pt x="1775" y="120328"/>
                  <a:pt x="4569" y="11904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5" name="Text 33"/>
          <p:cNvSpPr/>
          <p:nvPr/>
        </p:nvSpPr>
        <p:spPr>
          <a:xfrm>
            <a:off x="8495590" y="1369810"/>
            <a:ext cx="757267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改进效果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90745" y="1824171"/>
            <a:ext cx="269251" cy="269251"/>
          </a:xfrm>
          <a:custGeom>
            <a:avLst/>
            <a:gdLst/>
            <a:ahLst/>
            <a:cxnLst/>
            <a:rect l="l" t="t" r="r" b="b"/>
            <a:pathLst>
              <a:path w="269251" h="269251">
                <a:moveTo>
                  <a:pt x="67313" y="0"/>
                </a:moveTo>
                <a:lnTo>
                  <a:pt x="201938" y="0"/>
                </a:lnTo>
                <a:cubicBezTo>
                  <a:pt x="239089" y="0"/>
                  <a:pt x="269251" y="30162"/>
                  <a:pt x="269251" y="67313"/>
                </a:cubicBezTo>
                <a:lnTo>
                  <a:pt x="269251" y="201938"/>
                </a:lnTo>
                <a:cubicBezTo>
                  <a:pt x="269251" y="239089"/>
                  <a:pt x="239089" y="269251"/>
                  <a:pt x="201938" y="269251"/>
                </a:cubicBezTo>
                <a:lnTo>
                  <a:pt x="67313" y="269251"/>
                </a:lnTo>
                <a:cubicBezTo>
                  <a:pt x="30162" y="269251"/>
                  <a:pt x="0" y="239089"/>
                  <a:pt x="0" y="201938"/>
                </a:cubicBezTo>
                <a:lnTo>
                  <a:pt x="0" y="67313"/>
                </a:lnTo>
                <a:cubicBezTo>
                  <a:pt x="0" y="30162"/>
                  <a:pt x="30162" y="0"/>
                  <a:pt x="6731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8075938" y="1899897"/>
            <a:ext cx="103072" cy="117797"/>
          </a:xfrm>
          <a:custGeom>
            <a:avLst/>
            <a:gdLst/>
            <a:ahLst/>
            <a:cxnLst/>
            <a:rect l="l" t="t" r="r" b="b"/>
            <a:pathLst>
              <a:path w="103072" h="117797">
                <a:moveTo>
                  <a:pt x="100036" y="16128"/>
                </a:moveTo>
                <a:cubicBezTo>
                  <a:pt x="103326" y="18521"/>
                  <a:pt x="104062" y="23122"/>
                  <a:pt x="101669" y="26412"/>
                </a:cubicBezTo>
                <a:lnTo>
                  <a:pt x="42770" y="107398"/>
                </a:lnTo>
                <a:cubicBezTo>
                  <a:pt x="41505" y="109146"/>
                  <a:pt x="39549" y="110228"/>
                  <a:pt x="37387" y="110412"/>
                </a:cubicBezTo>
                <a:cubicBezTo>
                  <a:pt x="35224" y="110596"/>
                  <a:pt x="33130" y="109791"/>
                  <a:pt x="31612" y="108272"/>
                </a:cubicBezTo>
                <a:lnTo>
                  <a:pt x="2163" y="78823"/>
                </a:lnTo>
                <a:cubicBezTo>
                  <a:pt x="-713" y="75947"/>
                  <a:pt x="-713" y="71276"/>
                  <a:pt x="2163" y="68401"/>
                </a:cubicBezTo>
                <a:cubicBezTo>
                  <a:pt x="5039" y="65525"/>
                  <a:pt x="9709" y="65525"/>
                  <a:pt x="12585" y="68401"/>
                </a:cubicBezTo>
                <a:lnTo>
                  <a:pt x="35937" y="91753"/>
                </a:lnTo>
                <a:lnTo>
                  <a:pt x="89774" y="17739"/>
                </a:lnTo>
                <a:cubicBezTo>
                  <a:pt x="92167" y="14449"/>
                  <a:pt x="96768" y="13712"/>
                  <a:pt x="100059" y="1610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8" name="Text 36"/>
          <p:cNvSpPr/>
          <p:nvPr/>
        </p:nvSpPr>
        <p:spPr>
          <a:xfrm>
            <a:off x="8360965" y="1824171"/>
            <a:ext cx="2069863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集中管理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60965" y="2059765"/>
            <a:ext cx="3164085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所有资源ID集中定义，便于查找和修改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90745" y="2329015"/>
            <a:ext cx="269251" cy="269251"/>
          </a:xfrm>
          <a:custGeom>
            <a:avLst/>
            <a:gdLst/>
            <a:ahLst/>
            <a:cxnLst/>
            <a:rect l="l" t="t" r="r" b="b"/>
            <a:pathLst>
              <a:path w="269251" h="269251">
                <a:moveTo>
                  <a:pt x="67313" y="0"/>
                </a:moveTo>
                <a:lnTo>
                  <a:pt x="201938" y="0"/>
                </a:lnTo>
                <a:cubicBezTo>
                  <a:pt x="239089" y="0"/>
                  <a:pt x="269251" y="30162"/>
                  <a:pt x="269251" y="67313"/>
                </a:cubicBezTo>
                <a:lnTo>
                  <a:pt x="269251" y="201938"/>
                </a:lnTo>
                <a:cubicBezTo>
                  <a:pt x="269251" y="239089"/>
                  <a:pt x="239089" y="269251"/>
                  <a:pt x="201938" y="269251"/>
                </a:cubicBezTo>
                <a:lnTo>
                  <a:pt x="67313" y="269251"/>
                </a:lnTo>
                <a:cubicBezTo>
                  <a:pt x="30162" y="269251"/>
                  <a:pt x="0" y="239089"/>
                  <a:pt x="0" y="201938"/>
                </a:cubicBezTo>
                <a:lnTo>
                  <a:pt x="0" y="67313"/>
                </a:lnTo>
                <a:cubicBezTo>
                  <a:pt x="0" y="30162"/>
                  <a:pt x="30162" y="0"/>
                  <a:pt x="6731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8075938" y="2404742"/>
            <a:ext cx="103072" cy="117797"/>
          </a:xfrm>
          <a:custGeom>
            <a:avLst/>
            <a:gdLst/>
            <a:ahLst/>
            <a:cxnLst/>
            <a:rect l="l" t="t" r="r" b="b"/>
            <a:pathLst>
              <a:path w="103072" h="117797">
                <a:moveTo>
                  <a:pt x="100036" y="16128"/>
                </a:moveTo>
                <a:cubicBezTo>
                  <a:pt x="103326" y="18521"/>
                  <a:pt x="104062" y="23122"/>
                  <a:pt x="101669" y="26412"/>
                </a:cubicBezTo>
                <a:lnTo>
                  <a:pt x="42770" y="107398"/>
                </a:lnTo>
                <a:cubicBezTo>
                  <a:pt x="41505" y="109146"/>
                  <a:pt x="39549" y="110228"/>
                  <a:pt x="37387" y="110412"/>
                </a:cubicBezTo>
                <a:cubicBezTo>
                  <a:pt x="35224" y="110596"/>
                  <a:pt x="33130" y="109791"/>
                  <a:pt x="31612" y="108272"/>
                </a:cubicBezTo>
                <a:lnTo>
                  <a:pt x="2163" y="78823"/>
                </a:lnTo>
                <a:cubicBezTo>
                  <a:pt x="-713" y="75947"/>
                  <a:pt x="-713" y="71276"/>
                  <a:pt x="2163" y="68401"/>
                </a:cubicBezTo>
                <a:cubicBezTo>
                  <a:pt x="5039" y="65525"/>
                  <a:pt x="9709" y="65525"/>
                  <a:pt x="12585" y="68401"/>
                </a:cubicBezTo>
                <a:lnTo>
                  <a:pt x="35937" y="91753"/>
                </a:lnTo>
                <a:lnTo>
                  <a:pt x="89774" y="17739"/>
                </a:lnTo>
                <a:cubicBezTo>
                  <a:pt x="92167" y="14449"/>
                  <a:pt x="96768" y="13712"/>
                  <a:pt x="100059" y="1610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2" name="Text 40"/>
          <p:cNvSpPr/>
          <p:nvPr/>
        </p:nvSpPr>
        <p:spPr>
          <a:xfrm>
            <a:off x="8360965" y="2329015"/>
            <a:ext cx="2187660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编译期检查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60965" y="2564610"/>
            <a:ext cx="291433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使用常量替代字符串，编译器可检查错误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990745" y="2833860"/>
            <a:ext cx="269251" cy="269251"/>
          </a:xfrm>
          <a:custGeom>
            <a:avLst/>
            <a:gdLst/>
            <a:ahLst/>
            <a:cxnLst/>
            <a:rect l="l" t="t" r="r" b="b"/>
            <a:pathLst>
              <a:path w="269251" h="269251">
                <a:moveTo>
                  <a:pt x="67313" y="0"/>
                </a:moveTo>
                <a:lnTo>
                  <a:pt x="201938" y="0"/>
                </a:lnTo>
                <a:cubicBezTo>
                  <a:pt x="239089" y="0"/>
                  <a:pt x="269251" y="30162"/>
                  <a:pt x="269251" y="67313"/>
                </a:cubicBezTo>
                <a:lnTo>
                  <a:pt x="269251" y="201938"/>
                </a:lnTo>
                <a:cubicBezTo>
                  <a:pt x="269251" y="239089"/>
                  <a:pt x="239089" y="269251"/>
                  <a:pt x="201938" y="269251"/>
                </a:cubicBezTo>
                <a:lnTo>
                  <a:pt x="67313" y="269251"/>
                </a:lnTo>
                <a:cubicBezTo>
                  <a:pt x="30162" y="269251"/>
                  <a:pt x="0" y="239089"/>
                  <a:pt x="0" y="201938"/>
                </a:cubicBezTo>
                <a:lnTo>
                  <a:pt x="0" y="67313"/>
                </a:lnTo>
                <a:cubicBezTo>
                  <a:pt x="0" y="30162"/>
                  <a:pt x="30162" y="0"/>
                  <a:pt x="6731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8075938" y="2909587"/>
            <a:ext cx="103072" cy="117797"/>
          </a:xfrm>
          <a:custGeom>
            <a:avLst/>
            <a:gdLst/>
            <a:ahLst/>
            <a:cxnLst/>
            <a:rect l="l" t="t" r="r" b="b"/>
            <a:pathLst>
              <a:path w="103072" h="117797">
                <a:moveTo>
                  <a:pt x="100036" y="16128"/>
                </a:moveTo>
                <a:cubicBezTo>
                  <a:pt x="103326" y="18521"/>
                  <a:pt x="104062" y="23122"/>
                  <a:pt x="101669" y="26412"/>
                </a:cubicBezTo>
                <a:lnTo>
                  <a:pt x="42770" y="107398"/>
                </a:lnTo>
                <a:cubicBezTo>
                  <a:pt x="41505" y="109146"/>
                  <a:pt x="39549" y="110228"/>
                  <a:pt x="37387" y="110412"/>
                </a:cubicBezTo>
                <a:cubicBezTo>
                  <a:pt x="35224" y="110596"/>
                  <a:pt x="33130" y="109791"/>
                  <a:pt x="31612" y="108272"/>
                </a:cubicBezTo>
                <a:lnTo>
                  <a:pt x="2163" y="78823"/>
                </a:lnTo>
                <a:cubicBezTo>
                  <a:pt x="-713" y="75947"/>
                  <a:pt x="-713" y="71276"/>
                  <a:pt x="2163" y="68401"/>
                </a:cubicBezTo>
                <a:cubicBezTo>
                  <a:pt x="5039" y="65525"/>
                  <a:pt x="9709" y="65525"/>
                  <a:pt x="12585" y="68401"/>
                </a:cubicBezTo>
                <a:lnTo>
                  <a:pt x="35937" y="91753"/>
                </a:lnTo>
                <a:lnTo>
                  <a:pt x="89774" y="17739"/>
                </a:lnTo>
                <a:cubicBezTo>
                  <a:pt x="92167" y="14449"/>
                  <a:pt x="96768" y="13712"/>
                  <a:pt x="100059" y="1610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6" name="Text 44"/>
          <p:cNvSpPr/>
          <p:nvPr/>
        </p:nvSpPr>
        <p:spPr>
          <a:xfrm>
            <a:off x="8360965" y="2833860"/>
            <a:ext cx="1716472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命名规范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60965" y="3069454"/>
            <a:ext cx="2503156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统一命名风格，提升代码可读性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990745" y="3338705"/>
            <a:ext cx="269251" cy="269251"/>
          </a:xfrm>
          <a:custGeom>
            <a:avLst/>
            <a:gdLst/>
            <a:ahLst/>
            <a:cxnLst/>
            <a:rect l="l" t="t" r="r" b="b"/>
            <a:pathLst>
              <a:path w="269251" h="269251">
                <a:moveTo>
                  <a:pt x="67313" y="0"/>
                </a:moveTo>
                <a:lnTo>
                  <a:pt x="201938" y="0"/>
                </a:lnTo>
                <a:cubicBezTo>
                  <a:pt x="239089" y="0"/>
                  <a:pt x="269251" y="30162"/>
                  <a:pt x="269251" y="67313"/>
                </a:cubicBezTo>
                <a:lnTo>
                  <a:pt x="269251" y="201938"/>
                </a:lnTo>
                <a:cubicBezTo>
                  <a:pt x="269251" y="239089"/>
                  <a:pt x="239089" y="269251"/>
                  <a:pt x="201938" y="269251"/>
                </a:cubicBezTo>
                <a:lnTo>
                  <a:pt x="67313" y="269251"/>
                </a:lnTo>
                <a:cubicBezTo>
                  <a:pt x="30162" y="269251"/>
                  <a:pt x="0" y="239089"/>
                  <a:pt x="0" y="201938"/>
                </a:cubicBezTo>
                <a:lnTo>
                  <a:pt x="0" y="67313"/>
                </a:lnTo>
                <a:cubicBezTo>
                  <a:pt x="0" y="30162"/>
                  <a:pt x="30162" y="0"/>
                  <a:pt x="6731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8075938" y="3414431"/>
            <a:ext cx="103072" cy="117797"/>
          </a:xfrm>
          <a:custGeom>
            <a:avLst/>
            <a:gdLst/>
            <a:ahLst/>
            <a:cxnLst/>
            <a:rect l="l" t="t" r="r" b="b"/>
            <a:pathLst>
              <a:path w="103072" h="117797">
                <a:moveTo>
                  <a:pt x="100036" y="16128"/>
                </a:moveTo>
                <a:cubicBezTo>
                  <a:pt x="103326" y="18521"/>
                  <a:pt x="104062" y="23122"/>
                  <a:pt x="101669" y="26412"/>
                </a:cubicBezTo>
                <a:lnTo>
                  <a:pt x="42770" y="107398"/>
                </a:lnTo>
                <a:cubicBezTo>
                  <a:pt x="41505" y="109146"/>
                  <a:pt x="39549" y="110228"/>
                  <a:pt x="37387" y="110412"/>
                </a:cubicBezTo>
                <a:cubicBezTo>
                  <a:pt x="35224" y="110596"/>
                  <a:pt x="33130" y="109791"/>
                  <a:pt x="31612" y="108272"/>
                </a:cubicBezTo>
                <a:lnTo>
                  <a:pt x="2163" y="78823"/>
                </a:lnTo>
                <a:cubicBezTo>
                  <a:pt x="-713" y="75947"/>
                  <a:pt x="-713" y="71276"/>
                  <a:pt x="2163" y="68401"/>
                </a:cubicBezTo>
                <a:cubicBezTo>
                  <a:pt x="5039" y="65525"/>
                  <a:pt x="9709" y="65525"/>
                  <a:pt x="12585" y="68401"/>
                </a:cubicBezTo>
                <a:lnTo>
                  <a:pt x="35937" y="91753"/>
                </a:lnTo>
                <a:lnTo>
                  <a:pt x="89774" y="17739"/>
                </a:lnTo>
                <a:cubicBezTo>
                  <a:pt x="92167" y="14449"/>
                  <a:pt x="96768" y="13712"/>
                  <a:pt x="100059" y="1610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0" name="Text 48"/>
          <p:cNvSpPr/>
          <p:nvPr/>
        </p:nvSpPr>
        <p:spPr>
          <a:xfrm>
            <a:off x="8360965" y="3338705"/>
            <a:ext cx="1952066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IDE支持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60965" y="3574299"/>
            <a:ext cx="2503156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智能提示和重构支持，提升开发效率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819098" y="4055591"/>
            <a:ext cx="4028661" cy="2800205"/>
          </a:xfrm>
          <a:custGeom>
            <a:avLst/>
            <a:gdLst/>
            <a:ahLst/>
            <a:cxnLst/>
            <a:rect l="l" t="t" r="r" b="b"/>
            <a:pathLst>
              <a:path w="4028661" h="2800205">
                <a:moveTo>
                  <a:pt x="100975" y="0"/>
                </a:moveTo>
                <a:lnTo>
                  <a:pt x="3927685" y="0"/>
                </a:lnTo>
                <a:cubicBezTo>
                  <a:pt x="3983453" y="0"/>
                  <a:pt x="4028661" y="45208"/>
                  <a:pt x="4028661" y="100975"/>
                </a:cubicBezTo>
                <a:lnTo>
                  <a:pt x="4028661" y="2699230"/>
                </a:lnTo>
                <a:cubicBezTo>
                  <a:pt x="4028661" y="2754997"/>
                  <a:pt x="3983453" y="2800205"/>
                  <a:pt x="3927685" y="2800205"/>
                </a:cubicBezTo>
                <a:lnTo>
                  <a:pt x="100975" y="2800205"/>
                </a:lnTo>
                <a:cubicBezTo>
                  <a:pt x="45208" y="2800205"/>
                  <a:pt x="0" y="2754997"/>
                  <a:pt x="0" y="2699230"/>
                </a:cubicBezTo>
                <a:lnTo>
                  <a:pt x="0" y="100975"/>
                </a:lnTo>
                <a:cubicBezTo>
                  <a:pt x="0" y="45208"/>
                  <a:pt x="45208" y="0"/>
                  <a:pt x="10097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90745" y="4227236"/>
            <a:ext cx="403876" cy="403876"/>
          </a:xfrm>
          <a:custGeom>
            <a:avLst/>
            <a:gdLst/>
            <a:ahLst/>
            <a:cxnLst/>
            <a:rect l="l" t="t" r="r" b="b"/>
            <a:pathLst>
              <a:path w="403876" h="403876">
                <a:moveTo>
                  <a:pt x="100969" y="0"/>
                </a:moveTo>
                <a:lnTo>
                  <a:pt x="302907" y="0"/>
                </a:lnTo>
                <a:cubicBezTo>
                  <a:pt x="358670" y="0"/>
                  <a:pt x="403876" y="45205"/>
                  <a:pt x="403876" y="100969"/>
                </a:cubicBezTo>
                <a:lnTo>
                  <a:pt x="403876" y="302907"/>
                </a:lnTo>
                <a:cubicBezTo>
                  <a:pt x="403876" y="358670"/>
                  <a:pt x="358670" y="403876"/>
                  <a:pt x="302907" y="403876"/>
                </a:cubicBezTo>
                <a:lnTo>
                  <a:pt x="100969" y="403876"/>
                </a:lnTo>
                <a:cubicBezTo>
                  <a:pt x="45205" y="403876"/>
                  <a:pt x="0" y="358670"/>
                  <a:pt x="0" y="302907"/>
                </a:cubicBezTo>
                <a:lnTo>
                  <a:pt x="0" y="100969"/>
                </a:lnTo>
                <a:cubicBezTo>
                  <a:pt x="0" y="45205"/>
                  <a:pt x="45205" y="0"/>
                  <a:pt x="10096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8119060" y="4345034"/>
            <a:ext cx="147246" cy="168282"/>
          </a:xfrm>
          <a:custGeom>
            <a:avLst/>
            <a:gdLst/>
            <a:ahLst/>
            <a:cxnLst/>
            <a:rect l="l" t="t" r="r" b="b"/>
            <a:pathLst>
              <a:path w="147246" h="168282">
                <a:moveTo>
                  <a:pt x="126211" y="168282"/>
                </a:moveTo>
                <a:lnTo>
                  <a:pt x="31553" y="168282"/>
                </a:lnTo>
                <a:cubicBezTo>
                  <a:pt x="14133" y="168282"/>
                  <a:pt x="0" y="154149"/>
                  <a:pt x="0" y="136729"/>
                </a:cubicBezTo>
                <a:lnTo>
                  <a:pt x="0" y="31553"/>
                </a:lnTo>
                <a:cubicBezTo>
                  <a:pt x="0" y="14133"/>
                  <a:pt x="14133" y="0"/>
                  <a:pt x="31553" y="0"/>
                </a:cubicBezTo>
                <a:lnTo>
                  <a:pt x="131470" y="0"/>
                </a:lnTo>
                <a:cubicBezTo>
                  <a:pt x="140180" y="0"/>
                  <a:pt x="147246" y="7067"/>
                  <a:pt x="147246" y="15776"/>
                </a:cubicBezTo>
                <a:lnTo>
                  <a:pt x="147246" y="110435"/>
                </a:lnTo>
                <a:cubicBezTo>
                  <a:pt x="147246" y="117304"/>
                  <a:pt x="142842" y="123155"/>
                  <a:pt x="136729" y="125324"/>
                </a:cubicBezTo>
                <a:lnTo>
                  <a:pt x="136729" y="147246"/>
                </a:lnTo>
                <a:cubicBezTo>
                  <a:pt x="142546" y="147246"/>
                  <a:pt x="147246" y="151946"/>
                  <a:pt x="147246" y="157764"/>
                </a:cubicBezTo>
                <a:cubicBezTo>
                  <a:pt x="147246" y="163582"/>
                  <a:pt x="142546" y="168282"/>
                  <a:pt x="136729" y="168282"/>
                </a:cubicBezTo>
                <a:lnTo>
                  <a:pt x="126211" y="168282"/>
                </a:lnTo>
                <a:close/>
                <a:moveTo>
                  <a:pt x="31553" y="126211"/>
                </a:moveTo>
                <a:cubicBezTo>
                  <a:pt x="25735" y="126211"/>
                  <a:pt x="21035" y="130911"/>
                  <a:pt x="21035" y="136729"/>
                </a:cubicBezTo>
                <a:cubicBezTo>
                  <a:pt x="21035" y="142546"/>
                  <a:pt x="25735" y="147246"/>
                  <a:pt x="31553" y="147246"/>
                </a:cubicBezTo>
                <a:lnTo>
                  <a:pt x="115694" y="147246"/>
                </a:lnTo>
                <a:lnTo>
                  <a:pt x="115694" y="126211"/>
                </a:lnTo>
                <a:lnTo>
                  <a:pt x="31553" y="126211"/>
                </a:lnTo>
                <a:close/>
                <a:moveTo>
                  <a:pt x="42070" y="49959"/>
                </a:moveTo>
                <a:cubicBezTo>
                  <a:pt x="42070" y="54330"/>
                  <a:pt x="45587" y="57847"/>
                  <a:pt x="49959" y="57847"/>
                </a:cubicBezTo>
                <a:lnTo>
                  <a:pt x="107805" y="57847"/>
                </a:lnTo>
                <a:cubicBezTo>
                  <a:pt x="112177" y="57847"/>
                  <a:pt x="115694" y="54330"/>
                  <a:pt x="115694" y="49959"/>
                </a:cubicBezTo>
                <a:cubicBezTo>
                  <a:pt x="115694" y="45587"/>
                  <a:pt x="112177" y="42070"/>
                  <a:pt x="107805" y="42070"/>
                </a:cubicBezTo>
                <a:lnTo>
                  <a:pt x="49959" y="42070"/>
                </a:lnTo>
                <a:cubicBezTo>
                  <a:pt x="45587" y="42070"/>
                  <a:pt x="42070" y="45587"/>
                  <a:pt x="42070" y="49959"/>
                </a:cubicBezTo>
                <a:close/>
                <a:moveTo>
                  <a:pt x="49959" y="73623"/>
                </a:moveTo>
                <a:cubicBezTo>
                  <a:pt x="45587" y="73623"/>
                  <a:pt x="42070" y="77140"/>
                  <a:pt x="42070" y="81511"/>
                </a:cubicBezTo>
                <a:cubicBezTo>
                  <a:pt x="42070" y="85883"/>
                  <a:pt x="45587" y="89400"/>
                  <a:pt x="49959" y="89400"/>
                </a:cubicBezTo>
                <a:lnTo>
                  <a:pt x="107805" y="89400"/>
                </a:lnTo>
                <a:cubicBezTo>
                  <a:pt x="112177" y="89400"/>
                  <a:pt x="115694" y="85883"/>
                  <a:pt x="115694" y="81511"/>
                </a:cubicBezTo>
                <a:cubicBezTo>
                  <a:pt x="115694" y="77140"/>
                  <a:pt x="112177" y="73623"/>
                  <a:pt x="107805" y="73623"/>
                </a:cubicBezTo>
                <a:lnTo>
                  <a:pt x="49959" y="73623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5" name="Text 53"/>
          <p:cNvSpPr/>
          <p:nvPr/>
        </p:nvSpPr>
        <p:spPr>
          <a:xfrm>
            <a:off x="8495590" y="4311377"/>
            <a:ext cx="757267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990745" y="4765737"/>
            <a:ext cx="3685366" cy="572157"/>
          </a:xfrm>
          <a:custGeom>
            <a:avLst/>
            <a:gdLst/>
            <a:ahLst/>
            <a:cxnLst/>
            <a:rect l="l" t="t" r="r" b="b"/>
            <a:pathLst>
              <a:path w="3685366" h="572157">
                <a:moveTo>
                  <a:pt x="67314" y="0"/>
                </a:moveTo>
                <a:lnTo>
                  <a:pt x="3618052" y="0"/>
                </a:lnTo>
                <a:cubicBezTo>
                  <a:pt x="3655229" y="0"/>
                  <a:pt x="3685366" y="30138"/>
                  <a:pt x="3685366" y="67314"/>
                </a:cubicBezTo>
                <a:lnTo>
                  <a:pt x="3685366" y="504843"/>
                </a:lnTo>
                <a:cubicBezTo>
                  <a:pt x="3685366" y="542020"/>
                  <a:pt x="3655229" y="572157"/>
                  <a:pt x="3618052" y="572157"/>
                </a:cubicBezTo>
                <a:lnTo>
                  <a:pt x="67314" y="572157"/>
                </a:lnTo>
                <a:cubicBezTo>
                  <a:pt x="30138" y="572157"/>
                  <a:pt x="0" y="542020"/>
                  <a:pt x="0" y="504843"/>
                </a:cubicBezTo>
                <a:lnTo>
                  <a:pt x="0" y="67314"/>
                </a:lnTo>
                <a:cubicBezTo>
                  <a:pt x="0" y="30138"/>
                  <a:pt x="30138" y="0"/>
                  <a:pt x="6731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8091714" y="4866706"/>
            <a:ext cx="354232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命名规范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91714" y="5068644"/>
            <a:ext cx="354232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UI_前缀表示UI资源，SCENE_前缀表示场景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990745" y="5438864"/>
            <a:ext cx="3685366" cy="572157"/>
          </a:xfrm>
          <a:custGeom>
            <a:avLst/>
            <a:gdLst/>
            <a:ahLst/>
            <a:cxnLst/>
            <a:rect l="l" t="t" r="r" b="b"/>
            <a:pathLst>
              <a:path w="3685366" h="572157">
                <a:moveTo>
                  <a:pt x="67314" y="0"/>
                </a:moveTo>
                <a:lnTo>
                  <a:pt x="3618052" y="0"/>
                </a:lnTo>
                <a:cubicBezTo>
                  <a:pt x="3655229" y="0"/>
                  <a:pt x="3685366" y="30138"/>
                  <a:pt x="3685366" y="67314"/>
                </a:cubicBezTo>
                <a:lnTo>
                  <a:pt x="3685366" y="504843"/>
                </a:lnTo>
                <a:cubicBezTo>
                  <a:pt x="3685366" y="542020"/>
                  <a:pt x="3655229" y="572157"/>
                  <a:pt x="3618052" y="572157"/>
                </a:cubicBezTo>
                <a:lnTo>
                  <a:pt x="67314" y="572157"/>
                </a:lnTo>
                <a:cubicBezTo>
                  <a:pt x="30138" y="572157"/>
                  <a:pt x="0" y="542020"/>
                  <a:pt x="0" y="504843"/>
                </a:cubicBezTo>
                <a:lnTo>
                  <a:pt x="0" y="67314"/>
                </a:lnTo>
                <a:cubicBezTo>
                  <a:pt x="0" y="30138"/>
                  <a:pt x="30138" y="0"/>
                  <a:pt x="6731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8091714" y="5539833"/>
            <a:ext cx="354232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分类管理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091714" y="5741771"/>
            <a:ext cx="354232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按功能模块分类，如UI_MENU、UI_BATTLE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990745" y="6111990"/>
            <a:ext cx="3685366" cy="572157"/>
          </a:xfrm>
          <a:custGeom>
            <a:avLst/>
            <a:gdLst/>
            <a:ahLst/>
            <a:cxnLst/>
            <a:rect l="l" t="t" r="r" b="b"/>
            <a:pathLst>
              <a:path w="3685366" h="572157">
                <a:moveTo>
                  <a:pt x="67314" y="0"/>
                </a:moveTo>
                <a:lnTo>
                  <a:pt x="3618052" y="0"/>
                </a:lnTo>
                <a:cubicBezTo>
                  <a:pt x="3655229" y="0"/>
                  <a:pt x="3685366" y="30138"/>
                  <a:pt x="3685366" y="67314"/>
                </a:cubicBezTo>
                <a:lnTo>
                  <a:pt x="3685366" y="504843"/>
                </a:lnTo>
                <a:cubicBezTo>
                  <a:pt x="3685366" y="542020"/>
                  <a:pt x="3655229" y="572157"/>
                  <a:pt x="3618052" y="572157"/>
                </a:cubicBezTo>
                <a:lnTo>
                  <a:pt x="67314" y="572157"/>
                </a:lnTo>
                <a:cubicBezTo>
                  <a:pt x="30138" y="572157"/>
                  <a:pt x="0" y="542020"/>
                  <a:pt x="0" y="504843"/>
                </a:cubicBezTo>
                <a:lnTo>
                  <a:pt x="0" y="67314"/>
                </a:lnTo>
                <a:cubicBezTo>
                  <a:pt x="0" y="30138"/>
                  <a:pt x="30138" y="0"/>
                  <a:pt x="6731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8091714" y="6212959"/>
            <a:ext cx="354232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版本控制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091714" y="6414897"/>
            <a:ext cx="3542327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ResourceIds类纳入版本控制，变更可追溯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382" y="345382"/>
            <a:ext cx="11570312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kern="0" spc="54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03 · CAMERA &amp;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382" y="621688"/>
            <a:ext cx="11656657" cy="3453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问题三：摄像机抖动与操作手感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836" y="1143216"/>
            <a:ext cx="6828211" cy="1785627"/>
          </a:xfrm>
          <a:custGeom>
            <a:avLst/>
            <a:gdLst/>
            <a:ahLst/>
            <a:cxnLst/>
            <a:rect l="l" t="t" r="r" b="b"/>
            <a:pathLst>
              <a:path w="6828211" h="1785627">
                <a:moveTo>
                  <a:pt x="103620" y="0"/>
                </a:moveTo>
                <a:lnTo>
                  <a:pt x="6724591" y="0"/>
                </a:lnTo>
                <a:cubicBezTo>
                  <a:pt x="6781819" y="0"/>
                  <a:pt x="6828211" y="46392"/>
                  <a:pt x="6828211" y="103620"/>
                </a:cubicBezTo>
                <a:lnTo>
                  <a:pt x="6828211" y="1682007"/>
                </a:lnTo>
                <a:cubicBezTo>
                  <a:pt x="6828211" y="1739235"/>
                  <a:pt x="6781819" y="1785627"/>
                  <a:pt x="6724591" y="1785627"/>
                </a:cubicBezTo>
                <a:lnTo>
                  <a:pt x="103620" y="1785627"/>
                </a:lnTo>
                <a:cubicBezTo>
                  <a:pt x="46392" y="1785627"/>
                  <a:pt x="0" y="1739235"/>
                  <a:pt x="0" y="1682007"/>
                </a:cubicBezTo>
                <a:lnTo>
                  <a:pt x="0" y="103620"/>
                </a:lnTo>
                <a:cubicBezTo>
                  <a:pt x="0" y="46392"/>
                  <a:pt x="46392" y="0"/>
                  <a:pt x="10362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4981" y="1319359"/>
            <a:ext cx="414459" cy="414459"/>
          </a:xfrm>
          <a:custGeom>
            <a:avLst/>
            <a:gdLst/>
            <a:ahLst/>
            <a:cxnLst/>
            <a:rect l="l" t="t" r="r" b="b"/>
            <a:pathLst>
              <a:path w="414459" h="414459">
                <a:moveTo>
                  <a:pt x="103615" y="0"/>
                </a:moveTo>
                <a:lnTo>
                  <a:pt x="310844" y="0"/>
                </a:lnTo>
                <a:cubicBezTo>
                  <a:pt x="368069" y="0"/>
                  <a:pt x="414459" y="46390"/>
                  <a:pt x="414459" y="103615"/>
                </a:cubicBezTo>
                <a:lnTo>
                  <a:pt x="414459" y="310844"/>
                </a:lnTo>
                <a:cubicBezTo>
                  <a:pt x="414459" y="368069"/>
                  <a:pt x="368069" y="414459"/>
                  <a:pt x="310844" y="414459"/>
                </a:cubicBezTo>
                <a:lnTo>
                  <a:pt x="103615" y="414459"/>
                </a:lnTo>
                <a:cubicBezTo>
                  <a:pt x="46390" y="414459"/>
                  <a:pt x="0" y="368069"/>
                  <a:pt x="0" y="310844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45865" y="1440243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86346" y="0"/>
                </a:moveTo>
                <a:cubicBezTo>
                  <a:pt x="91304" y="0"/>
                  <a:pt x="95857" y="2732"/>
                  <a:pt x="98218" y="7083"/>
                </a:cubicBezTo>
                <a:lnTo>
                  <a:pt x="171072" y="141998"/>
                </a:lnTo>
                <a:cubicBezTo>
                  <a:pt x="173332" y="146180"/>
                  <a:pt x="173231" y="151240"/>
                  <a:pt x="170802" y="155321"/>
                </a:cubicBezTo>
                <a:cubicBezTo>
                  <a:pt x="168374" y="159402"/>
                  <a:pt x="163955" y="161898"/>
                  <a:pt x="159200" y="161898"/>
                </a:cubicBezTo>
                <a:lnTo>
                  <a:pt x="13492" y="161898"/>
                </a:lnTo>
                <a:cubicBezTo>
                  <a:pt x="8736" y="161898"/>
                  <a:pt x="4351" y="159402"/>
                  <a:pt x="1889" y="155321"/>
                </a:cubicBezTo>
                <a:cubicBezTo>
                  <a:pt x="-573" y="151240"/>
                  <a:pt x="-641" y="146180"/>
                  <a:pt x="1619" y="141998"/>
                </a:cubicBezTo>
                <a:lnTo>
                  <a:pt x="74473" y="7083"/>
                </a:lnTo>
                <a:cubicBezTo>
                  <a:pt x="76834" y="2732"/>
                  <a:pt x="81387" y="0"/>
                  <a:pt x="86346" y="0"/>
                </a:cubicBezTo>
                <a:close/>
                <a:moveTo>
                  <a:pt x="86346" y="56664"/>
                </a:moveTo>
                <a:cubicBezTo>
                  <a:pt x="81860" y="56664"/>
                  <a:pt x="78251" y="60273"/>
                  <a:pt x="78251" y="64759"/>
                </a:cubicBezTo>
                <a:lnTo>
                  <a:pt x="78251" y="102535"/>
                </a:lnTo>
                <a:cubicBezTo>
                  <a:pt x="78251" y="107021"/>
                  <a:pt x="81860" y="110630"/>
                  <a:pt x="86346" y="110630"/>
                </a:cubicBezTo>
                <a:cubicBezTo>
                  <a:pt x="90832" y="110630"/>
                  <a:pt x="94441" y="107021"/>
                  <a:pt x="94441" y="102535"/>
                </a:cubicBezTo>
                <a:lnTo>
                  <a:pt x="94441" y="64759"/>
                </a:lnTo>
                <a:cubicBezTo>
                  <a:pt x="94441" y="60273"/>
                  <a:pt x="90832" y="56664"/>
                  <a:pt x="86346" y="56664"/>
                </a:cubicBezTo>
                <a:close/>
                <a:moveTo>
                  <a:pt x="95351" y="129518"/>
                </a:moveTo>
                <a:cubicBezTo>
                  <a:pt x="95556" y="126176"/>
                  <a:pt x="93889" y="122995"/>
                  <a:pt x="91023" y="121262"/>
                </a:cubicBezTo>
                <a:cubicBezTo>
                  <a:pt x="88158" y="119529"/>
                  <a:pt x="84567" y="119529"/>
                  <a:pt x="81702" y="121262"/>
                </a:cubicBezTo>
                <a:cubicBezTo>
                  <a:pt x="78836" y="122995"/>
                  <a:pt x="77169" y="126176"/>
                  <a:pt x="77374" y="129518"/>
                </a:cubicBezTo>
                <a:cubicBezTo>
                  <a:pt x="77169" y="132861"/>
                  <a:pt x="78836" y="136042"/>
                  <a:pt x="81702" y="137775"/>
                </a:cubicBezTo>
                <a:cubicBezTo>
                  <a:pt x="84567" y="139508"/>
                  <a:pt x="88158" y="139508"/>
                  <a:pt x="91023" y="137775"/>
                </a:cubicBezTo>
                <a:cubicBezTo>
                  <a:pt x="93889" y="136042"/>
                  <a:pt x="95556" y="132861"/>
                  <a:pt x="95351" y="129518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7" name="Text 5"/>
          <p:cNvSpPr/>
          <p:nvPr/>
        </p:nvSpPr>
        <p:spPr>
          <a:xfrm>
            <a:off x="1043055" y="1388436"/>
            <a:ext cx="932533" cy="276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250" y="1906509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45062" y="45062"/>
                </a:moveTo>
                <a:cubicBezTo>
                  <a:pt x="47598" y="42525"/>
                  <a:pt x="51699" y="42525"/>
                  <a:pt x="54209" y="45062"/>
                </a:cubicBezTo>
                <a:lnTo>
                  <a:pt x="69050" y="59902"/>
                </a:lnTo>
                <a:lnTo>
                  <a:pt x="83890" y="45062"/>
                </a:lnTo>
                <a:cubicBezTo>
                  <a:pt x="86427" y="42525"/>
                  <a:pt x="90528" y="42525"/>
                  <a:pt x="93037" y="45062"/>
                </a:cubicBezTo>
                <a:cubicBezTo>
                  <a:pt x="95547" y="47598"/>
                  <a:pt x="95574" y="51699"/>
                  <a:pt x="93037" y="54209"/>
                </a:cubicBezTo>
                <a:lnTo>
                  <a:pt x="78197" y="69050"/>
                </a:lnTo>
                <a:lnTo>
                  <a:pt x="93037" y="83890"/>
                </a:lnTo>
                <a:cubicBezTo>
                  <a:pt x="95574" y="86427"/>
                  <a:pt x="95574" y="90528"/>
                  <a:pt x="93037" y="93037"/>
                </a:cubicBezTo>
                <a:cubicBezTo>
                  <a:pt x="90501" y="95547"/>
                  <a:pt x="86400" y="95574"/>
                  <a:pt x="83890" y="93037"/>
                </a:cubicBezTo>
                <a:lnTo>
                  <a:pt x="69050" y="78197"/>
                </a:lnTo>
                <a:lnTo>
                  <a:pt x="54209" y="93037"/>
                </a:lnTo>
                <a:cubicBezTo>
                  <a:pt x="51672" y="95574"/>
                  <a:pt x="47571" y="95574"/>
                  <a:pt x="45062" y="93037"/>
                </a:cubicBezTo>
                <a:cubicBezTo>
                  <a:pt x="42552" y="90501"/>
                  <a:pt x="42525" y="86400"/>
                  <a:pt x="45062" y="83890"/>
                </a:cubicBezTo>
                <a:lnTo>
                  <a:pt x="59902" y="69050"/>
                </a:lnTo>
                <a:lnTo>
                  <a:pt x="45062" y="54209"/>
                </a:lnTo>
                <a:cubicBezTo>
                  <a:pt x="42525" y="51672"/>
                  <a:pt x="42525" y="47571"/>
                  <a:pt x="45062" y="45062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801287" y="1871971"/>
            <a:ext cx="4321135" cy="224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角色旋转时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摄像机跟随抖动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，画面不流畅，影响玩家体验。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250" y="2234623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45062" y="45062"/>
                </a:moveTo>
                <a:cubicBezTo>
                  <a:pt x="47598" y="42525"/>
                  <a:pt x="51699" y="42525"/>
                  <a:pt x="54209" y="45062"/>
                </a:cubicBezTo>
                <a:lnTo>
                  <a:pt x="69050" y="59902"/>
                </a:lnTo>
                <a:lnTo>
                  <a:pt x="83890" y="45062"/>
                </a:lnTo>
                <a:cubicBezTo>
                  <a:pt x="86427" y="42525"/>
                  <a:pt x="90528" y="42525"/>
                  <a:pt x="93037" y="45062"/>
                </a:cubicBezTo>
                <a:cubicBezTo>
                  <a:pt x="95547" y="47598"/>
                  <a:pt x="95574" y="51699"/>
                  <a:pt x="93037" y="54209"/>
                </a:cubicBezTo>
                <a:lnTo>
                  <a:pt x="78197" y="69050"/>
                </a:lnTo>
                <a:lnTo>
                  <a:pt x="93037" y="83890"/>
                </a:lnTo>
                <a:cubicBezTo>
                  <a:pt x="95574" y="86427"/>
                  <a:pt x="95574" y="90528"/>
                  <a:pt x="93037" y="93037"/>
                </a:cubicBezTo>
                <a:cubicBezTo>
                  <a:pt x="90501" y="95547"/>
                  <a:pt x="86400" y="95574"/>
                  <a:pt x="83890" y="93037"/>
                </a:cubicBezTo>
                <a:lnTo>
                  <a:pt x="69050" y="78197"/>
                </a:lnTo>
                <a:lnTo>
                  <a:pt x="54209" y="93037"/>
                </a:lnTo>
                <a:cubicBezTo>
                  <a:pt x="51672" y="95574"/>
                  <a:pt x="47571" y="95574"/>
                  <a:pt x="45062" y="93037"/>
                </a:cubicBezTo>
                <a:cubicBezTo>
                  <a:pt x="42552" y="90501"/>
                  <a:pt x="42525" y="86400"/>
                  <a:pt x="45062" y="83890"/>
                </a:cubicBezTo>
                <a:lnTo>
                  <a:pt x="59902" y="69050"/>
                </a:lnTo>
                <a:lnTo>
                  <a:pt x="45062" y="54209"/>
                </a:lnTo>
                <a:cubicBezTo>
                  <a:pt x="42525" y="51672"/>
                  <a:pt x="42525" y="47571"/>
                  <a:pt x="45062" y="45062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1" name="Text 9"/>
          <p:cNvSpPr/>
          <p:nvPr/>
        </p:nvSpPr>
        <p:spPr>
          <a:xfrm>
            <a:off x="801287" y="2200084"/>
            <a:ext cx="4690588" cy="224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角色移动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操作手感僵硬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，加速度和减速度不自然，缺乏平滑过渡。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250" y="2562736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45062" y="45062"/>
                </a:moveTo>
                <a:cubicBezTo>
                  <a:pt x="47598" y="42525"/>
                  <a:pt x="51699" y="42525"/>
                  <a:pt x="54209" y="45062"/>
                </a:cubicBezTo>
                <a:lnTo>
                  <a:pt x="69050" y="59902"/>
                </a:lnTo>
                <a:lnTo>
                  <a:pt x="83890" y="45062"/>
                </a:lnTo>
                <a:cubicBezTo>
                  <a:pt x="86427" y="42525"/>
                  <a:pt x="90528" y="42525"/>
                  <a:pt x="93037" y="45062"/>
                </a:cubicBezTo>
                <a:cubicBezTo>
                  <a:pt x="95547" y="47598"/>
                  <a:pt x="95574" y="51699"/>
                  <a:pt x="93037" y="54209"/>
                </a:cubicBezTo>
                <a:lnTo>
                  <a:pt x="78197" y="69050"/>
                </a:lnTo>
                <a:lnTo>
                  <a:pt x="93037" y="83890"/>
                </a:lnTo>
                <a:cubicBezTo>
                  <a:pt x="95574" y="86427"/>
                  <a:pt x="95574" y="90528"/>
                  <a:pt x="93037" y="93037"/>
                </a:cubicBezTo>
                <a:cubicBezTo>
                  <a:pt x="90501" y="95547"/>
                  <a:pt x="86400" y="95574"/>
                  <a:pt x="83890" y="93037"/>
                </a:cubicBezTo>
                <a:lnTo>
                  <a:pt x="69050" y="78197"/>
                </a:lnTo>
                <a:lnTo>
                  <a:pt x="54209" y="93037"/>
                </a:lnTo>
                <a:cubicBezTo>
                  <a:pt x="51672" y="95574"/>
                  <a:pt x="47571" y="95574"/>
                  <a:pt x="45062" y="93037"/>
                </a:cubicBezTo>
                <a:cubicBezTo>
                  <a:pt x="42552" y="90501"/>
                  <a:pt x="42525" y="86400"/>
                  <a:pt x="45062" y="83890"/>
                </a:cubicBezTo>
                <a:lnTo>
                  <a:pt x="59902" y="69050"/>
                </a:lnTo>
                <a:lnTo>
                  <a:pt x="45062" y="54209"/>
                </a:lnTo>
                <a:cubicBezTo>
                  <a:pt x="42525" y="51672"/>
                  <a:pt x="42525" y="47571"/>
                  <a:pt x="45062" y="45062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3" name="Text 11"/>
          <p:cNvSpPr/>
          <p:nvPr/>
        </p:nvSpPr>
        <p:spPr>
          <a:xfrm>
            <a:off x="801287" y="2528198"/>
            <a:ext cx="4321135" cy="224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鼠标X/Y轴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灵敏度相同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，无法满足不同玩家的操作习惯。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8836" y="3073909"/>
            <a:ext cx="6828211" cy="3771576"/>
          </a:xfrm>
          <a:custGeom>
            <a:avLst/>
            <a:gdLst/>
            <a:ahLst/>
            <a:cxnLst/>
            <a:rect l="l" t="t" r="r" b="b"/>
            <a:pathLst>
              <a:path w="6828211" h="3771576">
                <a:moveTo>
                  <a:pt x="103605" y="0"/>
                </a:moveTo>
                <a:lnTo>
                  <a:pt x="6724606" y="0"/>
                </a:lnTo>
                <a:cubicBezTo>
                  <a:pt x="6781825" y="0"/>
                  <a:pt x="6828211" y="46386"/>
                  <a:pt x="6828211" y="103605"/>
                </a:cubicBezTo>
                <a:lnTo>
                  <a:pt x="6828211" y="3667971"/>
                </a:lnTo>
                <a:cubicBezTo>
                  <a:pt x="6828211" y="3725191"/>
                  <a:pt x="6781825" y="3771576"/>
                  <a:pt x="6724606" y="3771576"/>
                </a:cubicBezTo>
                <a:lnTo>
                  <a:pt x="103605" y="3771576"/>
                </a:lnTo>
                <a:cubicBezTo>
                  <a:pt x="46386" y="3771576"/>
                  <a:pt x="0" y="3725191"/>
                  <a:pt x="0" y="3667971"/>
                </a:cubicBezTo>
                <a:lnTo>
                  <a:pt x="0" y="103605"/>
                </a:lnTo>
                <a:cubicBezTo>
                  <a:pt x="0" y="46424"/>
                  <a:pt x="46424" y="0"/>
                  <a:pt x="1036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981" y="3250052"/>
            <a:ext cx="414459" cy="414459"/>
          </a:xfrm>
          <a:custGeom>
            <a:avLst/>
            <a:gdLst/>
            <a:ahLst/>
            <a:cxnLst/>
            <a:rect l="l" t="t" r="r" b="b"/>
            <a:pathLst>
              <a:path w="414459" h="414459">
                <a:moveTo>
                  <a:pt x="103615" y="0"/>
                </a:moveTo>
                <a:lnTo>
                  <a:pt x="310844" y="0"/>
                </a:lnTo>
                <a:cubicBezTo>
                  <a:pt x="368069" y="0"/>
                  <a:pt x="414459" y="46390"/>
                  <a:pt x="414459" y="103615"/>
                </a:cubicBezTo>
                <a:lnTo>
                  <a:pt x="414459" y="310844"/>
                </a:lnTo>
                <a:cubicBezTo>
                  <a:pt x="414459" y="368069"/>
                  <a:pt x="368069" y="414459"/>
                  <a:pt x="310844" y="414459"/>
                </a:cubicBezTo>
                <a:lnTo>
                  <a:pt x="103615" y="414459"/>
                </a:lnTo>
                <a:cubicBezTo>
                  <a:pt x="46390" y="414459"/>
                  <a:pt x="0" y="368069"/>
                  <a:pt x="0" y="310844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67452" y="3370936"/>
            <a:ext cx="129518" cy="172691"/>
          </a:xfrm>
          <a:custGeom>
            <a:avLst/>
            <a:gdLst/>
            <a:ahLst/>
            <a:cxnLst/>
            <a:rect l="l" t="t" r="r" b="b"/>
            <a:pathLst>
              <a:path w="129518" h="172691">
                <a:moveTo>
                  <a:pt x="98792" y="129518"/>
                </a:moveTo>
                <a:cubicBezTo>
                  <a:pt x="101254" y="121997"/>
                  <a:pt x="106178" y="115184"/>
                  <a:pt x="111743" y="109315"/>
                </a:cubicBezTo>
                <a:cubicBezTo>
                  <a:pt x="122773" y="97712"/>
                  <a:pt x="129518" y="82028"/>
                  <a:pt x="129518" y="64759"/>
                </a:cubicBezTo>
                <a:cubicBezTo>
                  <a:pt x="129518" y="29007"/>
                  <a:pt x="100512" y="0"/>
                  <a:pt x="64759" y="0"/>
                </a:cubicBezTo>
                <a:cubicBezTo>
                  <a:pt x="29007" y="0"/>
                  <a:pt x="0" y="29007"/>
                  <a:pt x="0" y="64759"/>
                </a:cubicBezTo>
                <a:cubicBezTo>
                  <a:pt x="0" y="82028"/>
                  <a:pt x="6746" y="97712"/>
                  <a:pt x="17775" y="109315"/>
                </a:cubicBezTo>
                <a:cubicBezTo>
                  <a:pt x="23340" y="115184"/>
                  <a:pt x="28298" y="121997"/>
                  <a:pt x="30727" y="129518"/>
                </a:cubicBezTo>
                <a:lnTo>
                  <a:pt x="98758" y="129518"/>
                </a:lnTo>
                <a:close/>
                <a:moveTo>
                  <a:pt x="97139" y="145708"/>
                </a:moveTo>
                <a:lnTo>
                  <a:pt x="32380" y="145708"/>
                </a:lnTo>
                <a:lnTo>
                  <a:pt x="32380" y="151105"/>
                </a:lnTo>
                <a:cubicBezTo>
                  <a:pt x="32380" y="166013"/>
                  <a:pt x="44454" y="178088"/>
                  <a:pt x="59363" y="178088"/>
                </a:cubicBezTo>
                <a:lnTo>
                  <a:pt x="70156" y="178088"/>
                </a:lnTo>
                <a:cubicBezTo>
                  <a:pt x="85064" y="178088"/>
                  <a:pt x="97139" y="166013"/>
                  <a:pt x="97139" y="151105"/>
                </a:cubicBezTo>
                <a:lnTo>
                  <a:pt x="97139" y="145708"/>
                </a:lnTo>
                <a:close/>
                <a:moveTo>
                  <a:pt x="62061" y="37776"/>
                </a:moveTo>
                <a:cubicBezTo>
                  <a:pt x="48637" y="37776"/>
                  <a:pt x="37776" y="48637"/>
                  <a:pt x="37776" y="62061"/>
                </a:cubicBezTo>
                <a:cubicBezTo>
                  <a:pt x="37776" y="66547"/>
                  <a:pt x="34167" y="70156"/>
                  <a:pt x="29681" y="70156"/>
                </a:cubicBezTo>
                <a:cubicBezTo>
                  <a:pt x="25195" y="70156"/>
                  <a:pt x="21586" y="66547"/>
                  <a:pt x="21586" y="62061"/>
                </a:cubicBezTo>
                <a:cubicBezTo>
                  <a:pt x="21586" y="39699"/>
                  <a:pt x="39699" y="21586"/>
                  <a:pt x="62061" y="21586"/>
                </a:cubicBezTo>
                <a:cubicBezTo>
                  <a:pt x="66547" y="21586"/>
                  <a:pt x="70156" y="25195"/>
                  <a:pt x="70156" y="29681"/>
                </a:cubicBezTo>
                <a:cubicBezTo>
                  <a:pt x="70156" y="34167"/>
                  <a:pt x="66547" y="37776"/>
                  <a:pt x="62061" y="3777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5"/>
          <p:cNvSpPr/>
          <p:nvPr/>
        </p:nvSpPr>
        <p:spPr>
          <a:xfrm>
            <a:off x="1043055" y="3319129"/>
            <a:ext cx="932533" cy="276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根因分析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4981" y="3819933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03615" y="0"/>
                </a:moveTo>
                <a:lnTo>
                  <a:pt x="103615" y="0"/>
                </a:lnTo>
                <a:cubicBezTo>
                  <a:pt x="160801" y="0"/>
                  <a:pt x="207229" y="46428"/>
                  <a:pt x="207229" y="103615"/>
                </a:cubicBezTo>
                <a:lnTo>
                  <a:pt x="207229" y="103615"/>
                </a:lnTo>
                <a:cubicBezTo>
                  <a:pt x="207229" y="160801"/>
                  <a:pt x="160801" y="207229"/>
                  <a:pt x="103615" y="207229"/>
                </a:cubicBezTo>
                <a:lnTo>
                  <a:pt x="103615" y="207229"/>
                </a:lnTo>
                <a:cubicBezTo>
                  <a:pt x="46428" y="207229"/>
                  <a:pt x="0" y="160801"/>
                  <a:pt x="0" y="103615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592871" y="3837202"/>
            <a:ext cx="129518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826" y="3802664"/>
            <a:ext cx="4656050" cy="224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摄像机跟随使用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直接赋值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方式，没有平滑插值，导致画面抖动。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4981" y="4148046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03615" y="0"/>
                </a:moveTo>
                <a:lnTo>
                  <a:pt x="103615" y="0"/>
                </a:lnTo>
                <a:cubicBezTo>
                  <a:pt x="160801" y="0"/>
                  <a:pt x="207229" y="46428"/>
                  <a:pt x="207229" y="103615"/>
                </a:cubicBezTo>
                <a:lnTo>
                  <a:pt x="207229" y="103615"/>
                </a:lnTo>
                <a:cubicBezTo>
                  <a:pt x="207229" y="160801"/>
                  <a:pt x="160801" y="207229"/>
                  <a:pt x="103615" y="207229"/>
                </a:cubicBezTo>
                <a:lnTo>
                  <a:pt x="103615" y="207229"/>
                </a:lnTo>
                <a:cubicBezTo>
                  <a:pt x="46428" y="207229"/>
                  <a:pt x="0" y="160801"/>
                  <a:pt x="0" y="103615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592871" y="4165316"/>
            <a:ext cx="129518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826" y="4130777"/>
            <a:ext cx="4531161" cy="224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输入层与表现层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未分离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，输入直接驱动移动，缺乏物理感。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4981" y="4476160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03615" y="0"/>
                </a:moveTo>
                <a:lnTo>
                  <a:pt x="103615" y="0"/>
                </a:lnTo>
                <a:cubicBezTo>
                  <a:pt x="160801" y="0"/>
                  <a:pt x="207229" y="46428"/>
                  <a:pt x="207229" y="103615"/>
                </a:cubicBezTo>
                <a:lnTo>
                  <a:pt x="207229" y="103615"/>
                </a:lnTo>
                <a:cubicBezTo>
                  <a:pt x="207229" y="160801"/>
                  <a:pt x="160801" y="207229"/>
                  <a:pt x="103615" y="207229"/>
                </a:cubicBezTo>
                <a:lnTo>
                  <a:pt x="103615" y="207229"/>
                </a:lnTo>
                <a:cubicBezTo>
                  <a:pt x="46428" y="207229"/>
                  <a:pt x="0" y="160801"/>
                  <a:pt x="0" y="103615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592871" y="4493429"/>
            <a:ext cx="129518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5826" y="4458891"/>
            <a:ext cx="3661054" cy="224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缺少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可配置的灵敏度参数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，无法个性化调整。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56214" y="1143216"/>
            <a:ext cx="4479610" cy="5705718"/>
          </a:xfrm>
          <a:custGeom>
            <a:avLst/>
            <a:gdLst/>
            <a:ahLst/>
            <a:cxnLst/>
            <a:rect l="l" t="t" r="r" b="b"/>
            <a:pathLst>
              <a:path w="4479610" h="5705718">
                <a:moveTo>
                  <a:pt x="103613" y="0"/>
                </a:moveTo>
                <a:lnTo>
                  <a:pt x="4375997" y="0"/>
                </a:lnTo>
                <a:cubicBezTo>
                  <a:pt x="4433221" y="0"/>
                  <a:pt x="4479610" y="46389"/>
                  <a:pt x="4479610" y="103613"/>
                </a:cubicBezTo>
                <a:lnTo>
                  <a:pt x="4479610" y="5602104"/>
                </a:lnTo>
                <a:cubicBezTo>
                  <a:pt x="4479610" y="5659329"/>
                  <a:pt x="4433221" y="5705718"/>
                  <a:pt x="4375997" y="5705718"/>
                </a:cubicBezTo>
                <a:lnTo>
                  <a:pt x="103613" y="5705718"/>
                </a:lnTo>
                <a:cubicBezTo>
                  <a:pt x="46389" y="5705718"/>
                  <a:pt x="0" y="5659329"/>
                  <a:pt x="0" y="5602104"/>
                </a:cubicBezTo>
                <a:lnTo>
                  <a:pt x="0" y="103613"/>
                </a:lnTo>
                <a:cubicBezTo>
                  <a:pt x="0" y="46428"/>
                  <a:pt x="46428" y="0"/>
                  <a:pt x="10361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32360" y="1319359"/>
            <a:ext cx="414459" cy="414459"/>
          </a:xfrm>
          <a:custGeom>
            <a:avLst/>
            <a:gdLst/>
            <a:ahLst/>
            <a:cxnLst/>
            <a:rect l="l" t="t" r="r" b="b"/>
            <a:pathLst>
              <a:path w="414459" h="414459">
                <a:moveTo>
                  <a:pt x="103615" y="0"/>
                </a:moveTo>
                <a:lnTo>
                  <a:pt x="310844" y="0"/>
                </a:lnTo>
                <a:cubicBezTo>
                  <a:pt x="368069" y="0"/>
                  <a:pt x="414459" y="46390"/>
                  <a:pt x="414459" y="103615"/>
                </a:cubicBezTo>
                <a:lnTo>
                  <a:pt x="414459" y="310844"/>
                </a:lnTo>
                <a:cubicBezTo>
                  <a:pt x="414459" y="368069"/>
                  <a:pt x="368069" y="414459"/>
                  <a:pt x="310844" y="414459"/>
                </a:cubicBezTo>
                <a:lnTo>
                  <a:pt x="103615" y="414459"/>
                </a:lnTo>
                <a:cubicBezTo>
                  <a:pt x="46390" y="414459"/>
                  <a:pt x="0" y="368069"/>
                  <a:pt x="0" y="310844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7653243" y="1440243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86346" y="172691"/>
                </a:moveTo>
                <a:cubicBezTo>
                  <a:pt x="134001" y="172691"/>
                  <a:pt x="172691" y="134001"/>
                  <a:pt x="172691" y="86346"/>
                </a:cubicBezTo>
                <a:cubicBezTo>
                  <a:pt x="172691" y="38690"/>
                  <a:pt x="134001" y="0"/>
                  <a:pt x="86346" y="0"/>
                </a:cubicBezTo>
                <a:cubicBezTo>
                  <a:pt x="38690" y="0"/>
                  <a:pt x="0" y="38690"/>
                  <a:pt x="0" y="86346"/>
                </a:cubicBezTo>
                <a:cubicBezTo>
                  <a:pt x="0" y="134001"/>
                  <a:pt x="38690" y="172691"/>
                  <a:pt x="86346" y="172691"/>
                </a:cubicBezTo>
                <a:close/>
                <a:moveTo>
                  <a:pt x="114813" y="71741"/>
                </a:moveTo>
                <a:lnTo>
                  <a:pt x="87830" y="114914"/>
                </a:lnTo>
                <a:cubicBezTo>
                  <a:pt x="86413" y="117174"/>
                  <a:pt x="83985" y="118590"/>
                  <a:pt x="81320" y="118725"/>
                </a:cubicBezTo>
                <a:cubicBezTo>
                  <a:pt x="78655" y="118860"/>
                  <a:pt x="76092" y="117646"/>
                  <a:pt x="74507" y="115487"/>
                </a:cubicBezTo>
                <a:lnTo>
                  <a:pt x="58317" y="93901"/>
                </a:lnTo>
                <a:cubicBezTo>
                  <a:pt x="55619" y="90326"/>
                  <a:pt x="56361" y="85266"/>
                  <a:pt x="59936" y="82568"/>
                </a:cubicBezTo>
                <a:cubicBezTo>
                  <a:pt x="63511" y="79870"/>
                  <a:pt x="68571" y="80612"/>
                  <a:pt x="71269" y="84187"/>
                </a:cubicBezTo>
                <a:lnTo>
                  <a:pt x="80376" y="96329"/>
                </a:lnTo>
                <a:lnTo>
                  <a:pt x="101085" y="63174"/>
                </a:lnTo>
                <a:cubicBezTo>
                  <a:pt x="103446" y="59396"/>
                  <a:pt x="108438" y="58216"/>
                  <a:pt x="112249" y="60611"/>
                </a:cubicBezTo>
                <a:cubicBezTo>
                  <a:pt x="116061" y="63005"/>
                  <a:pt x="117207" y="67963"/>
                  <a:pt x="114813" y="7177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0" name="Text 28"/>
          <p:cNvSpPr/>
          <p:nvPr/>
        </p:nvSpPr>
        <p:spPr>
          <a:xfrm>
            <a:off x="8050433" y="1388436"/>
            <a:ext cx="932533" cy="276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49629" y="1871971"/>
            <a:ext cx="4110051" cy="2521292"/>
          </a:xfrm>
          <a:custGeom>
            <a:avLst/>
            <a:gdLst/>
            <a:ahLst/>
            <a:cxnLst/>
            <a:rect l="l" t="t" r="r" b="b"/>
            <a:pathLst>
              <a:path w="4110051" h="2521292">
                <a:moveTo>
                  <a:pt x="34538" y="0"/>
                </a:moveTo>
                <a:lnTo>
                  <a:pt x="4040968" y="0"/>
                </a:lnTo>
                <a:cubicBezTo>
                  <a:pt x="4079121" y="0"/>
                  <a:pt x="4110051" y="30930"/>
                  <a:pt x="4110051" y="69083"/>
                </a:cubicBezTo>
                <a:lnTo>
                  <a:pt x="4110051" y="2452208"/>
                </a:lnTo>
                <a:cubicBezTo>
                  <a:pt x="4110051" y="2490362"/>
                  <a:pt x="4079121" y="2521292"/>
                  <a:pt x="4040968" y="2521292"/>
                </a:cubicBezTo>
                <a:lnTo>
                  <a:pt x="34538" y="2521292"/>
                </a:lnTo>
                <a:cubicBezTo>
                  <a:pt x="15463" y="2521292"/>
                  <a:pt x="0" y="2505828"/>
                  <a:pt x="0" y="2486754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549629" y="1871971"/>
            <a:ext cx="34538" cy="2521292"/>
          </a:xfrm>
          <a:custGeom>
            <a:avLst/>
            <a:gdLst/>
            <a:ahLst/>
            <a:cxnLst/>
            <a:rect l="l" t="t" r="r" b="b"/>
            <a:pathLst>
              <a:path w="34538" h="2521292">
                <a:moveTo>
                  <a:pt x="34538" y="0"/>
                </a:moveTo>
                <a:lnTo>
                  <a:pt x="34538" y="0"/>
                </a:lnTo>
                <a:lnTo>
                  <a:pt x="34538" y="2521292"/>
                </a:lnTo>
                <a:lnTo>
                  <a:pt x="34538" y="2521292"/>
                </a:lnTo>
                <a:cubicBezTo>
                  <a:pt x="15463" y="2521292"/>
                  <a:pt x="0" y="2505828"/>
                  <a:pt x="0" y="2486754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3" name="Shape 31"/>
          <p:cNvSpPr/>
          <p:nvPr/>
        </p:nvSpPr>
        <p:spPr>
          <a:xfrm>
            <a:off x="7722320" y="2044662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107527" y="3292"/>
                </a:moveTo>
                <a:lnTo>
                  <a:pt x="83728" y="27091"/>
                </a:lnTo>
                <a:lnTo>
                  <a:pt x="111062" y="54425"/>
                </a:lnTo>
                <a:lnTo>
                  <a:pt x="134861" y="30626"/>
                </a:lnTo>
                <a:cubicBezTo>
                  <a:pt x="136966" y="28494"/>
                  <a:pt x="138153" y="25634"/>
                  <a:pt x="138153" y="22666"/>
                </a:cubicBezTo>
                <a:cubicBezTo>
                  <a:pt x="138153" y="19698"/>
                  <a:pt x="136966" y="16837"/>
                  <a:pt x="134861" y="14706"/>
                </a:cubicBezTo>
                <a:lnTo>
                  <a:pt x="123447" y="3292"/>
                </a:lnTo>
                <a:cubicBezTo>
                  <a:pt x="121316" y="1187"/>
                  <a:pt x="118455" y="0"/>
                  <a:pt x="115487" y="0"/>
                </a:cubicBezTo>
                <a:cubicBezTo>
                  <a:pt x="112519" y="0"/>
                  <a:pt x="109659" y="1187"/>
                  <a:pt x="107527" y="3292"/>
                </a:cubicBezTo>
                <a:close/>
                <a:moveTo>
                  <a:pt x="74581" y="36238"/>
                </a:moveTo>
                <a:lnTo>
                  <a:pt x="3292" y="107527"/>
                </a:lnTo>
                <a:cubicBezTo>
                  <a:pt x="1187" y="109659"/>
                  <a:pt x="0" y="112519"/>
                  <a:pt x="0" y="115487"/>
                </a:cubicBezTo>
                <a:cubicBezTo>
                  <a:pt x="0" y="118455"/>
                  <a:pt x="1187" y="121316"/>
                  <a:pt x="3292" y="123447"/>
                </a:cubicBezTo>
                <a:lnTo>
                  <a:pt x="14706" y="134861"/>
                </a:lnTo>
                <a:cubicBezTo>
                  <a:pt x="16837" y="136966"/>
                  <a:pt x="19698" y="138153"/>
                  <a:pt x="22666" y="138153"/>
                </a:cubicBezTo>
                <a:cubicBezTo>
                  <a:pt x="25634" y="138153"/>
                  <a:pt x="28494" y="136966"/>
                  <a:pt x="30626" y="134861"/>
                </a:cubicBezTo>
                <a:lnTo>
                  <a:pt x="101915" y="63572"/>
                </a:lnTo>
                <a:lnTo>
                  <a:pt x="74581" y="36238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4" name="Text 32"/>
          <p:cNvSpPr/>
          <p:nvPr/>
        </p:nvSpPr>
        <p:spPr>
          <a:xfrm>
            <a:off x="7946818" y="2010124"/>
            <a:ext cx="2056783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SmoothDamp平滑插值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05051" y="2286430"/>
            <a:ext cx="3885552" cy="448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SmoothDamp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算法进行平滑插值，替代直接赋值，消除摄像机抖动。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05051" y="2839042"/>
            <a:ext cx="3816476" cy="1416068"/>
          </a:xfrm>
          <a:custGeom>
            <a:avLst/>
            <a:gdLst/>
            <a:ahLst/>
            <a:cxnLst/>
            <a:rect l="l" t="t" r="r" b="b"/>
            <a:pathLst>
              <a:path w="3816476" h="1416068">
                <a:moveTo>
                  <a:pt x="69076" y="0"/>
                </a:moveTo>
                <a:lnTo>
                  <a:pt x="3747400" y="0"/>
                </a:lnTo>
                <a:cubicBezTo>
                  <a:pt x="3785550" y="0"/>
                  <a:pt x="3816476" y="30926"/>
                  <a:pt x="3816476" y="69076"/>
                </a:cubicBezTo>
                <a:lnTo>
                  <a:pt x="3816476" y="1346992"/>
                </a:lnTo>
                <a:cubicBezTo>
                  <a:pt x="3816476" y="1385142"/>
                  <a:pt x="3785550" y="1416068"/>
                  <a:pt x="3747400" y="1416068"/>
                </a:cubicBezTo>
                <a:lnTo>
                  <a:pt x="69076" y="1416068"/>
                </a:lnTo>
                <a:cubicBezTo>
                  <a:pt x="30926" y="1416068"/>
                  <a:pt x="0" y="1385142"/>
                  <a:pt x="0" y="1346992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37" name="Text 35"/>
          <p:cNvSpPr/>
          <p:nvPr/>
        </p:nvSpPr>
        <p:spPr>
          <a:xfrm>
            <a:off x="7808665" y="2942657"/>
            <a:ext cx="3669688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平滑跟随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08665" y="3115348"/>
            <a:ext cx="3669688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transform.position = Vector3.SmoothDamp(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808665" y="3288039"/>
            <a:ext cx="3669688" cy="172691"/>
          </a:xfrm>
          <a:prstGeom prst="rect">
            <a:avLst/>
          </a:prstGeom>
          <a:noFill/>
        </p:spPr>
        <p:txBody>
          <a:bodyPr wrap="square" lIns="138153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transform.position,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08665" y="3460730"/>
            <a:ext cx="3669688" cy="172691"/>
          </a:xfrm>
          <a:prstGeom prst="rect">
            <a:avLst/>
          </a:prstGeom>
          <a:noFill/>
        </p:spPr>
        <p:txBody>
          <a:bodyPr wrap="square" lIns="138153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targetPosition,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808665" y="3633422"/>
            <a:ext cx="3669688" cy="172691"/>
          </a:xfrm>
          <a:prstGeom prst="rect">
            <a:avLst/>
          </a:prstGeom>
          <a:noFill/>
        </p:spPr>
        <p:txBody>
          <a:bodyPr wrap="square" lIns="138153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 velocity,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808665" y="3806113"/>
            <a:ext cx="3669688" cy="172691"/>
          </a:xfrm>
          <a:prstGeom prst="rect">
            <a:avLst/>
          </a:prstGeom>
          <a:noFill/>
        </p:spPr>
        <p:txBody>
          <a:bodyPr wrap="square" lIns="138153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smoothTime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08665" y="3978804"/>
            <a:ext cx="3669688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49629" y="4531416"/>
            <a:ext cx="4110051" cy="1001609"/>
          </a:xfrm>
          <a:custGeom>
            <a:avLst/>
            <a:gdLst/>
            <a:ahLst/>
            <a:cxnLst/>
            <a:rect l="l" t="t" r="r" b="b"/>
            <a:pathLst>
              <a:path w="4110051" h="1001609">
                <a:moveTo>
                  <a:pt x="34538" y="0"/>
                </a:moveTo>
                <a:lnTo>
                  <a:pt x="4040970" y="0"/>
                </a:lnTo>
                <a:cubicBezTo>
                  <a:pt x="4079122" y="0"/>
                  <a:pt x="4110051" y="30929"/>
                  <a:pt x="4110051" y="69081"/>
                </a:cubicBezTo>
                <a:lnTo>
                  <a:pt x="4110051" y="932528"/>
                </a:lnTo>
                <a:cubicBezTo>
                  <a:pt x="4110051" y="970680"/>
                  <a:pt x="4079122" y="1001609"/>
                  <a:pt x="4040970" y="1001609"/>
                </a:cubicBezTo>
                <a:lnTo>
                  <a:pt x="34538" y="1001609"/>
                </a:lnTo>
                <a:cubicBezTo>
                  <a:pt x="15463" y="1001609"/>
                  <a:pt x="0" y="986146"/>
                  <a:pt x="0" y="967071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7549629" y="4531416"/>
            <a:ext cx="34538" cy="1001609"/>
          </a:xfrm>
          <a:custGeom>
            <a:avLst/>
            <a:gdLst/>
            <a:ahLst/>
            <a:cxnLst/>
            <a:rect l="l" t="t" r="r" b="b"/>
            <a:pathLst>
              <a:path w="34538" h="1001609">
                <a:moveTo>
                  <a:pt x="34538" y="0"/>
                </a:moveTo>
                <a:lnTo>
                  <a:pt x="34538" y="0"/>
                </a:lnTo>
                <a:lnTo>
                  <a:pt x="34538" y="1001609"/>
                </a:lnTo>
                <a:lnTo>
                  <a:pt x="34538" y="1001609"/>
                </a:lnTo>
                <a:cubicBezTo>
                  <a:pt x="15463" y="1001609"/>
                  <a:pt x="0" y="986146"/>
                  <a:pt x="0" y="967071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6" name="Shape 44"/>
          <p:cNvSpPr/>
          <p:nvPr/>
        </p:nvSpPr>
        <p:spPr>
          <a:xfrm>
            <a:off x="7722320" y="4704107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2735" y="1403"/>
                </a:moveTo>
                <a:cubicBezTo>
                  <a:pt x="66756" y="-459"/>
                  <a:pt x="71397" y="-459"/>
                  <a:pt x="75417" y="1403"/>
                </a:cubicBezTo>
                <a:lnTo>
                  <a:pt x="134402" y="28656"/>
                </a:lnTo>
                <a:cubicBezTo>
                  <a:pt x="136696" y="29708"/>
                  <a:pt x="138153" y="32002"/>
                  <a:pt x="138153" y="34538"/>
                </a:cubicBezTo>
                <a:cubicBezTo>
                  <a:pt x="138153" y="37075"/>
                  <a:pt x="136696" y="39368"/>
                  <a:pt x="134402" y="40421"/>
                </a:cubicBezTo>
                <a:lnTo>
                  <a:pt x="75417" y="67673"/>
                </a:lnTo>
                <a:cubicBezTo>
                  <a:pt x="71397" y="69535"/>
                  <a:pt x="66756" y="69535"/>
                  <a:pt x="62735" y="67673"/>
                </a:cubicBezTo>
                <a:lnTo>
                  <a:pt x="3751" y="40421"/>
                </a:lnTo>
                <a:cubicBezTo>
                  <a:pt x="1457" y="39341"/>
                  <a:pt x="0" y="37048"/>
                  <a:pt x="0" y="34538"/>
                </a:cubicBezTo>
                <a:cubicBezTo>
                  <a:pt x="0" y="32029"/>
                  <a:pt x="1457" y="29708"/>
                  <a:pt x="3751" y="28656"/>
                </a:cubicBezTo>
                <a:lnTo>
                  <a:pt x="62735" y="1403"/>
                </a:lnTo>
                <a:close/>
                <a:moveTo>
                  <a:pt x="12979" y="58931"/>
                </a:moveTo>
                <a:lnTo>
                  <a:pt x="57312" y="79411"/>
                </a:lnTo>
                <a:cubicBezTo>
                  <a:pt x="64786" y="82865"/>
                  <a:pt x="73394" y="82865"/>
                  <a:pt x="80868" y="79411"/>
                </a:cubicBezTo>
                <a:lnTo>
                  <a:pt x="125201" y="58931"/>
                </a:lnTo>
                <a:lnTo>
                  <a:pt x="134402" y="63194"/>
                </a:lnTo>
                <a:cubicBezTo>
                  <a:pt x="136696" y="64247"/>
                  <a:pt x="138153" y="66540"/>
                  <a:pt x="138153" y="69076"/>
                </a:cubicBezTo>
                <a:cubicBezTo>
                  <a:pt x="138153" y="71613"/>
                  <a:pt x="136696" y="73906"/>
                  <a:pt x="134402" y="74959"/>
                </a:cubicBezTo>
                <a:lnTo>
                  <a:pt x="75417" y="102212"/>
                </a:lnTo>
                <a:cubicBezTo>
                  <a:pt x="71397" y="104073"/>
                  <a:pt x="66756" y="104073"/>
                  <a:pt x="62735" y="102212"/>
                </a:cubicBezTo>
                <a:lnTo>
                  <a:pt x="3751" y="74959"/>
                </a:lnTo>
                <a:cubicBezTo>
                  <a:pt x="1457" y="73879"/>
                  <a:pt x="0" y="71586"/>
                  <a:pt x="0" y="69076"/>
                </a:cubicBezTo>
                <a:cubicBezTo>
                  <a:pt x="0" y="66567"/>
                  <a:pt x="1457" y="64247"/>
                  <a:pt x="3751" y="63194"/>
                </a:cubicBezTo>
                <a:lnTo>
                  <a:pt x="12952" y="58931"/>
                </a:lnTo>
                <a:close/>
                <a:moveTo>
                  <a:pt x="3751" y="97732"/>
                </a:moveTo>
                <a:lnTo>
                  <a:pt x="12952" y="93469"/>
                </a:lnTo>
                <a:lnTo>
                  <a:pt x="57285" y="113949"/>
                </a:lnTo>
                <a:cubicBezTo>
                  <a:pt x="64759" y="117403"/>
                  <a:pt x="73367" y="117403"/>
                  <a:pt x="80841" y="113949"/>
                </a:cubicBezTo>
                <a:lnTo>
                  <a:pt x="125174" y="93469"/>
                </a:lnTo>
                <a:lnTo>
                  <a:pt x="134375" y="97732"/>
                </a:lnTo>
                <a:cubicBezTo>
                  <a:pt x="136669" y="98785"/>
                  <a:pt x="138126" y="101078"/>
                  <a:pt x="138126" y="103615"/>
                </a:cubicBezTo>
                <a:cubicBezTo>
                  <a:pt x="138126" y="106151"/>
                  <a:pt x="136669" y="108445"/>
                  <a:pt x="134375" y="109497"/>
                </a:cubicBezTo>
                <a:lnTo>
                  <a:pt x="75391" y="136750"/>
                </a:lnTo>
                <a:cubicBezTo>
                  <a:pt x="71370" y="138612"/>
                  <a:pt x="66729" y="138612"/>
                  <a:pt x="62708" y="136750"/>
                </a:cubicBezTo>
                <a:lnTo>
                  <a:pt x="3751" y="109497"/>
                </a:lnTo>
                <a:cubicBezTo>
                  <a:pt x="1457" y="108418"/>
                  <a:pt x="0" y="106124"/>
                  <a:pt x="0" y="103615"/>
                </a:cubicBezTo>
                <a:cubicBezTo>
                  <a:pt x="0" y="101105"/>
                  <a:pt x="1457" y="98785"/>
                  <a:pt x="3751" y="9773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7" name="Text 45"/>
          <p:cNvSpPr/>
          <p:nvPr/>
        </p:nvSpPr>
        <p:spPr>
          <a:xfrm>
            <a:off x="7946818" y="4669569"/>
            <a:ext cx="1867522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输入层与表现层分离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05051" y="4886872"/>
            <a:ext cx="3885552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输入仅传递意图，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PlayerController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根据物理参数（加速度、减速度、最大速度）平滑处理移动。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49629" y="5671178"/>
            <a:ext cx="4110051" cy="1001609"/>
          </a:xfrm>
          <a:custGeom>
            <a:avLst/>
            <a:gdLst/>
            <a:ahLst/>
            <a:cxnLst/>
            <a:rect l="l" t="t" r="r" b="b"/>
            <a:pathLst>
              <a:path w="4110051" h="1001609">
                <a:moveTo>
                  <a:pt x="34538" y="0"/>
                </a:moveTo>
                <a:lnTo>
                  <a:pt x="4040970" y="0"/>
                </a:lnTo>
                <a:cubicBezTo>
                  <a:pt x="4079122" y="0"/>
                  <a:pt x="4110051" y="30929"/>
                  <a:pt x="4110051" y="69081"/>
                </a:cubicBezTo>
                <a:lnTo>
                  <a:pt x="4110051" y="932528"/>
                </a:lnTo>
                <a:cubicBezTo>
                  <a:pt x="4110051" y="970680"/>
                  <a:pt x="4079122" y="1001609"/>
                  <a:pt x="4040970" y="1001609"/>
                </a:cubicBezTo>
                <a:lnTo>
                  <a:pt x="34538" y="1001609"/>
                </a:lnTo>
                <a:cubicBezTo>
                  <a:pt x="15463" y="1001609"/>
                  <a:pt x="0" y="986146"/>
                  <a:pt x="0" y="967071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7549629" y="5671178"/>
            <a:ext cx="34538" cy="1001609"/>
          </a:xfrm>
          <a:custGeom>
            <a:avLst/>
            <a:gdLst/>
            <a:ahLst/>
            <a:cxnLst/>
            <a:rect l="l" t="t" r="r" b="b"/>
            <a:pathLst>
              <a:path w="34538" h="1001609">
                <a:moveTo>
                  <a:pt x="34538" y="0"/>
                </a:moveTo>
                <a:lnTo>
                  <a:pt x="34538" y="0"/>
                </a:lnTo>
                <a:lnTo>
                  <a:pt x="34538" y="1001609"/>
                </a:lnTo>
                <a:lnTo>
                  <a:pt x="34538" y="1001609"/>
                </a:lnTo>
                <a:cubicBezTo>
                  <a:pt x="15463" y="1001609"/>
                  <a:pt x="0" y="986146"/>
                  <a:pt x="0" y="967071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1" name="Shape 49"/>
          <p:cNvSpPr/>
          <p:nvPr/>
        </p:nvSpPr>
        <p:spPr>
          <a:xfrm>
            <a:off x="7722320" y="5843869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8635" y="17269"/>
                </a:moveTo>
                <a:cubicBezTo>
                  <a:pt x="3859" y="17269"/>
                  <a:pt x="0" y="21128"/>
                  <a:pt x="0" y="25904"/>
                </a:cubicBezTo>
                <a:cubicBezTo>
                  <a:pt x="0" y="30680"/>
                  <a:pt x="3859" y="34538"/>
                  <a:pt x="8635" y="34538"/>
                </a:cubicBezTo>
                <a:lnTo>
                  <a:pt x="32029" y="34538"/>
                </a:lnTo>
                <a:cubicBezTo>
                  <a:pt x="35348" y="42174"/>
                  <a:pt x="42957" y="47490"/>
                  <a:pt x="51807" y="47490"/>
                </a:cubicBezTo>
                <a:cubicBezTo>
                  <a:pt x="60658" y="47490"/>
                  <a:pt x="68267" y="42174"/>
                  <a:pt x="71586" y="34538"/>
                </a:cubicBezTo>
                <a:lnTo>
                  <a:pt x="129518" y="34538"/>
                </a:lnTo>
                <a:cubicBezTo>
                  <a:pt x="134294" y="34538"/>
                  <a:pt x="138153" y="30680"/>
                  <a:pt x="138153" y="25904"/>
                </a:cubicBezTo>
                <a:cubicBezTo>
                  <a:pt x="138153" y="21128"/>
                  <a:pt x="134294" y="17269"/>
                  <a:pt x="129518" y="17269"/>
                </a:cubicBezTo>
                <a:lnTo>
                  <a:pt x="71586" y="17269"/>
                </a:lnTo>
                <a:cubicBezTo>
                  <a:pt x="68267" y="9633"/>
                  <a:pt x="60658" y="4317"/>
                  <a:pt x="51807" y="4317"/>
                </a:cubicBezTo>
                <a:cubicBezTo>
                  <a:pt x="42957" y="4317"/>
                  <a:pt x="35348" y="9633"/>
                  <a:pt x="32029" y="17269"/>
                </a:cubicBezTo>
                <a:lnTo>
                  <a:pt x="8635" y="17269"/>
                </a:lnTo>
                <a:close/>
                <a:moveTo>
                  <a:pt x="8635" y="60442"/>
                </a:moveTo>
                <a:cubicBezTo>
                  <a:pt x="3859" y="60442"/>
                  <a:pt x="0" y="64300"/>
                  <a:pt x="0" y="69076"/>
                </a:cubicBezTo>
                <a:cubicBezTo>
                  <a:pt x="0" y="73852"/>
                  <a:pt x="3859" y="77711"/>
                  <a:pt x="8635" y="77711"/>
                </a:cubicBezTo>
                <a:lnTo>
                  <a:pt x="75202" y="77711"/>
                </a:lnTo>
                <a:cubicBezTo>
                  <a:pt x="78521" y="85347"/>
                  <a:pt x="86130" y="90663"/>
                  <a:pt x="94980" y="90663"/>
                </a:cubicBezTo>
                <a:cubicBezTo>
                  <a:pt x="103831" y="90663"/>
                  <a:pt x="111440" y="85347"/>
                  <a:pt x="114759" y="77711"/>
                </a:cubicBezTo>
                <a:lnTo>
                  <a:pt x="129518" y="77711"/>
                </a:lnTo>
                <a:cubicBezTo>
                  <a:pt x="134294" y="77711"/>
                  <a:pt x="138153" y="73852"/>
                  <a:pt x="138153" y="69076"/>
                </a:cubicBezTo>
                <a:cubicBezTo>
                  <a:pt x="138153" y="64300"/>
                  <a:pt x="134294" y="60442"/>
                  <a:pt x="129518" y="60442"/>
                </a:cubicBezTo>
                <a:lnTo>
                  <a:pt x="114759" y="60442"/>
                </a:lnTo>
                <a:cubicBezTo>
                  <a:pt x="111440" y="52806"/>
                  <a:pt x="103831" y="47490"/>
                  <a:pt x="94980" y="47490"/>
                </a:cubicBezTo>
                <a:cubicBezTo>
                  <a:pt x="86130" y="47490"/>
                  <a:pt x="78521" y="52806"/>
                  <a:pt x="75202" y="60442"/>
                </a:cubicBezTo>
                <a:lnTo>
                  <a:pt x="8635" y="60442"/>
                </a:lnTo>
                <a:close/>
                <a:moveTo>
                  <a:pt x="8635" y="103615"/>
                </a:moveTo>
                <a:cubicBezTo>
                  <a:pt x="3859" y="103615"/>
                  <a:pt x="0" y="107473"/>
                  <a:pt x="0" y="112249"/>
                </a:cubicBezTo>
                <a:cubicBezTo>
                  <a:pt x="0" y="117025"/>
                  <a:pt x="3859" y="120884"/>
                  <a:pt x="8635" y="120884"/>
                </a:cubicBezTo>
                <a:lnTo>
                  <a:pt x="23394" y="120884"/>
                </a:lnTo>
                <a:cubicBezTo>
                  <a:pt x="26713" y="128520"/>
                  <a:pt x="34322" y="133836"/>
                  <a:pt x="43173" y="133836"/>
                </a:cubicBezTo>
                <a:cubicBezTo>
                  <a:pt x="52023" y="133836"/>
                  <a:pt x="59632" y="128520"/>
                  <a:pt x="62951" y="120884"/>
                </a:cubicBezTo>
                <a:lnTo>
                  <a:pt x="129518" y="120884"/>
                </a:lnTo>
                <a:cubicBezTo>
                  <a:pt x="134294" y="120884"/>
                  <a:pt x="138153" y="117025"/>
                  <a:pt x="138153" y="112249"/>
                </a:cubicBezTo>
                <a:cubicBezTo>
                  <a:pt x="138153" y="107473"/>
                  <a:pt x="134294" y="103615"/>
                  <a:pt x="129518" y="103615"/>
                </a:cubicBezTo>
                <a:lnTo>
                  <a:pt x="62951" y="103615"/>
                </a:lnTo>
                <a:cubicBezTo>
                  <a:pt x="59632" y="95979"/>
                  <a:pt x="52023" y="90663"/>
                  <a:pt x="43173" y="90663"/>
                </a:cubicBezTo>
                <a:cubicBezTo>
                  <a:pt x="34322" y="90663"/>
                  <a:pt x="26713" y="95979"/>
                  <a:pt x="23394" y="103615"/>
                </a:cubicBezTo>
                <a:lnTo>
                  <a:pt x="8635" y="103615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2" name="Text 50"/>
          <p:cNvSpPr/>
          <p:nvPr/>
        </p:nvSpPr>
        <p:spPr>
          <a:xfrm>
            <a:off x="7946818" y="5809331"/>
            <a:ext cx="1583715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灵敏度分离配置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705051" y="6085637"/>
            <a:ext cx="3885552" cy="448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X/Y轴灵敏度分离配置，支持玩家自定义，</a:t>
            </a:r>
            <a:r>
              <a:rPr lang="en-US" sz="109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提升操作灵活性和舒适度</a:t>
            </a:r>
            <a:r>
              <a:rPr lang="en-US" sz="109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kern="0" spc="55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04 · SYSTEM DECOUPLING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849" y="631528"/>
            <a:ext cx="11648184" cy="3508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问题四：状态切换与UI耦合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357" y="1161310"/>
            <a:ext cx="6752087" cy="1813889"/>
          </a:xfrm>
          <a:custGeom>
            <a:avLst/>
            <a:gdLst/>
            <a:ahLst/>
            <a:cxnLst/>
            <a:rect l="l" t="t" r="r" b="b"/>
            <a:pathLst>
              <a:path w="6752087" h="1813889">
                <a:moveTo>
                  <a:pt x="105260" y="0"/>
                </a:moveTo>
                <a:lnTo>
                  <a:pt x="6646828" y="0"/>
                </a:lnTo>
                <a:cubicBezTo>
                  <a:pt x="6704961" y="0"/>
                  <a:pt x="6752087" y="47126"/>
                  <a:pt x="6752087" y="105260"/>
                </a:cubicBezTo>
                <a:lnTo>
                  <a:pt x="6752087" y="1708629"/>
                </a:lnTo>
                <a:cubicBezTo>
                  <a:pt x="6752087" y="1766762"/>
                  <a:pt x="6704961" y="1813889"/>
                  <a:pt x="6646828" y="1813889"/>
                </a:cubicBezTo>
                <a:lnTo>
                  <a:pt x="105260" y="1813889"/>
                </a:lnTo>
                <a:cubicBezTo>
                  <a:pt x="47126" y="1813889"/>
                  <a:pt x="0" y="1766762"/>
                  <a:pt x="0" y="1708629"/>
                </a:cubicBezTo>
                <a:lnTo>
                  <a:pt x="0" y="105260"/>
                </a:lnTo>
                <a:cubicBezTo>
                  <a:pt x="0" y="47165"/>
                  <a:pt x="47165" y="0"/>
                  <a:pt x="10526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290" y="1340241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56088" y="1463038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87712" y="0"/>
                </a:moveTo>
                <a:cubicBezTo>
                  <a:pt x="92749" y="0"/>
                  <a:pt x="97374" y="2775"/>
                  <a:pt x="99773" y="7195"/>
                </a:cubicBezTo>
                <a:lnTo>
                  <a:pt x="173780" y="144246"/>
                </a:lnTo>
                <a:cubicBezTo>
                  <a:pt x="176075" y="148494"/>
                  <a:pt x="175973" y="153633"/>
                  <a:pt x="173506" y="157779"/>
                </a:cubicBezTo>
                <a:cubicBezTo>
                  <a:pt x="171039" y="161925"/>
                  <a:pt x="166550" y="164460"/>
                  <a:pt x="161719" y="164460"/>
                </a:cubicBezTo>
                <a:lnTo>
                  <a:pt x="13705" y="164460"/>
                </a:lnTo>
                <a:cubicBezTo>
                  <a:pt x="8874" y="164460"/>
                  <a:pt x="4420" y="161925"/>
                  <a:pt x="1919" y="157779"/>
                </a:cubicBezTo>
                <a:cubicBezTo>
                  <a:pt x="-582" y="153633"/>
                  <a:pt x="-651" y="148494"/>
                  <a:pt x="1645" y="144246"/>
                </a:cubicBezTo>
                <a:lnTo>
                  <a:pt x="75652" y="7195"/>
                </a:lnTo>
                <a:cubicBezTo>
                  <a:pt x="78050" y="2775"/>
                  <a:pt x="82676" y="0"/>
                  <a:pt x="87712" y="0"/>
                </a:cubicBezTo>
                <a:close/>
                <a:moveTo>
                  <a:pt x="87712" y="57561"/>
                </a:moveTo>
                <a:cubicBezTo>
                  <a:pt x="83155" y="57561"/>
                  <a:pt x="79489" y="61227"/>
                  <a:pt x="79489" y="65784"/>
                </a:cubicBezTo>
                <a:lnTo>
                  <a:pt x="79489" y="104158"/>
                </a:lnTo>
                <a:cubicBezTo>
                  <a:pt x="79489" y="108715"/>
                  <a:pt x="83155" y="112381"/>
                  <a:pt x="87712" y="112381"/>
                </a:cubicBezTo>
                <a:cubicBezTo>
                  <a:pt x="92269" y="112381"/>
                  <a:pt x="95935" y="108715"/>
                  <a:pt x="95935" y="104158"/>
                </a:cubicBezTo>
                <a:lnTo>
                  <a:pt x="95935" y="65784"/>
                </a:lnTo>
                <a:cubicBezTo>
                  <a:pt x="95935" y="61227"/>
                  <a:pt x="92269" y="57561"/>
                  <a:pt x="87712" y="57561"/>
                </a:cubicBezTo>
                <a:close/>
                <a:moveTo>
                  <a:pt x="96860" y="131568"/>
                </a:moveTo>
                <a:cubicBezTo>
                  <a:pt x="97068" y="128173"/>
                  <a:pt x="95375" y="124942"/>
                  <a:pt x="92464" y="123181"/>
                </a:cubicBezTo>
                <a:cubicBezTo>
                  <a:pt x="89553" y="121420"/>
                  <a:pt x="85906" y="121420"/>
                  <a:pt x="82995" y="123181"/>
                </a:cubicBezTo>
                <a:cubicBezTo>
                  <a:pt x="80084" y="124942"/>
                  <a:pt x="78390" y="128173"/>
                  <a:pt x="78598" y="131568"/>
                </a:cubicBezTo>
                <a:cubicBezTo>
                  <a:pt x="78390" y="134964"/>
                  <a:pt x="80084" y="138195"/>
                  <a:pt x="82995" y="139955"/>
                </a:cubicBezTo>
                <a:cubicBezTo>
                  <a:pt x="85906" y="141716"/>
                  <a:pt x="89553" y="141716"/>
                  <a:pt x="92464" y="139955"/>
                </a:cubicBezTo>
                <a:cubicBezTo>
                  <a:pt x="95375" y="138195"/>
                  <a:pt x="97068" y="134964"/>
                  <a:pt x="96860" y="131568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7" name="Text 5"/>
          <p:cNvSpPr/>
          <p:nvPr/>
        </p:nvSpPr>
        <p:spPr>
          <a:xfrm>
            <a:off x="1059564" y="1410411"/>
            <a:ext cx="947292" cy="280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0833" y="1936684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45775" y="45775"/>
                </a:moveTo>
                <a:cubicBezTo>
                  <a:pt x="48351" y="43198"/>
                  <a:pt x="52518" y="43198"/>
                  <a:pt x="55067" y="45775"/>
                </a:cubicBezTo>
                <a:lnTo>
                  <a:pt x="70142" y="60850"/>
                </a:lnTo>
                <a:lnTo>
                  <a:pt x="85218" y="45775"/>
                </a:lnTo>
                <a:cubicBezTo>
                  <a:pt x="87794" y="43198"/>
                  <a:pt x="91961" y="43198"/>
                  <a:pt x="94510" y="45775"/>
                </a:cubicBezTo>
                <a:cubicBezTo>
                  <a:pt x="97059" y="48351"/>
                  <a:pt x="97086" y="52518"/>
                  <a:pt x="94510" y="55067"/>
                </a:cubicBezTo>
                <a:lnTo>
                  <a:pt x="79434" y="70142"/>
                </a:lnTo>
                <a:lnTo>
                  <a:pt x="94510" y="85218"/>
                </a:lnTo>
                <a:cubicBezTo>
                  <a:pt x="97086" y="87794"/>
                  <a:pt x="97086" y="91961"/>
                  <a:pt x="94510" y="94510"/>
                </a:cubicBezTo>
                <a:cubicBezTo>
                  <a:pt x="91933" y="97059"/>
                  <a:pt x="87767" y="97086"/>
                  <a:pt x="85218" y="94510"/>
                </a:cubicBezTo>
                <a:lnTo>
                  <a:pt x="70142" y="79434"/>
                </a:lnTo>
                <a:lnTo>
                  <a:pt x="55067" y="94510"/>
                </a:lnTo>
                <a:cubicBezTo>
                  <a:pt x="52490" y="97086"/>
                  <a:pt x="48324" y="97086"/>
                  <a:pt x="45775" y="94510"/>
                </a:cubicBezTo>
                <a:cubicBezTo>
                  <a:pt x="43226" y="91933"/>
                  <a:pt x="43198" y="87767"/>
                  <a:pt x="45775" y="85218"/>
                </a:cubicBezTo>
                <a:lnTo>
                  <a:pt x="60850" y="70142"/>
                </a:lnTo>
                <a:lnTo>
                  <a:pt x="45775" y="55067"/>
                </a:lnTo>
                <a:cubicBezTo>
                  <a:pt x="43198" y="52490"/>
                  <a:pt x="43198" y="48324"/>
                  <a:pt x="45775" y="45775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813970" y="1901599"/>
            <a:ext cx="4436002" cy="228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状态切换时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UI没有正确关闭或开启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，出现UI重叠或缺失的情况。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0833" y="2269991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45775" y="45775"/>
                </a:moveTo>
                <a:cubicBezTo>
                  <a:pt x="48351" y="43198"/>
                  <a:pt x="52518" y="43198"/>
                  <a:pt x="55067" y="45775"/>
                </a:cubicBezTo>
                <a:lnTo>
                  <a:pt x="70142" y="60850"/>
                </a:lnTo>
                <a:lnTo>
                  <a:pt x="85218" y="45775"/>
                </a:lnTo>
                <a:cubicBezTo>
                  <a:pt x="87794" y="43198"/>
                  <a:pt x="91961" y="43198"/>
                  <a:pt x="94510" y="45775"/>
                </a:cubicBezTo>
                <a:cubicBezTo>
                  <a:pt x="97059" y="48351"/>
                  <a:pt x="97086" y="52518"/>
                  <a:pt x="94510" y="55067"/>
                </a:cubicBezTo>
                <a:lnTo>
                  <a:pt x="79434" y="70142"/>
                </a:lnTo>
                <a:lnTo>
                  <a:pt x="94510" y="85218"/>
                </a:lnTo>
                <a:cubicBezTo>
                  <a:pt x="97086" y="87794"/>
                  <a:pt x="97086" y="91961"/>
                  <a:pt x="94510" y="94510"/>
                </a:cubicBezTo>
                <a:cubicBezTo>
                  <a:pt x="91933" y="97059"/>
                  <a:pt x="87767" y="97086"/>
                  <a:pt x="85218" y="94510"/>
                </a:cubicBezTo>
                <a:lnTo>
                  <a:pt x="70142" y="79434"/>
                </a:lnTo>
                <a:lnTo>
                  <a:pt x="55067" y="94510"/>
                </a:lnTo>
                <a:cubicBezTo>
                  <a:pt x="52490" y="97086"/>
                  <a:pt x="48324" y="97086"/>
                  <a:pt x="45775" y="94510"/>
                </a:cubicBezTo>
                <a:cubicBezTo>
                  <a:pt x="43226" y="91933"/>
                  <a:pt x="43198" y="87767"/>
                  <a:pt x="45775" y="85218"/>
                </a:cubicBezTo>
                <a:lnTo>
                  <a:pt x="60850" y="70142"/>
                </a:lnTo>
                <a:lnTo>
                  <a:pt x="45775" y="55067"/>
                </a:lnTo>
                <a:cubicBezTo>
                  <a:pt x="43198" y="52490"/>
                  <a:pt x="43198" y="48324"/>
                  <a:pt x="45775" y="45775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1" name="Text 9"/>
          <p:cNvSpPr/>
          <p:nvPr/>
        </p:nvSpPr>
        <p:spPr>
          <a:xfrm>
            <a:off x="813970" y="2234906"/>
            <a:ext cx="4712265" cy="228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状态管理器直接调用UI接口，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代码耦合度高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，难以维护和扩展。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0833" y="2603297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45775" y="45775"/>
                </a:moveTo>
                <a:cubicBezTo>
                  <a:pt x="48351" y="43198"/>
                  <a:pt x="52518" y="43198"/>
                  <a:pt x="55067" y="45775"/>
                </a:cubicBezTo>
                <a:lnTo>
                  <a:pt x="70142" y="60850"/>
                </a:lnTo>
                <a:lnTo>
                  <a:pt x="85218" y="45775"/>
                </a:lnTo>
                <a:cubicBezTo>
                  <a:pt x="87794" y="43198"/>
                  <a:pt x="91961" y="43198"/>
                  <a:pt x="94510" y="45775"/>
                </a:cubicBezTo>
                <a:cubicBezTo>
                  <a:pt x="97059" y="48351"/>
                  <a:pt x="97086" y="52518"/>
                  <a:pt x="94510" y="55067"/>
                </a:cubicBezTo>
                <a:lnTo>
                  <a:pt x="79434" y="70142"/>
                </a:lnTo>
                <a:lnTo>
                  <a:pt x="94510" y="85218"/>
                </a:lnTo>
                <a:cubicBezTo>
                  <a:pt x="97086" y="87794"/>
                  <a:pt x="97086" y="91961"/>
                  <a:pt x="94510" y="94510"/>
                </a:cubicBezTo>
                <a:cubicBezTo>
                  <a:pt x="91933" y="97059"/>
                  <a:pt x="87767" y="97086"/>
                  <a:pt x="85218" y="94510"/>
                </a:cubicBezTo>
                <a:lnTo>
                  <a:pt x="70142" y="79434"/>
                </a:lnTo>
                <a:lnTo>
                  <a:pt x="55067" y="94510"/>
                </a:lnTo>
                <a:cubicBezTo>
                  <a:pt x="52490" y="97086"/>
                  <a:pt x="48324" y="97086"/>
                  <a:pt x="45775" y="94510"/>
                </a:cubicBezTo>
                <a:cubicBezTo>
                  <a:pt x="43226" y="91933"/>
                  <a:pt x="43198" y="87767"/>
                  <a:pt x="45775" y="85218"/>
                </a:cubicBezTo>
                <a:lnTo>
                  <a:pt x="60850" y="70142"/>
                </a:lnTo>
                <a:lnTo>
                  <a:pt x="45775" y="55067"/>
                </a:lnTo>
                <a:cubicBezTo>
                  <a:pt x="43198" y="52490"/>
                  <a:pt x="43198" y="48324"/>
                  <a:pt x="45775" y="45775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3" name="Text 11"/>
          <p:cNvSpPr/>
          <p:nvPr/>
        </p:nvSpPr>
        <p:spPr>
          <a:xfrm>
            <a:off x="813970" y="2568212"/>
            <a:ext cx="4436002" cy="228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新增UI或状态时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需要修改多处代码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，违反开闭原则。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4357" y="3122561"/>
            <a:ext cx="6752087" cy="3726016"/>
          </a:xfrm>
          <a:custGeom>
            <a:avLst/>
            <a:gdLst/>
            <a:ahLst/>
            <a:cxnLst/>
            <a:rect l="l" t="t" r="r" b="b"/>
            <a:pathLst>
              <a:path w="6752087" h="3726016">
                <a:moveTo>
                  <a:pt x="105260" y="0"/>
                </a:moveTo>
                <a:lnTo>
                  <a:pt x="6646828" y="0"/>
                </a:lnTo>
                <a:cubicBezTo>
                  <a:pt x="6704961" y="0"/>
                  <a:pt x="6752087" y="47126"/>
                  <a:pt x="6752087" y="105260"/>
                </a:cubicBezTo>
                <a:lnTo>
                  <a:pt x="6752087" y="3620756"/>
                </a:lnTo>
                <a:cubicBezTo>
                  <a:pt x="6752087" y="3678889"/>
                  <a:pt x="6704961" y="3726016"/>
                  <a:pt x="6646828" y="3726016"/>
                </a:cubicBezTo>
                <a:lnTo>
                  <a:pt x="105260" y="3726016"/>
                </a:lnTo>
                <a:cubicBezTo>
                  <a:pt x="47126" y="3726016"/>
                  <a:pt x="0" y="3678889"/>
                  <a:pt x="0" y="3620756"/>
                </a:cubicBezTo>
                <a:lnTo>
                  <a:pt x="0" y="105260"/>
                </a:lnTo>
                <a:cubicBezTo>
                  <a:pt x="0" y="47126"/>
                  <a:pt x="47126" y="0"/>
                  <a:pt x="10526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3290" y="3301492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78016" y="3424289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100355" y="131568"/>
                </a:moveTo>
                <a:cubicBezTo>
                  <a:pt x="102856" y="123928"/>
                  <a:pt x="107859" y="117007"/>
                  <a:pt x="113512" y="111045"/>
                </a:cubicBezTo>
                <a:cubicBezTo>
                  <a:pt x="124716" y="99259"/>
                  <a:pt x="131568" y="83327"/>
                  <a:pt x="131568" y="65784"/>
                </a:cubicBezTo>
                <a:cubicBezTo>
                  <a:pt x="131568" y="29466"/>
                  <a:pt x="102103" y="0"/>
                  <a:pt x="65784" y="0"/>
                </a:cubicBezTo>
                <a:cubicBezTo>
                  <a:pt x="29466" y="0"/>
                  <a:pt x="0" y="29466"/>
                  <a:pt x="0" y="65784"/>
                </a:cubicBezTo>
                <a:cubicBezTo>
                  <a:pt x="0" y="83327"/>
                  <a:pt x="6853" y="99259"/>
                  <a:pt x="18056" y="111045"/>
                </a:cubicBezTo>
                <a:cubicBezTo>
                  <a:pt x="23710" y="117007"/>
                  <a:pt x="28746" y="123928"/>
                  <a:pt x="31213" y="131568"/>
                </a:cubicBezTo>
                <a:lnTo>
                  <a:pt x="100321" y="131568"/>
                </a:lnTo>
                <a:close/>
                <a:moveTo>
                  <a:pt x="98676" y="148014"/>
                </a:moveTo>
                <a:lnTo>
                  <a:pt x="32892" y="148014"/>
                </a:lnTo>
                <a:lnTo>
                  <a:pt x="32892" y="153496"/>
                </a:lnTo>
                <a:cubicBezTo>
                  <a:pt x="32892" y="168640"/>
                  <a:pt x="45158" y="180906"/>
                  <a:pt x="60302" y="180906"/>
                </a:cubicBezTo>
                <a:lnTo>
                  <a:pt x="71266" y="180906"/>
                </a:lnTo>
                <a:cubicBezTo>
                  <a:pt x="86410" y="180906"/>
                  <a:pt x="98676" y="168640"/>
                  <a:pt x="98676" y="153496"/>
                </a:cubicBezTo>
                <a:lnTo>
                  <a:pt x="98676" y="148014"/>
                </a:lnTo>
                <a:close/>
                <a:moveTo>
                  <a:pt x="63043" y="38374"/>
                </a:moveTo>
                <a:cubicBezTo>
                  <a:pt x="49407" y="38374"/>
                  <a:pt x="38374" y="49407"/>
                  <a:pt x="38374" y="63043"/>
                </a:cubicBezTo>
                <a:cubicBezTo>
                  <a:pt x="38374" y="67600"/>
                  <a:pt x="34708" y="71266"/>
                  <a:pt x="30151" y="71266"/>
                </a:cubicBezTo>
                <a:cubicBezTo>
                  <a:pt x="25594" y="71266"/>
                  <a:pt x="21928" y="67600"/>
                  <a:pt x="21928" y="63043"/>
                </a:cubicBezTo>
                <a:cubicBezTo>
                  <a:pt x="21928" y="40327"/>
                  <a:pt x="40327" y="21928"/>
                  <a:pt x="63043" y="21928"/>
                </a:cubicBezTo>
                <a:cubicBezTo>
                  <a:pt x="67600" y="21928"/>
                  <a:pt x="71266" y="25594"/>
                  <a:pt x="71266" y="30151"/>
                </a:cubicBezTo>
                <a:cubicBezTo>
                  <a:pt x="71266" y="34708"/>
                  <a:pt x="67600" y="38374"/>
                  <a:pt x="63043" y="3837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5"/>
          <p:cNvSpPr/>
          <p:nvPr/>
        </p:nvSpPr>
        <p:spPr>
          <a:xfrm>
            <a:off x="1059564" y="3371662"/>
            <a:ext cx="947292" cy="280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根因分析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290" y="388039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02254" y="3897935"/>
            <a:ext cx="131568" cy="175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9054" y="3862850"/>
            <a:ext cx="3876821" cy="228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状态管理器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直接依赖UI组件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，形成紧耦合的调用链。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290" y="421369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02254" y="4231241"/>
            <a:ext cx="131568" cy="175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9054" y="4196157"/>
            <a:ext cx="3876821" cy="228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缺少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统一的事件通信机制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，各模块间直接调用。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290" y="4547005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02254" y="4564548"/>
            <a:ext cx="131568" cy="175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9054" y="4529463"/>
            <a:ext cx="3713920" cy="228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UI响应逻辑分散，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难以统一管理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和维护。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85488" y="1161310"/>
            <a:ext cx="4550511" cy="5690769"/>
          </a:xfrm>
          <a:custGeom>
            <a:avLst/>
            <a:gdLst/>
            <a:ahLst/>
            <a:cxnLst/>
            <a:rect l="l" t="t" r="r" b="b"/>
            <a:pathLst>
              <a:path w="4550511" h="5690769">
                <a:moveTo>
                  <a:pt x="105253" y="0"/>
                </a:moveTo>
                <a:lnTo>
                  <a:pt x="4445257" y="0"/>
                </a:lnTo>
                <a:cubicBezTo>
                  <a:pt x="4503387" y="0"/>
                  <a:pt x="4550511" y="47124"/>
                  <a:pt x="4550511" y="105253"/>
                </a:cubicBezTo>
                <a:lnTo>
                  <a:pt x="4550511" y="5585516"/>
                </a:lnTo>
                <a:cubicBezTo>
                  <a:pt x="4550511" y="5643646"/>
                  <a:pt x="4503387" y="5690769"/>
                  <a:pt x="4445257" y="5690769"/>
                </a:cubicBezTo>
                <a:lnTo>
                  <a:pt x="105253" y="5690769"/>
                </a:lnTo>
                <a:cubicBezTo>
                  <a:pt x="47124" y="5690769"/>
                  <a:pt x="0" y="5643646"/>
                  <a:pt x="0" y="5585516"/>
                </a:cubicBezTo>
                <a:lnTo>
                  <a:pt x="0" y="105253"/>
                </a:lnTo>
                <a:cubicBezTo>
                  <a:pt x="0" y="47162"/>
                  <a:pt x="47162" y="0"/>
                  <a:pt x="10525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4421" y="1340241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7587218" y="1463038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87712" y="175424"/>
                </a:moveTo>
                <a:cubicBezTo>
                  <a:pt x="136122" y="175424"/>
                  <a:pt x="175424" y="136122"/>
                  <a:pt x="175424" y="87712"/>
                </a:cubicBezTo>
                <a:cubicBezTo>
                  <a:pt x="175424" y="39303"/>
                  <a:pt x="136122" y="0"/>
                  <a:pt x="87712" y="0"/>
                </a:cubicBezTo>
                <a:cubicBezTo>
                  <a:pt x="39303" y="0"/>
                  <a:pt x="0" y="39303"/>
                  <a:pt x="0" y="87712"/>
                </a:cubicBezTo>
                <a:cubicBezTo>
                  <a:pt x="0" y="136122"/>
                  <a:pt x="39303" y="175424"/>
                  <a:pt x="87712" y="175424"/>
                </a:cubicBezTo>
                <a:close/>
                <a:moveTo>
                  <a:pt x="116630" y="72877"/>
                </a:moveTo>
                <a:lnTo>
                  <a:pt x="89220" y="116733"/>
                </a:lnTo>
                <a:cubicBezTo>
                  <a:pt x="87781" y="119028"/>
                  <a:pt x="85314" y="120467"/>
                  <a:pt x="82607" y="120604"/>
                </a:cubicBezTo>
                <a:cubicBezTo>
                  <a:pt x="79900" y="120741"/>
                  <a:pt x="77296" y="119508"/>
                  <a:pt x="75686" y="117315"/>
                </a:cubicBezTo>
                <a:lnTo>
                  <a:pt x="59240" y="95387"/>
                </a:lnTo>
                <a:cubicBezTo>
                  <a:pt x="56499" y="91755"/>
                  <a:pt x="57253" y="86616"/>
                  <a:pt x="60885" y="83875"/>
                </a:cubicBezTo>
                <a:cubicBezTo>
                  <a:pt x="64516" y="81134"/>
                  <a:pt x="69656" y="81888"/>
                  <a:pt x="72397" y="85519"/>
                </a:cubicBezTo>
                <a:lnTo>
                  <a:pt x="81648" y="97854"/>
                </a:lnTo>
                <a:lnTo>
                  <a:pt x="102685" y="64174"/>
                </a:lnTo>
                <a:cubicBezTo>
                  <a:pt x="105083" y="60336"/>
                  <a:pt x="110154" y="59137"/>
                  <a:pt x="114026" y="61570"/>
                </a:cubicBezTo>
                <a:cubicBezTo>
                  <a:pt x="117898" y="64003"/>
                  <a:pt x="119063" y="69039"/>
                  <a:pt x="116630" y="7291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0" name="Text 28"/>
          <p:cNvSpPr/>
          <p:nvPr/>
        </p:nvSpPr>
        <p:spPr>
          <a:xfrm>
            <a:off x="7990694" y="1410411"/>
            <a:ext cx="947292" cy="280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81963" y="1901599"/>
            <a:ext cx="4175102" cy="2455942"/>
          </a:xfrm>
          <a:custGeom>
            <a:avLst/>
            <a:gdLst/>
            <a:ahLst/>
            <a:cxnLst/>
            <a:rect l="l" t="t" r="r" b="b"/>
            <a:pathLst>
              <a:path w="4175102" h="2455942">
                <a:moveTo>
                  <a:pt x="35085" y="0"/>
                </a:moveTo>
                <a:lnTo>
                  <a:pt x="4104936" y="0"/>
                </a:lnTo>
                <a:cubicBezTo>
                  <a:pt x="4143688" y="0"/>
                  <a:pt x="4175102" y="31415"/>
                  <a:pt x="4175102" y="70166"/>
                </a:cubicBezTo>
                <a:lnTo>
                  <a:pt x="4175102" y="2385776"/>
                </a:lnTo>
                <a:cubicBezTo>
                  <a:pt x="4175102" y="2424528"/>
                  <a:pt x="4143688" y="2455942"/>
                  <a:pt x="4104936" y="2455942"/>
                </a:cubicBezTo>
                <a:lnTo>
                  <a:pt x="35085" y="2455942"/>
                </a:lnTo>
                <a:cubicBezTo>
                  <a:pt x="15708" y="2455942"/>
                  <a:pt x="0" y="2440234"/>
                  <a:pt x="0" y="2420858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481963" y="1901599"/>
            <a:ext cx="35085" cy="2455942"/>
          </a:xfrm>
          <a:custGeom>
            <a:avLst/>
            <a:gdLst/>
            <a:ahLst/>
            <a:cxnLst/>
            <a:rect l="l" t="t" r="r" b="b"/>
            <a:pathLst>
              <a:path w="35085" h="2455942">
                <a:moveTo>
                  <a:pt x="35085" y="0"/>
                </a:moveTo>
                <a:lnTo>
                  <a:pt x="35085" y="0"/>
                </a:lnTo>
                <a:lnTo>
                  <a:pt x="35085" y="2455942"/>
                </a:lnTo>
                <a:lnTo>
                  <a:pt x="35085" y="2455942"/>
                </a:lnTo>
                <a:cubicBezTo>
                  <a:pt x="15708" y="2455942"/>
                  <a:pt x="0" y="2440234"/>
                  <a:pt x="0" y="2420858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3" name="Shape 31"/>
          <p:cNvSpPr/>
          <p:nvPr/>
        </p:nvSpPr>
        <p:spPr>
          <a:xfrm>
            <a:off x="7666159" y="2077024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61399" y="0"/>
                </a:moveTo>
                <a:cubicBezTo>
                  <a:pt x="56547" y="0"/>
                  <a:pt x="52627" y="3920"/>
                  <a:pt x="52627" y="8771"/>
                </a:cubicBezTo>
                <a:lnTo>
                  <a:pt x="52627" y="9648"/>
                </a:lnTo>
                <a:cubicBezTo>
                  <a:pt x="32618" y="13705"/>
                  <a:pt x="17542" y="31412"/>
                  <a:pt x="17542" y="52627"/>
                </a:cubicBezTo>
                <a:lnTo>
                  <a:pt x="17542" y="58575"/>
                </a:lnTo>
                <a:cubicBezTo>
                  <a:pt x="17542" y="71760"/>
                  <a:pt x="13047" y="84560"/>
                  <a:pt x="4824" y="94866"/>
                </a:cubicBezTo>
                <a:lnTo>
                  <a:pt x="2138" y="98210"/>
                </a:lnTo>
                <a:cubicBezTo>
                  <a:pt x="740" y="99937"/>
                  <a:pt x="0" y="102075"/>
                  <a:pt x="0" y="104295"/>
                </a:cubicBezTo>
                <a:cubicBezTo>
                  <a:pt x="0" y="109668"/>
                  <a:pt x="4358" y="114026"/>
                  <a:pt x="9731" y="114026"/>
                </a:cubicBezTo>
                <a:lnTo>
                  <a:pt x="113039" y="114026"/>
                </a:lnTo>
                <a:cubicBezTo>
                  <a:pt x="118412" y="114026"/>
                  <a:pt x="122770" y="109668"/>
                  <a:pt x="122770" y="104295"/>
                </a:cubicBezTo>
                <a:cubicBezTo>
                  <a:pt x="122770" y="102075"/>
                  <a:pt x="122030" y="99937"/>
                  <a:pt x="120632" y="98210"/>
                </a:cubicBezTo>
                <a:lnTo>
                  <a:pt x="117946" y="94866"/>
                </a:lnTo>
                <a:cubicBezTo>
                  <a:pt x="109750" y="84560"/>
                  <a:pt x="105255" y="71760"/>
                  <a:pt x="105255" y="58575"/>
                </a:cubicBezTo>
                <a:lnTo>
                  <a:pt x="105255" y="52627"/>
                </a:lnTo>
                <a:cubicBezTo>
                  <a:pt x="105255" y="31412"/>
                  <a:pt x="90179" y="13705"/>
                  <a:pt x="70170" y="9648"/>
                </a:cubicBezTo>
                <a:lnTo>
                  <a:pt x="70170" y="8771"/>
                </a:lnTo>
                <a:cubicBezTo>
                  <a:pt x="70170" y="3920"/>
                  <a:pt x="66250" y="0"/>
                  <a:pt x="61399" y="0"/>
                </a:cubicBezTo>
                <a:close/>
                <a:moveTo>
                  <a:pt x="44404" y="127183"/>
                </a:moveTo>
                <a:cubicBezTo>
                  <a:pt x="46350" y="134748"/>
                  <a:pt x="53230" y="140340"/>
                  <a:pt x="61399" y="140340"/>
                </a:cubicBezTo>
                <a:cubicBezTo>
                  <a:pt x="69567" y="140340"/>
                  <a:pt x="76447" y="134748"/>
                  <a:pt x="78393" y="127183"/>
                </a:cubicBezTo>
                <a:lnTo>
                  <a:pt x="44404" y="127183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4" name="Text 32"/>
          <p:cNvSpPr/>
          <p:nvPr/>
        </p:nvSpPr>
        <p:spPr>
          <a:xfrm>
            <a:off x="7885439" y="2041939"/>
            <a:ext cx="2604510" cy="21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EventComponent事件系统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39845" y="2322618"/>
            <a:ext cx="3947050" cy="45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引入GF的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EventComponent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事件系统，状态进入/退出时派发事件，UI组件监听事件自动响应。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39845" y="2883976"/>
            <a:ext cx="3876881" cy="1333226"/>
          </a:xfrm>
          <a:custGeom>
            <a:avLst/>
            <a:gdLst/>
            <a:ahLst/>
            <a:cxnLst/>
            <a:rect l="l" t="t" r="r" b="b"/>
            <a:pathLst>
              <a:path w="3876881" h="1333226">
                <a:moveTo>
                  <a:pt x="70168" y="0"/>
                </a:moveTo>
                <a:lnTo>
                  <a:pt x="3806713" y="0"/>
                </a:lnTo>
                <a:cubicBezTo>
                  <a:pt x="3845465" y="0"/>
                  <a:pt x="3876881" y="31415"/>
                  <a:pt x="3876881" y="70168"/>
                </a:cubicBezTo>
                <a:lnTo>
                  <a:pt x="3876881" y="1263058"/>
                </a:lnTo>
                <a:cubicBezTo>
                  <a:pt x="3876881" y="1301811"/>
                  <a:pt x="3845465" y="1333226"/>
                  <a:pt x="3806713" y="1333226"/>
                </a:cubicBezTo>
                <a:lnTo>
                  <a:pt x="70168" y="1333226"/>
                </a:lnTo>
                <a:cubicBezTo>
                  <a:pt x="31415" y="1333226"/>
                  <a:pt x="0" y="1301811"/>
                  <a:pt x="0" y="1263058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37" name="Text 35"/>
          <p:cNvSpPr/>
          <p:nvPr/>
        </p:nvSpPr>
        <p:spPr>
          <a:xfrm>
            <a:off x="7745100" y="2989231"/>
            <a:ext cx="3727770" cy="175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状态切换时派发事件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45100" y="3164656"/>
            <a:ext cx="3727770" cy="175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Event.Fire(GameStateChangeEventArgs.Create(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45100" y="3340080"/>
            <a:ext cx="3727770" cy="175424"/>
          </a:xfrm>
          <a:prstGeom prst="rect">
            <a:avLst/>
          </a:prstGeom>
          <a:noFill/>
        </p:spPr>
        <p:txBody>
          <a:bodyPr wrap="square" lIns="14034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newState, oldState));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45100" y="3585674"/>
            <a:ext cx="3727770" cy="175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8D93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UI监听事件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45100" y="3761099"/>
            <a:ext cx="3727770" cy="175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Event.Subscribe(GameStateChangeEventArgs.EventId,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45100" y="3936523"/>
            <a:ext cx="3727770" cy="175424"/>
          </a:xfrm>
          <a:prstGeom prst="rect">
            <a:avLst/>
          </a:prstGeom>
          <a:noFill/>
        </p:spPr>
        <p:txBody>
          <a:bodyPr wrap="square" lIns="14034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dirty="0">
                <a:solidFill>
                  <a:srgbClr val="E0E2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OnGameStateChange);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81963" y="4497881"/>
            <a:ext cx="4175102" cy="1017462"/>
          </a:xfrm>
          <a:custGeom>
            <a:avLst/>
            <a:gdLst/>
            <a:ahLst/>
            <a:cxnLst/>
            <a:rect l="l" t="t" r="r" b="b"/>
            <a:pathLst>
              <a:path w="4175102" h="1017462">
                <a:moveTo>
                  <a:pt x="35085" y="0"/>
                </a:moveTo>
                <a:lnTo>
                  <a:pt x="4104928" y="0"/>
                </a:lnTo>
                <a:cubicBezTo>
                  <a:pt x="4143684" y="0"/>
                  <a:pt x="4175102" y="31418"/>
                  <a:pt x="4175102" y="70174"/>
                </a:cubicBezTo>
                <a:lnTo>
                  <a:pt x="4175102" y="947288"/>
                </a:lnTo>
                <a:cubicBezTo>
                  <a:pt x="4175102" y="986044"/>
                  <a:pt x="4143684" y="1017462"/>
                  <a:pt x="4104928" y="1017462"/>
                </a:cubicBezTo>
                <a:lnTo>
                  <a:pt x="35085" y="1017462"/>
                </a:lnTo>
                <a:cubicBezTo>
                  <a:pt x="15708" y="1017462"/>
                  <a:pt x="0" y="1001754"/>
                  <a:pt x="0" y="98237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7481963" y="4497881"/>
            <a:ext cx="35085" cy="1017462"/>
          </a:xfrm>
          <a:custGeom>
            <a:avLst/>
            <a:gdLst/>
            <a:ahLst/>
            <a:cxnLst/>
            <a:rect l="l" t="t" r="r" b="b"/>
            <a:pathLst>
              <a:path w="35085" h="1017462">
                <a:moveTo>
                  <a:pt x="35085" y="0"/>
                </a:moveTo>
                <a:lnTo>
                  <a:pt x="35085" y="0"/>
                </a:lnTo>
                <a:lnTo>
                  <a:pt x="35085" y="1017462"/>
                </a:lnTo>
                <a:lnTo>
                  <a:pt x="35085" y="1017462"/>
                </a:lnTo>
                <a:cubicBezTo>
                  <a:pt x="15708" y="1017462"/>
                  <a:pt x="0" y="1001754"/>
                  <a:pt x="0" y="98237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5" name="Shape 43"/>
          <p:cNvSpPr/>
          <p:nvPr/>
        </p:nvSpPr>
        <p:spPr>
          <a:xfrm>
            <a:off x="7648616" y="4673306"/>
            <a:ext cx="157882" cy="140340"/>
          </a:xfrm>
          <a:custGeom>
            <a:avLst/>
            <a:gdLst/>
            <a:ahLst/>
            <a:cxnLst/>
            <a:rect l="l" t="t" r="r" b="b"/>
            <a:pathLst>
              <a:path w="157882" h="140340">
                <a:moveTo>
                  <a:pt x="140340" y="26314"/>
                </a:moveTo>
                <a:lnTo>
                  <a:pt x="43856" y="26314"/>
                </a:lnTo>
                <a:cubicBezTo>
                  <a:pt x="43856" y="16638"/>
                  <a:pt x="51723" y="8771"/>
                  <a:pt x="61399" y="8771"/>
                </a:cubicBezTo>
                <a:lnTo>
                  <a:pt x="140340" y="8771"/>
                </a:lnTo>
                <a:cubicBezTo>
                  <a:pt x="150015" y="8771"/>
                  <a:pt x="157882" y="16638"/>
                  <a:pt x="157882" y="26314"/>
                </a:cubicBezTo>
                <a:lnTo>
                  <a:pt x="157882" y="78941"/>
                </a:lnTo>
                <a:cubicBezTo>
                  <a:pt x="157882" y="88617"/>
                  <a:pt x="150015" y="96483"/>
                  <a:pt x="140340" y="96483"/>
                </a:cubicBezTo>
                <a:lnTo>
                  <a:pt x="127183" y="96483"/>
                </a:lnTo>
                <a:lnTo>
                  <a:pt x="127183" y="78941"/>
                </a:lnTo>
                <a:lnTo>
                  <a:pt x="140340" y="78941"/>
                </a:lnTo>
                <a:lnTo>
                  <a:pt x="140340" y="26314"/>
                </a:lnTo>
                <a:close/>
                <a:moveTo>
                  <a:pt x="0" y="61399"/>
                </a:moveTo>
                <a:cubicBezTo>
                  <a:pt x="0" y="51723"/>
                  <a:pt x="7867" y="43856"/>
                  <a:pt x="17542" y="43856"/>
                </a:cubicBezTo>
                <a:lnTo>
                  <a:pt x="96483" y="43856"/>
                </a:lnTo>
                <a:cubicBezTo>
                  <a:pt x="106159" y="43856"/>
                  <a:pt x="114026" y="51723"/>
                  <a:pt x="114026" y="61399"/>
                </a:cubicBezTo>
                <a:lnTo>
                  <a:pt x="114026" y="114026"/>
                </a:lnTo>
                <a:cubicBezTo>
                  <a:pt x="114026" y="123702"/>
                  <a:pt x="106159" y="131568"/>
                  <a:pt x="96483" y="131568"/>
                </a:cubicBezTo>
                <a:lnTo>
                  <a:pt x="17542" y="131568"/>
                </a:lnTo>
                <a:cubicBezTo>
                  <a:pt x="7867" y="131568"/>
                  <a:pt x="0" y="123702"/>
                  <a:pt x="0" y="114026"/>
                </a:cubicBezTo>
                <a:lnTo>
                  <a:pt x="0" y="61399"/>
                </a:lnTo>
                <a:close/>
                <a:moveTo>
                  <a:pt x="17542" y="72363"/>
                </a:moveTo>
                <a:cubicBezTo>
                  <a:pt x="17542" y="76008"/>
                  <a:pt x="20475" y="78941"/>
                  <a:pt x="24121" y="78941"/>
                </a:cubicBezTo>
                <a:lnTo>
                  <a:pt x="89905" y="78941"/>
                </a:lnTo>
                <a:cubicBezTo>
                  <a:pt x="93551" y="78941"/>
                  <a:pt x="96483" y="76008"/>
                  <a:pt x="96483" y="72363"/>
                </a:cubicBezTo>
                <a:cubicBezTo>
                  <a:pt x="96483" y="68717"/>
                  <a:pt x="93551" y="65784"/>
                  <a:pt x="89905" y="65784"/>
                </a:cubicBezTo>
                <a:lnTo>
                  <a:pt x="24121" y="65784"/>
                </a:lnTo>
                <a:cubicBezTo>
                  <a:pt x="20475" y="65784"/>
                  <a:pt x="17542" y="68717"/>
                  <a:pt x="17542" y="7236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6" name="Text 44"/>
          <p:cNvSpPr/>
          <p:nvPr/>
        </p:nvSpPr>
        <p:spPr>
          <a:xfrm>
            <a:off x="7885439" y="4638221"/>
            <a:ext cx="2369079" cy="21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StateAwareUIForm基类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39845" y="4918900"/>
            <a:ext cx="3947050" cy="45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StateAwareUIForm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基类，封装UI对游戏状态的响应逻辑，子类只需重写状态变化回调。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81963" y="5655683"/>
            <a:ext cx="4175102" cy="1017462"/>
          </a:xfrm>
          <a:custGeom>
            <a:avLst/>
            <a:gdLst/>
            <a:ahLst/>
            <a:cxnLst/>
            <a:rect l="l" t="t" r="r" b="b"/>
            <a:pathLst>
              <a:path w="4175102" h="1017462">
                <a:moveTo>
                  <a:pt x="35085" y="0"/>
                </a:moveTo>
                <a:lnTo>
                  <a:pt x="4104928" y="0"/>
                </a:lnTo>
                <a:cubicBezTo>
                  <a:pt x="4143684" y="0"/>
                  <a:pt x="4175102" y="31418"/>
                  <a:pt x="4175102" y="70174"/>
                </a:cubicBezTo>
                <a:lnTo>
                  <a:pt x="4175102" y="947288"/>
                </a:lnTo>
                <a:cubicBezTo>
                  <a:pt x="4175102" y="986044"/>
                  <a:pt x="4143684" y="1017462"/>
                  <a:pt x="4104928" y="1017462"/>
                </a:cubicBezTo>
                <a:lnTo>
                  <a:pt x="35085" y="1017462"/>
                </a:lnTo>
                <a:cubicBezTo>
                  <a:pt x="15708" y="1017462"/>
                  <a:pt x="0" y="1001754"/>
                  <a:pt x="0" y="98237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7481963" y="5655683"/>
            <a:ext cx="35085" cy="1017462"/>
          </a:xfrm>
          <a:custGeom>
            <a:avLst/>
            <a:gdLst/>
            <a:ahLst/>
            <a:cxnLst/>
            <a:rect l="l" t="t" r="r" b="b"/>
            <a:pathLst>
              <a:path w="35085" h="1017462">
                <a:moveTo>
                  <a:pt x="35085" y="0"/>
                </a:moveTo>
                <a:lnTo>
                  <a:pt x="35085" y="0"/>
                </a:lnTo>
                <a:lnTo>
                  <a:pt x="35085" y="1017462"/>
                </a:lnTo>
                <a:lnTo>
                  <a:pt x="35085" y="1017462"/>
                </a:lnTo>
                <a:cubicBezTo>
                  <a:pt x="15708" y="1017462"/>
                  <a:pt x="0" y="1001754"/>
                  <a:pt x="0" y="98237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0" name="Shape 48"/>
          <p:cNvSpPr/>
          <p:nvPr/>
        </p:nvSpPr>
        <p:spPr>
          <a:xfrm>
            <a:off x="7674930" y="5831107"/>
            <a:ext cx="105255" cy="140340"/>
          </a:xfrm>
          <a:custGeom>
            <a:avLst/>
            <a:gdLst/>
            <a:ahLst/>
            <a:cxnLst/>
            <a:rect l="l" t="t" r="r" b="b"/>
            <a:pathLst>
              <a:path w="105255" h="140340">
                <a:moveTo>
                  <a:pt x="68498" y="18310"/>
                </a:moveTo>
                <a:cubicBezTo>
                  <a:pt x="71348" y="14390"/>
                  <a:pt x="70471" y="8908"/>
                  <a:pt x="66552" y="6058"/>
                </a:cubicBezTo>
                <a:cubicBezTo>
                  <a:pt x="62632" y="3207"/>
                  <a:pt x="57150" y="4084"/>
                  <a:pt x="54299" y="8004"/>
                </a:cubicBezTo>
                <a:lnTo>
                  <a:pt x="25245" y="47940"/>
                </a:lnTo>
                <a:lnTo>
                  <a:pt x="14966" y="37661"/>
                </a:lnTo>
                <a:cubicBezTo>
                  <a:pt x="11540" y="34235"/>
                  <a:pt x="5975" y="34235"/>
                  <a:pt x="2549" y="37661"/>
                </a:cubicBezTo>
                <a:cubicBezTo>
                  <a:pt x="-877" y="41088"/>
                  <a:pt x="-877" y="46652"/>
                  <a:pt x="2549" y="50078"/>
                </a:cubicBezTo>
                <a:lnTo>
                  <a:pt x="20092" y="67621"/>
                </a:lnTo>
                <a:cubicBezTo>
                  <a:pt x="21901" y="69430"/>
                  <a:pt x="24422" y="70362"/>
                  <a:pt x="26972" y="70170"/>
                </a:cubicBezTo>
                <a:cubicBezTo>
                  <a:pt x="29521" y="69978"/>
                  <a:pt x="31878" y="68662"/>
                  <a:pt x="33385" y="66579"/>
                </a:cubicBezTo>
                <a:lnTo>
                  <a:pt x="68470" y="18337"/>
                </a:lnTo>
                <a:close/>
                <a:moveTo>
                  <a:pt x="103583" y="55588"/>
                </a:moveTo>
                <a:cubicBezTo>
                  <a:pt x="106433" y="51668"/>
                  <a:pt x="105556" y="46186"/>
                  <a:pt x="101637" y="43335"/>
                </a:cubicBezTo>
                <a:cubicBezTo>
                  <a:pt x="97717" y="40485"/>
                  <a:pt x="92235" y="41362"/>
                  <a:pt x="89384" y="45281"/>
                </a:cubicBezTo>
                <a:lnTo>
                  <a:pt x="42787" y="109339"/>
                </a:lnTo>
                <a:lnTo>
                  <a:pt x="23737" y="90289"/>
                </a:lnTo>
                <a:cubicBezTo>
                  <a:pt x="20311" y="86863"/>
                  <a:pt x="14747" y="86863"/>
                  <a:pt x="11320" y="90289"/>
                </a:cubicBezTo>
                <a:cubicBezTo>
                  <a:pt x="7894" y="93715"/>
                  <a:pt x="7894" y="99279"/>
                  <a:pt x="11320" y="102706"/>
                </a:cubicBezTo>
                <a:lnTo>
                  <a:pt x="37634" y="129019"/>
                </a:lnTo>
                <a:cubicBezTo>
                  <a:pt x="39443" y="130828"/>
                  <a:pt x="41965" y="131760"/>
                  <a:pt x="44514" y="131568"/>
                </a:cubicBezTo>
                <a:cubicBezTo>
                  <a:pt x="47063" y="131376"/>
                  <a:pt x="49420" y="130061"/>
                  <a:pt x="50928" y="127978"/>
                </a:cubicBezTo>
                <a:lnTo>
                  <a:pt x="103555" y="55615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1" name="Text 49"/>
          <p:cNvSpPr/>
          <p:nvPr/>
        </p:nvSpPr>
        <p:spPr>
          <a:xfrm>
            <a:off x="7885439" y="5796022"/>
            <a:ext cx="1489778" cy="2105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架构改进效果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639845" y="6076702"/>
            <a:ext cx="3947050" cy="45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状态与UI</a:t>
            </a:r>
            <a:r>
              <a:rPr lang="en-US" sz="1105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完全解耦</a:t>
            </a:r>
            <a:r>
              <a:rPr lang="en-US" sz="1105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，新增状态或UI无需修改现有代码，符合开闭原则，系统可扩展性大幅提升。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85000">
                <a:srgbClr val="1A1D24"/>
              </a:gs>
              <a:gs pos="98000">
                <a:srgbClr val="1A1D2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4810" y="874873"/>
            <a:ext cx="1560195" cy="426720"/>
          </a:xfrm>
          <a:custGeom>
            <a:avLst/>
            <a:gdLst/>
            <a:ahLst/>
            <a:cxnLst/>
            <a:rect l="l" t="t" r="r" b="b"/>
            <a:pathLst>
              <a:path w="1560195" h="426720">
                <a:moveTo>
                  <a:pt x="76199" y="0"/>
                </a:moveTo>
                <a:lnTo>
                  <a:pt x="1483996" y="0"/>
                </a:lnTo>
                <a:cubicBezTo>
                  <a:pt x="1526079" y="0"/>
                  <a:pt x="1560195" y="34116"/>
                  <a:pt x="1560195" y="76199"/>
                </a:cubicBezTo>
                <a:lnTo>
                  <a:pt x="1560195" y="350521"/>
                </a:lnTo>
                <a:cubicBezTo>
                  <a:pt x="1560195" y="392604"/>
                  <a:pt x="1526079" y="426720"/>
                  <a:pt x="1483996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954881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10199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工作计划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29499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5"/>
          <p:cNvSpPr/>
          <p:nvPr/>
        </p:nvSpPr>
        <p:spPr>
          <a:xfrm>
            <a:off x="381000" y="3991449"/>
            <a:ext cx="65436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b="1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基于当前进度的后续开发安排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8D93A6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迈向核心战斗系统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529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26256" y="566308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64480"/>
                </a:lnTo>
                <a:cubicBezTo>
                  <a:pt x="166688" y="58155"/>
                  <a:pt x="164195" y="52090"/>
                  <a:pt x="159730" y="47625"/>
                </a:cubicBezTo>
                <a:lnTo>
                  <a:pt x="130969" y="18864"/>
                </a:lnTo>
                <a:cubicBezTo>
                  <a:pt x="126504" y="14399"/>
                  <a:pt x="120439" y="11906"/>
                  <a:pt x="114114" y="11906"/>
                </a:cubicBezTo>
                <a:lnTo>
                  <a:pt x="23812" y="11906"/>
                </a:lnTo>
                <a:close/>
                <a:moveTo>
                  <a:pt x="35719" y="47625"/>
                </a:moveTo>
                <a:cubicBezTo>
                  <a:pt x="35719" y="41039"/>
                  <a:pt x="41039" y="35719"/>
                  <a:pt x="47625" y="35719"/>
                </a:cubicBezTo>
                <a:lnTo>
                  <a:pt x="107156" y="35719"/>
                </a:lnTo>
                <a:cubicBezTo>
                  <a:pt x="113742" y="35719"/>
                  <a:pt x="119063" y="41039"/>
                  <a:pt x="119063" y="47625"/>
                </a:cubicBezTo>
                <a:lnTo>
                  <a:pt x="119063" y="71438"/>
                </a:lnTo>
                <a:cubicBezTo>
                  <a:pt x="119063" y="78023"/>
                  <a:pt x="113742" y="83344"/>
                  <a:pt x="107156" y="83344"/>
                </a:cubicBezTo>
                <a:lnTo>
                  <a:pt x="47625" y="83344"/>
                </a:lnTo>
                <a:cubicBezTo>
                  <a:pt x="41039" y="83344"/>
                  <a:pt x="35719" y="78023"/>
                  <a:pt x="35719" y="71438"/>
                </a:cubicBezTo>
                <a:lnTo>
                  <a:pt x="35719" y="47625"/>
                </a:lnTo>
                <a:close/>
                <a:moveTo>
                  <a:pt x="83344" y="107156"/>
                </a:moveTo>
                <a:cubicBezTo>
                  <a:pt x="96486" y="107156"/>
                  <a:pt x="107156" y="117826"/>
                  <a:pt x="107156" y="130969"/>
                </a:cubicBezTo>
                <a:cubicBezTo>
                  <a:pt x="107156" y="144111"/>
                  <a:pt x="96486" y="154781"/>
                  <a:pt x="83344" y="154781"/>
                </a:cubicBezTo>
                <a:cubicBezTo>
                  <a:pt x="70201" y="154781"/>
                  <a:pt x="59531" y="144111"/>
                  <a:pt x="59531" y="130969"/>
                </a:cubicBezTo>
                <a:cubicBezTo>
                  <a:pt x="59531" y="117826"/>
                  <a:pt x="70201" y="107156"/>
                  <a:pt x="83344" y="10715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8"/>
          <p:cNvSpPr/>
          <p:nvPr/>
        </p:nvSpPr>
        <p:spPr>
          <a:xfrm>
            <a:off x="952500" y="562498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存档系统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43100" y="5529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2088356" y="566308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1"/>
          <p:cNvSpPr/>
          <p:nvPr/>
        </p:nvSpPr>
        <p:spPr>
          <a:xfrm>
            <a:off x="2514600" y="5624987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数据持久化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76650" y="5529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3786188" y="566308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02406" y="35719"/>
                </a:moveTo>
                <a:cubicBezTo>
                  <a:pt x="207355" y="35719"/>
                  <a:pt x="211336" y="39700"/>
                  <a:pt x="211336" y="44648"/>
                </a:cubicBezTo>
                <a:lnTo>
                  <a:pt x="211336" y="62508"/>
                </a:lnTo>
                <a:lnTo>
                  <a:pt x="229195" y="62508"/>
                </a:lnTo>
                <a:cubicBezTo>
                  <a:pt x="234144" y="62508"/>
                  <a:pt x="238125" y="66489"/>
                  <a:pt x="238125" y="71438"/>
                </a:cubicBezTo>
                <a:cubicBezTo>
                  <a:pt x="238125" y="76386"/>
                  <a:pt x="234144" y="80367"/>
                  <a:pt x="229195" y="80367"/>
                </a:cubicBezTo>
                <a:lnTo>
                  <a:pt x="211336" y="80367"/>
                </a:lnTo>
                <a:lnTo>
                  <a:pt x="211336" y="98227"/>
                </a:lnTo>
                <a:cubicBezTo>
                  <a:pt x="211336" y="103175"/>
                  <a:pt x="207355" y="107156"/>
                  <a:pt x="202406" y="107156"/>
                </a:cubicBezTo>
                <a:cubicBezTo>
                  <a:pt x="197458" y="107156"/>
                  <a:pt x="193477" y="103175"/>
                  <a:pt x="193477" y="98227"/>
                </a:cubicBezTo>
                <a:lnTo>
                  <a:pt x="193477" y="80367"/>
                </a:lnTo>
                <a:lnTo>
                  <a:pt x="175617" y="80367"/>
                </a:lnTo>
                <a:cubicBezTo>
                  <a:pt x="170669" y="80367"/>
                  <a:pt x="166688" y="76386"/>
                  <a:pt x="166688" y="71438"/>
                </a:cubicBezTo>
                <a:cubicBezTo>
                  <a:pt x="166688" y="66489"/>
                  <a:pt x="170669" y="62508"/>
                  <a:pt x="175617" y="62508"/>
                </a:cubicBezTo>
                <a:lnTo>
                  <a:pt x="193477" y="62508"/>
                </a:lnTo>
                <a:lnTo>
                  <a:pt x="193477" y="44648"/>
                </a:lnTo>
                <a:cubicBezTo>
                  <a:pt x="193477" y="39700"/>
                  <a:pt x="197458" y="35719"/>
                  <a:pt x="202406" y="3571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4"/>
          <p:cNvSpPr/>
          <p:nvPr/>
        </p:nvSpPr>
        <p:spPr>
          <a:xfrm>
            <a:off x="4248150" y="5624987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角色初始化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10200" y="5529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5567363" y="566308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53578"/>
                </a:lnTo>
                <a:lnTo>
                  <a:pt x="47625" y="53578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1906" y="23812"/>
                </a:moveTo>
                <a:cubicBezTo>
                  <a:pt x="11906" y="17227"/>
                  <a:pt x="17227" y="11906"/>
                  <a:pt x="23812" y="11906"/>
                </a:cubicBezTo>
                <a:cubicBezTo>
                  <a:pt x="30398" y="11906"/>
                  <a:pt x="35719" y="17227"/>
                  <a:pt x="35719" y="23812"/>
                </a:cubicBezTo>
                <a:lnTo>
                  <a:pt x="35719" y="53578"/>
                </a:lnTo>
                <a:lnTo>
                  <a:pt x="11906" y="53578"/>
                </a:lnTo>
                <a:lnTo>
                  <a:pt x="11906" y="23812"/>
                </a:lnTo>
                <a:close/>
                <a:moveTo>
                  <a:pt x="83344" y="23812"/>
                </a:moveTo>
                <a:cubicBezTo>
                  <a:pt x="83344" y="17227"/>
                  <a:pt x="88664" y="11906"/>
                  <a:pt x="95250" y="11906"/>
                </a:cubicBezTo>
                <a:cubicBezTo>
                  <a:pt x="101836" y="11906"/>
                  <a:pt x="107156" y="17227"/>
                  <a:pt x="107156" y="23812"/>
                </a:cubicBezTo>
                <a:lnTo>
                  <a:pt x="107156" y="59531"/>
                </a:lnTo>
                <a:cubicBezTo>
                  <a:pt x="107156" y="66117"/>
                  <a:pt x="101836" y="71438"/>
                  <a:pt x="95250" y="71438"/>
                </a:cubicBezTo>
                <a:cubicBezTo>
                  <a:pt x="88664" y="71438"/>
                  <a:pt x="83344" y="66117"/>
                  <a:pt x="83344" y="59531"/>
                </a:cubicBezTo>
                <a:lnTo>
                  <a:pt x="83344" y="23812"/>
                </a:lnTo>
                <a:close/>
                <a:moveTo>
                  <a:pt x="119063" y="47625"/>
                </a:moveTo>
                <a:cubicBezTo>
                  <a:pt x="119063" y="41039"/>
                  <a:pt x="124383" y="35719"/>
                  <a:pt x="130969" y="35719"/>
                </a:cubicBezTo>
                <a:cubicBezTo>
                  <a:pt x="137554" y="35719"/>
                  <a:pt x="142875" y="41039"/>
                  <a:pt x="142875" y="47625"/>
                </a:cubicBezTo>
                <a:lnTo>
                  <a:pt x="142875" y="71438"/>
                </a:lnTo>
                <a:cubicBezTo>
                  <a:pt x="142875" y="78023"/>
                  <a:pt x="137554" y="83344"/>
                  <a:pt x="130969" y="83344"/>
                </a:cubicBezTo>
                <a:cubicBezTo>
                  <a:pt x="124383" y="83344"/>
                  <a:pt x="119063" y="78023"/>
                  <a:pt x="119063" y="71438"/>
                </a:cubicBezTo>
                <a:lnTo>
                  <a:pt x="119063" y="47625"/>
                </a:lnTo>
                <a:close/>
                <a:moveTo>
                  <a:pt x="83344" y="80367"/>
                </a:moveTo>
                <a:lnTo>
                  <a:pt x="83344" y="80144"/>
                </a:lnTo>
                <a:cubicBezTo>
                  <a:pt x="86841" y="82153"/>
                  <a:pt x="90897" y="83344"/>
                  <a:pt x="95250" y="83344"/>
                </a:cubicBezTo>
                <a:cubicBezTo>
                  <a:pt x="100161" y="83344"/>
                  <a:pt x="104701" y="81855"/>
                  <a:pt x="108496" y="79325"/>
                </a:cubicBezTo>
                <a:cubicBezTo>
                  <a:pt x="111733" y="88590"/>
                  <a:pt x="120588" y="95250"/>
                  <a:pt x="130969" y="95250"/>
                </a:cubicBezTo>
                <a:cubicBezTo>
                  <a:pt x="135322" y="95250"/>
                  <a:pt x="139378" y="94097"/>
                  <a:pt x="142875" y="92050"/>
                </a:cubicBezTo>
                <a:lnTo>
                  <a:pt x="142875" y="95250"/>
                </a:lnTo>
                <a:cubicBezTo>
                  <a:pt x="142875" y="114709"/>
                  <a:pt x="133536" y="132011"/>
                  <a:pt x="119063" y="142875"/>
                </a:cubicBezTo>
                <a:lnTo>
                  <a:pt x="119063" y="178594"/>
                </a:lnTo>
                <a:cubicBezTo>
                  <a:pt x="119063" y="185179"/>
                  <a:pt x="113742" y="190500"/>
                  <a:pt x="107156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lnTo>
                  <a:pt x="35719" y="149423"/>
                </a:lnTo>
                <a:cubicBezTo>
                  <a:pt x="29282" y="146484"/>
                  <a:pt x="23366" y="142429"/>
                  <a:pt x="18269" y="137331"/>
                </a:cubicBezTo>
                <a:lnTo>
                  <a:pt x="13953" y="133015"/>
                </a:lnTo>
                <a:cubicBezTo>
                  <a:pt x="5023" y="124085"/>
                  <a:pt x="0" y="111956"/>
                  <a:pt x="0" y="99343"/>
                </a:cubicBezTo>
                <a:lnTo>
                  <a:pt x="0" y="89297"/>
                </a:lnTo>
                <a:cubicBezTo>
                  <a:pt x="0" y="76163"/>
                  <a:pt x="10678" y="65484"/>
                  <a:pt x="23812" y="65484"/>
                </a:cubicBezTo>
                <a:lnTo>
                  <a:pt x="56555" y="65484"/>
                </a:lnTo>
                <a:cubicBezTo>
                  <a:pt x="64777" y="65484"/>
                  <a:pt x="71438" y="72144"/>
                  <a:pt x="71438" y="80367"/>
                </a:cubicBezTo>
                <a:cubicBezTo>
                  <a:pt x="71438" y="88590"/>
                  <a:pt x="64777" y="95250"/>
                  <a:pt x="56555" y="95250"/>
                </a:cubicBezTo>
                <a:lnTo>
                  <a:pt x="35719" y="95250"/>
                </a:lnTo>
                <a:cubicBezTo>
                  <a:pt x="32445" y="95250"/>
                  <a:pt x="29766" y="97929"/>
                  <a:pt x="29766" y="101203"/>
                </a:cubicBezTo>
                <a:cubicBezTo>
                  <a:pt x="29766" y="104477"/>
                  <a:pt x="32445" y="107156"/>
                  <a:pt x="35719" y="107156"/>
                </a:cubicBezTo>
                <a:lnTo>
                  <a:pt x="56555" y="107156"/>
                </a:lnTo>
                <a:cubicBezTo>
                  <a:pt x="71363" y="107156"/>
                  <a:pt x="83344" y="95176"/>
                  <a:pt x="83344" y="8036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0" name="Text 17"/>
          <p:cNvSpPr/>
          <p:nvPr/>
        </p:nvSpPr>
        <p:spPr>
          <a:xfrm>
            <a:off x="5981700" y="562498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战斗准备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NEXT WEEK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下周核心开发任务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5627370" cy="2807970"/>
          </a:xfrm>
          <a:custGeom>
            <a:avLst/>
            <a:gdLst/>
            <a:ahLst/>
            <a:cxnLst/>
            <a:rect l="l" t="t" r="r" b="b"/>
            <a:pathLst>
              <a:path w="5627370" h="2807970">
                <a:moveTo>
                  <a:pt x="114312" y="0"/>
                </a:moveTo>
                <a:lnTo>
                  <a:pt x="5513058" y="0"/>
                </a:lnTo>
                <a:cubicBezTo>
                  <a:pt x="5576191" y="0"/>
                  <a:pt x="5627370" y="51179"/>
                  <a:pt x="5627370" y="114312"/>
                </a:cubicBezTo>
                <a:lnTo>
                  <a:pt x="5627370" y="2693658"/>
                </a:lnTo>
                <a:cubicBezTo>
                  <a:pt x="5627370" y="2756791"/>
                  <a:pt x="5576191" y="2807970"/>
                  <a:pt x="5513058" y="2807970"/>
                </a:cubicBezTo>
                <a:lnTo>
                  <a:pt x="114312" y="2807970"/>
                </a:lnTo>
                <a:cubicBezTo>
                  <a:pt x="51179" y="2807970"/>
                  <a:pt x="0" y="2756791"/>
                  <a:pt x="0" y="269365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9120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724376" y="15887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64480"/>
                </a:lnTo>
                <a:cubicBezTo>
                  <a:pt x="166688" y="58155"/>
                  <a:pt x="164195" y="52090"/>
                  <a:pt x="159730" y="47625"/>
                </a:cubicBezTo>
                <a:lnTo>
                  <a:pt x="130969" y="18864"/>
                </a:lnTo>
                <a:cubicBezTo>
                  <a:pt x="126504" y="14399"/>
                  <a:pt x="120439" y="11906"/>
                  <a:pt x="114114" y="11906"/>
                </a:cubicBezTo>
                <a:lnTo>
                  <a:pt x="23812" y="11906"/>
                </a:lnTo>
                <a:close/>
                <a:moveTo>
                  <a:pt x="35719" y="47625"/>
                </a:moveTo>
                <a:cubicBezTo>
                  <a:pt x="35719" y="41039"/>
                  <a:pt x="41039" y="35719"/>
                  <a:pt x="47625" y="35719"/>
                </a:cubicBezTo>
                <a:lnTo>
                  <a:pt x="107156" y="35719"/>
                </a:lnTo>
                <a:cubicBezTo>
                  <a:pt x="113742" y="35719"/>
                  <a:pt x="119063" y="41039"/>
                  <a:pt x="119063" y="47625"/>
                </a:cubicBezTo>
                <a:lnTo>
                  <a:pt x="119063" y="71438"/>
                </a:lnTo>
                <a:cubicBezTo>
                  <a:pt x="119063" y="78023"/>
                  <a:pt x="113742" y="83344"/>
                  <a:pt x="107156" y="83344"/>
                </a:cubicBezTo>
                <a:lnTo>
                  <a:pt x="47625" y="83344"/>
                </a:lnTo>
                <a:cubicBezTo>
                  <a:pt x="41039" y="83344"/>
                  <a:pt x="35719" y="78023"/>
                  <a:pt x="35719" y="71438"/>
                </a:cubicBezTo>
                <a:lnTo>
                  <a:pt x="35719" y="47625"/>
                </a:lnTo>
                <a:close/>
                <a:moveTo>
                  <a:pt x="83344" y="107156"/>
                </a:moveTo>
                <a:cubicBezTo>
                  <a:pt x="96486" y="107156"/>
                  <a:pt x="107156" y="117826"/>
                  <a:pt x="107156" y="130969"/>
                </a:cubicBezTo>
                <a:cubicBezTo>
                  <a:pt x="107156" y="144111"/>
                  <a:pt x="96486" y="154781"/>
                  <a:pt x="83344" y="154781"/>
                </a:cubicBezTo>
                <a:cubicBezTo>
                  <a:pt x="70201" y="154781"/>
                  <a:pt x="59531" y="144111"/>
                  <a:pt x="59531" y="130969"/>
                </a:cubicBezTo>
                <a:cubicBezTo>
                  <a:pt x="59531" y="117826"/>
                  <a:pt x="70201" y="107156"/>
                  <a:pt x="83344" y="10715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1150620" y="1455418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存档与数据持久化系统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0620" y="1722118"/>
            <a:ext cx="2781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优先级：高 | 预计工期：3-4天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0840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59606" y="21221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2020" y="2065018"/>
            <a:ext cx="3695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Protobuf序列化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2020" y="2331718"/>
            <a:ext cx="4631291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实现基于Protobuf的数据序列化，支持复杂对象图的高效存储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26555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59606" y="26936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2020" y="2636518"/>
            <a:ext cx="3581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存档管理器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2020" y="2903218"/>
            <a:ext cx="4336969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开发SaveManager，支持多存档槽位、自动存档、存档备份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120" y="32270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59606" y="32651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2020" y="3208018"/>
            <a:ext cx="3009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数据分类存储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2020" y="3474718"/>
            <a:ext cx="3817976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区分局内临时数据与局外持久数据，优化存储结构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010" y="1261110"/>
            <a:ext cx="5627370" cy="2807970"/>
          </a:xfrm>
          <a:custGeom>
            <a:avLst/>
            <a:gdLst/>
            <a:ahLst/>
            <a:cxnLst/>
            <a:rect l="l" t="t" r="r" b="b"/>
            <a:pathLst>
              <a:path w="5627370" h="2807970">
                <a:moveTo>
                  <a:pt x="114312" y="0"/>
                </a:moveTo>
                <a:lnTo>
                  <a:pt x="5513058" y="0"/>
                </a:lnTo>
                <a:cubicBezTo>
                  <a:pt x="5576191" y="0"/>
                  <a:pt x="5627370" y="51179"/>
                  <a:pt x="5627370" y="114312"/>
                </a:cubicBezTo>
                <a:lnTo>
                  <a:pt x="5627370" y="2693658"/>
                </a:lnTo>
                <a:cubicBezTo>
                  <a:pt x="5627370" y="2756791"/>
                  <a:pt x="5576191" y="2807970"/>
                  <a:pt x="5513058" y="2807970"/>
                </a:cubicBezTo>
                <a:lnTo>
                  <a:pt x="114312" y="2807970"/>
                </a:lnTo>
                <a:cubicBezTo>
                  <a:pt x="51179" y="2807970"/>
                  <a:pt x="0" y="2756791"/>
                  <a:pt x="0" y="269365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0320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479857" y="158876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02406" y="35719"/>
                </a:moveTo>
                <a:cubicBezTo>
                  <a:pt x="207355" y="35719"/>
                  <a:pt x="211336" y="39700"/>
                  <a:pt x="211336" y="44648"/>
                </a:cubicBezTo>
                <a:lnTo>
                  <a:pt x="211336" y="62508"/>
                </a:lnTo>
                <a:lnTo>
                  <a:pt x="229195" y="62508"/>
                </a:lnTo>
                <a:cubicBezTo>
                  <a:pt x="234144" y="62508"/>
                  <a:pt x="238125" y="66489"/>
                  <a:pt x="238125" y="71438"/>
                </a:cubicBezTo>
                <a:cubicBezTo>
                  <a:pt x="238125" y="76386"/>
                  <a:pt x="234144" y="80367"/>
                  <a:pt x="229195" y="80367"/>
                </a:cubicBezTo>
                <a:lnTo>
                  <a:pt x="211336" y="80367"/>
                </a:lnTo>
                <a:lnTo>
                  <a:pt x="211336" y="98227"/>
                </a:lnTo>
                <a:cubicBezTo>
                  <a:pt x="211336" y="103175"/>
                  <a:pt x="207355" y="107156"/>
                  <a:pt x="202406" y="107156"/>
                </a:cubicBezTo>
                <a:cubicBezTo>
                  <a:pt x="197458" y="107156"/>
                  <a:pt x="193477" y="103175"/>
                  <a:pt x="193477" y="98227"/>
                </a:cubicBezTo>
                <a:lnTo>
                  <a:pt x="193477" y="80367"/>
                </a:lnTo>
                <a:lnTo>
                  <a:pt x="175617" y="80367"/>
                </a:lnTo>
                <a:cubicBezTo>
                  <a:pt x="170669" y="80367"/>
                  <a:pt x="166688" y="76386"/>
                  <a:pt x="166688" y="71438"/>
                </a:cubicBezTo>
                <a:cubicBezTo>
                  <a:pt x="166688" y="66489"/>
                  <a:pt x="170669" y="62508"/>
                  <a:pt x="175617" y="62508"/>
                </a:cubicBezTo>
                <a:lnTo>
                  <a:pt x="193477" y="62508"/>
                </a:lnTo>
                <a:lnTo>
                  <a:pt x="193477" y="44648"/>
                </a:lnTo>
                <a:cubicBezTo>
                  <a:pt x="193477" y="39700"/>
                  <a:pt x="197458" y="35719"/>
                  <a:pt x="202406" y="35719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4" name="Text 22"/>
          <p:cNvSpPr/>
          <p:nvPr/>
        </p:nvSpPr>
        <p:spPr>
          <a:xfrm>
            <a:off x="6941820" y="1455418"/>
            <a:ext cx="2190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新游戏与角色数据初始化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1820" y="1722118"/>
            <a:ext cx="2162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优先级：高 | 预计工期：2-3天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70320" y="20840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450806" y="21221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13220" y="2065018"/>
            <a:ext cx="3495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新游戏流程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13220" y="2331718"/>
            <a:ext cx="4018716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完善NewGameProcedure，实现角色创建、初始数据生成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0320" y="26555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50806" y="26936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13220" y="263651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角色数据模型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13220" y="2903218"/>
            <a:ext cx="360937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设计PlayerData、InventoryData等核心数据模型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0320" y="32270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450806" y="32651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13220" y="3208018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数据验证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13220" y="3474718"/>
            <a:ext cx="3047879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实现数据完整性验证，防止存档损坏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4810" y="4232910"/>
            <a:ext cx="5627370" cy="2236470"/>
          </a:xfrm>
          <a:custGeom>
            <a:avLst/>
            <a:gdLst/>
            <a:ahLst/>
            <a:cxnLst/>
            <a:rect l="l" t="t" r="r" b="b"/>
            <a:pathLst>
              <a:path w="5627370" h="2236470">
                <a:moveTo>
                  <a:pt x="114306" y="0"/>
                </a:moveTo>
                <a:lnTo>
                  <a:pt x="5513064" y="0"/>
                </a:lnTo>
                <a:cubicBezTo>
                  <a:pt x="5576193" y="0"/>
                  <a:pt x="5627370" y="51177"/>
                  <a:pt x="5627370" y="114306"/>
                </a:cubicBezTo>
                <a:lnTo>
                  <a:pt x="5627370" y="2122164"/>
                </a:lnTo>
                <a:cubicBezTo>
                  <a:pt x="5627370" y="2185293"/>
                  <a:pt x="5576193" y="2236470"/>
                  <a:pt x="5513064" y="2236470"/>
                </a:cubicBezTo>
                <a:lnTo>
                  <a:pt x="114306" y="2236470"/>
                </a:lnTo>
                <a:cubicBezTo>
                  <a:pt x="51177" y="2236470"/>
                  <a:pt x="0" y="2185293"/>
                  <a:pt x="0" y="21221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9120" y="4427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712470" y="45605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1" name="Text 39"/>
          <p:cNvSpPr/>
          <p:nvPr/>
        </p:nvSpPr>
        <p:spPr>
          <a:xfrm>
            <a:off x="1150620" y="4427218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状态机完善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50620" y="4693918"/>
            <a:ext cx="2507574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优先级：中 | 预计工期：2天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9120" y="50558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59606" y="50939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2020" y="5036818"/>
            <a:ext cx="3438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战斗状态细化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2020" y="5303518"/>
            <a:ext cx="401407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完善CombatState，支持战斗前准备、战斗中、战斗结算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9120" y="56273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59606" y="56654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2020" y="5608318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状态切换动画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2020" y="5875018"/>
            <a:ext cx="3581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实现状态切换时的过渡动画和加载界面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6010" y="4232910"/>
            <a:ext cx="5627370" cy="2236470"/>
          </a:xfrm>
          <a:custGeom>
            <a:avLst/>
            <a:gdLst/>
            <a:ahLst/>
            <a:cxnLst/>
            <a:rect l="l" t="t" r="r" b="b"/>
            <a:pathLst>
              <a:path w="5627370" h="2236470">
                <a:moveTo>
                  <a:pt x="114306" y="0"/>
                </a:moveTo>
                <a:lnTo>
                  <a:pt x="5513064" y="0"/>
                </a:lnTo>
                <a:cubicBezTo>
                  <a:pt x="5576193" y="0"/>
                  <a:pt x="5627370" y="51177"/>
                  <a:pt x="5627370" y="114306"/>
                </a:cubicBezTo>
                <a:lnTo>
                  <a:pt x="5627370" y="2122164"/>
                </a:lnTo>
                <a:cubicBezTo>
                  <a:pt x="5627370" y="2185293"/>
                  <a:pt x="5576193" y="2236470"/>
                  <a:pt x="5513064" y="2236470"/>
                </a:cubicBezTo>
                <a:lnTo>
                  <a:pt x="114306" y="2236470"/>
                </a:lnTo>
                <a:cubicBezTo>
                  <a:pt x="51177" y="2236470"/>
                  <a:pt x="0" y="2185293"/>
                  <a:pt x="0" y="21221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70320" y="4427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6527482" y="456056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53578"/>
                </a:lnTo>
                <a:lnTo>
                  <a:pt x="47625" y="53578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1906" y="23812"/>
                </a:moveTo>
                <a:cubicBezTo>
                  <a:pt x="11906" y="17227"/>
                  <a:pt x="17227" y="11906"/>
                  <a:pt x="23812" y="11906"/>
                </a:cubicBezTo>
                <a:cubicBezTo>
                  <a:pt x="30398" y="11906"/>
                  <a:pt x="35719" y="17227"/>
                  <a:pt x="35719" y="23812"/>
                </a:cubicBezTo>
                <a:lnTo>
                  <a:pt x="35719" y="53578"/>
                </a:lnTo>
                <a:lnTo>
                  <a:pt x="11906" y="53578"/>
                </a:lnTo>
                <a:lnTo>
                  <a:pt x="11906" y="23812"/>
                </a:lnTo>
                <a:close/>
                <a:moveTo>
                  <a:pt x="83344" y="23812"/>
                </a:moveTo>
                <a:cubicBezTo>
                  <a:pt x="83344" y="17227"/>
                  <a:pt x="88664" y="11906"/>
                  <a:pt x="95250" y="11906"/>
                </a:cubicBezTo>
                <a:cubicBezTo>
                  <a:pt x="101836" y="11906"/>
                  <a:pt x="107156" y="17227"/>
                  <a:pt x="107156" y="23812"/>
                </a:cubicBezTo>
                <a:lnTo>
                  <a:pt x="107156" y="59531"/>
                </a:lnTo>
                <a:cubicBezTo>
                  <a:pt x="107156" y="66117"/>
                  <a:pt x="101836" y="71438"/>
                  <a:pt x="95250" y="71438"/>
                </a:cubicBezTo>
                <a:cubicBezTo>
                  <a:pt x="88664" y="71438"/>
                  <a:pt x="83344" y="66117"/>
                  <a:pt x="83344" y="59531"/>
                </a:cubicBezTo>
                <a:lnTo>
                  <a:pt x="83344" y="23812"/>
                </a:lnTo>
                <a:close/>
                <a:moveTo>
                  <a:pt x="119063" y="47625"/>
                </a:moveTo>
                <a:cubicBezTo>
                  <a:pt x="119063" y="41039"/>
                  <a:pt x="124383" y="35719"/>
                  <a:pt x="130969" y="35719"/>
                </a:cubicBezTo>
                <a:cubicBezTo>
                  <a:pt x="137554" y="35719"/>
                  <a:pt x="142875" y="41039"/>
                  <a:pt x="142875" y="47625"/>
                </a:cubicBezTo>
                <a:lnTo>
                  <a:pt x="142875" y="71438"/>
                </a:lnTo>
                <a:cubicBezTo>
                  <a:pt x="142875" y="78023"/>
                  <a:pt x="137554" y="83344"/>
                  <a:pt x="130969" y="83344"/>
                </a:cubicBezTo>
                <a:cubicBezTo>
                  <a:pt x="124383" y="83344"/>
                  <a:pt x="119063" y="78023"/>
                  <a:pt x="119063" y="71438"/>
                </a:cubicBezTo>
                <a:lnTo>
                  <a:pt x="119063" y="47625"/>
                </a:lnTo>
                <a:close/>
                <a:moveTo>
                  <a:pt x="83344" y="80367"/>
                </a:moveTo>
                <a:lnTo>
                  <a:pt x="83344" y="80144"/>
                </a:lnTo>
                <a:cubicBezTo>
                  <a:pt x="86841" y="82153"/>
                  <a:pt x="90897" y="83344"/>
                  <a:pt x="95250" y="83344"/>
                </a:cubicBezTo>
                <a:cubicBezTo>
                  <a:pt x="100161" y="83344"/>
                  <a:pt x="104701" y="81855"/>
                  <a:pt x="108496" y="79325"/>
                </a:cubicBezTo>
                <a:cubicBezTo>
                  <a:pt x="111733" y="88590"/>
                  <a:pt x="120588" y="95250"/>
                  <a:pt x="130969" y="95250"/>
                </a:cubicBezTo>
                <a:cubicBezTo>
                  <a:pt x="135322" y="95250"/>
                  <a:pt x="139378" y="94097"/>
                  <a:pt x="142875" y="92050"/>
                </a:cubicBezTo>
                <a:lnTo>
                  <a:pt x="142875" y="95250"/>
                </a:lnTo>
                <a:cubicBezTo>
                  <a:pt x="142875" y="114709"/>
                  <a:pt x="133536" y="132011"/>
                  <a:pt x="119063" y="142875"/>
                </a:cubicBezTo>
                <a:lnTo>
                  <a:pt x="119063" y="178594"/>
                </a:lnTo>
                <a:cubicBezTo>
                  <a:pt x="119063" y="185179"/>
                  <a:pt x="113742" y="190500"/>
                  <a:pt x="107156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lnTo>
                  <a:pt x="35719" y="149423"/>
                </a:lnTo>
                <a:cubicBezTo>
                  <a:pt x="29282" y="146484"/>
                  <a:pt x="23366" y="142429"/>
                  <a:pt x="18269" y="137331"/>
                </a:cubicBezTo>
                <a:lnTo>
                  <a:pt x="13953" y="133015"/>
                </a:lnTo>
                <a:cubicBezTo>
                  <a:pt x="5023" y="124085"/>
                  <a:pt x="0" y="111956"/>
                  <a:pt x="0" y="99343"/>
                </a:cubicBezTo>
                <a:lnTo>
                  <a:pt x="0" y="89297"/>
                </a:lnTo>
                <a:cubicBezTo>
                  <a:pt x="0" y="76163"/>
                  <a:pt x="10678" y="65484"/>
                  <a:pt x="23812" y="65484"/>
                </a:cubicBezTo>
                <a:lnTo>
                  <a:pt x="56555" y="65484"/>
                </a:lnTo>
                <a:cubicBezTo>
                  <a:pt x="64777" y="65484"/>
                  <a:pt x="71438" y="72144"/>
                  <a:pt x="71438" y="80367"/>
                </a:cubicBezTo>
                <a:cubicBezTo>
                  <a:pt x="71438" y="88590"/>
                  <a:pt x="64777" y="95250"/>
                  <a:pt x="56555" y="95250"/>
                </a:cubicBezTo>
                <a:lnTo>
                  <a:pt x="35719" y="95250"/>
                </a:lnTo>
                <a:cubicBezTo>
                  <a:pt x="32445" y="95250"/>
                  <a:pt x="29766" y="97929"/>
                  <a:pt x="29766" y="101203"/>
                </a:cubicBezTo>
                <a:cubicBezTo>
                  <a:pt x="29766" y="104477"/>
                  <a:pt x="32445" y="107156"/>
                  <a:pt x="35719" y="107156"/>
                </a:cubicBezTo>
                <a:lnTo>
                  <a:pt x="56555" y="107156"/>
                </a:lnTo>
                <a:cubicBezTo>
                  <a:pt x="71363" y="107156"/>
                  <a:pt x="83344" y="95176"/>
                  <a:pt x="83344" y="8036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4" name="Text 52"/>
          <p:cNvSpPr/>
          <p:nvPr/>
        </p:nvSpPr>
        <p:spPr>
          <a:xfrm>
            <a:off x="6941820" y="4427218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核心战斗系统准备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41820" y="4693918"/>
            <a:ext cx="2647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优先级：中 | 预计工期：2-3天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70320" y="50558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6450806" y="50939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13220" y="5036818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战斗场景搭建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13220" y="5303518"/>
            <a:ext cx="325457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搭建基础战斗场景，配置战斗摄像机视角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70320" y="56273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6450806" y="5665468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13220" y="5608318"/>
            <a:ext cx="2876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配置表设计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13220" y="5875018"/>
            <a:ext cx="3495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设计UnitConfig、SkillConfig等战斗相关配置表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DEVELOPMENT TIMELINE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开发进度时间线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项目整体开发计划与当前所处阶段</a:t>
            </a:r>
            <a:endParaRPr lang="en-US" sz="1600" dirty="0"/>
          </a:p>
        </p:txBody>
      </p:sp>
      <p:pic>
        <p:nvPicPr>
          <p:cNvPr id="5" name="Image 0" descr="https://kimi-img.moonshot.cn/pub/slides/26-02-24-22:42:23-d6erhjod7itpf1jd87ng.png"/>
          <p:cNvPicPr>
            <a:picLocks noChangeAspect="1"/>
          </p:cNvPicPr>
          <p:nvPr/>
        </p:nvPicPr>
        <p:blipFill>
          <a:blip r:embed="rId1"/>
          <a:srcRect l="50" r="50"/>
          <a:stretch>
            <a:fillRect/>
          </a:stretch>
        </p:blipFill>
        <p:spPr>
          <a:xfrm>
            <a:off x="381000" y="1600200"/>
            <a:ext cx="11430000" cy="379095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84810" y="5551174"/>
            <a:ext cx="3703320" cy="922020"/>
          </a:xfrm>
          <a:custGeom>
            <a:avLst/>
            <a:gdLst/>
            <a:ahLst/>
            <a:cxnLst/>
            <a:rect l="l" t="t" r="r" b="b"/>
            <a:pathLst>
              <a:path w="3703320" h="922020">
                <a:moveTo>
                  <a:pt x="76196" y="0"/>
                </a:moveTo>
                <a:lnTo>
                  <a:pt x="3627124" y="0"/>
                </a:lnTo>
                <a:cubicBezTo>
                  <a:pt x="3669206" y="0"/>
                  <a:pt x="3703320" y="34114"/>
                  <a:pt x="3703320" y="76196"/>
                </a:cubicBezTo>
                <a:lnTo>
                  <a:pt x="3703320" y="845824"/>
                </a:lnTo>
                <a:cubicBezTo>
                  <a:pt x="3703320" y="887906"/>
                  <a:pt x="3669206" y="922020"/>
                  <a:pt x="3627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9582" y="5707382"/>
            <a:ext cx="3533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088382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已完成开发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45531" y="5551174"/>
            <a:ext cx="3703320" cy="922020"/>
          </a:xfrm>
          <a:custGeom>
            <a:avLst/>
            <a:gdLst/>
            <a:ahLst/>
            <a:cxnLst/>
            <a:rect l="l" t="t" r="r" b="b"/>
            <a:pathLst>
              <a:path w="3703320" h="922020">
                <a:moveTo>
                  <a:pt x="76196" y="0"/>
                </a:moveTo>
                <a:lnTo>
                  <a:pt x="3627124" y="0"/>
                </a:lnTo>
                <a:cubicBezTo>
                  <a:pt x="3669206" y="0"/>
                  <a:pt x="3703320" y="34114"/>
                  <a:pt x="3703320" y="76196"/>
                </a:cubicBezTo>
                <a:lnTo>
                  <a:pt x="3703320" y="845824"/>
                </a:lnTo>
                <a:cubicBezTo>
                  <a:pt x="3703320" y="887906"/>
                  <a:pt x="3669206" y="922020"/>
                  <a:pt x="3627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30303" y="5707382"/>
            <a:ext cx="3533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63641" y="6088382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整体进度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06371" y="5551174"/>
            <a:ext cx="3703320" cy="922020"/>
          </a:xfrm>
          <a:custGeom>
            <a:avLst/>
            <a:gdLst/>
            <a:ahLst/>
            <a:cxnLst/>
            <a:rect l="l" t="t" r="r" b="b"/>
            <a:pathLst>
              <a:path w="3703320" h="922020">
                <a:moveTo>
                  <a:pt x="76196" y="0"/>
                </a:moveTo>
                <a:lnTo>
                  <a:pt x="3627124" y="0"/>
                </a:lnTo>
                <a:cubicBezTo>
                  <a:pt x="3669206" y="0"/>
                  <a:pt x="3703320" y="34114"/>
                  <a:pt x="3703320" y="76196"/>
                </a:cubicBezTo>
                <a:lnTo>
                  <a:pt x="3703320" y="845824"/>
                </a:lnTo>
                <a:cubicBezTo>
                  <a:pt x="3703320" y="887906"/>
                  <a:pt x="3669206" y="922020"/>
                  <a:pt x="3627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91143" y="5707382"/>
            <a:ext cx="3533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4481" y="6088382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预计剩余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67794fd3d336a0911c8aae4cc61d9a7bb5135bb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3284" r="328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C8C"/>
              </a:gs>
              <a:gs pos="20000">
                <a:srgbClr val="4A6C8C"/>
              </a:gs>
              <a:gs pos="30000">
                <a:srgbClr val="5E8B7E"/>
              </a:gs>
              <a:gs pos="95000">
                <a:srgbClr val="1A1D24"/>
              </a:gs>
              <a:gs pos="100000">
                <a:srgbClr val="1A1D24"/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222439" y="7745"/>
            <a:ext cx="1750695" cy="502920"/>
          </a:xfrm>
          <a:custGeom>
            <a:avLst/>
            <a:gdLst/>
            <a:ahLst/>
            <a:cxnLst/>
            <a:rect l="l" t="t" r="r" b="b"/>
            <a:pathLst>
              <a:path w="1750695" h="502920">
                <a:moveTo>
                  <a:pt x="114299" y="0"/>
                </a:moveTo>
                <a:lnTo>
                  <a:pt x="1636396" y="0"/>
                </a:lnTo>
                <a:cubicBezTo>
                  <a:pt x="1699522" y="0"/>
                  <a:pt x="1750695" y="51173"/>
                  <a:pt x="1750695" y="114299"/>
                </a:cubicBezTo>
                <a:lnTo>
                  <a:pt x="1750695" y="388621"/>
                </a:lnTo>
                <a:cubicBezTo>
                  <a:pt x="1750695" y="451747"/>
                  <a:pt x="1699522" y="502920"/>
                  <a:pt x="1636396" y="502920"/>
                </a:cubicBezTo>
                <a:lnTo>
                  <a:pt x="114299" y="502920"/>
                </a:lnTo>
                <a:cubicBezTo>
                  <a:pt x="51173" y="502920"/>
                  <a:pt x="0" y="451747"/>
                  <a:pt x="0" y="3886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07223" y="125853"/>
            <a:ext cx="1381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67150" y="819271"/>
            <a:ext cx="44577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持续迭代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稳步前进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1600" y="2838571"/>
            <a:ext cx="1828800" cy="57150"/>
          </a:xfrm>
          <a:custGeom>
            <a:avLst/>
            <a:gdLst/>
            <a:ahLst/>
            <a:cxnLst/>
            <a:rect l="l" t="t" r="r" b="b"/>
            <a:pathLst>
              <a:path w="1828800" h="57150">
                <a:moveTo>
                  <a:pt x="0" y="0"/>
                </a:moveTo>
                <a:lnTo>
                  <a:pt x="1828800" y="0"/>
                </a:lnTo>
                <a:lnTo>
                  <a:pt x="1828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5"/>
          <p:cNvSpPr/>
          <p:nvPr/>
        </p:nvSpPr>
        <p:spPr>
          <a:xfrm>
            <a:off x="3981450" y="3200521"/>
            <a:ext cx="42291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基于工程化思维，模块化推进开发进度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打造高品质的多神话卡牌自走棋游戏体验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57650" y="4328281"/>
            <a:ext cx="1150620" cy="1836420"/>
          </a:xfrm>
          <a:custGeom>
            <a:avLst/>
            <a:gdLst/>
            <a:ahLst/>
            <a:cxnLst/>
            <a:rect l="l" t="t" r="r" b="b"/>
            <a:pathLst>
              <a:path w="1150620" h="1836420">
                <a:moveTo>
                  <a:pt x="114303" y="0"/>
                </a:moveTo>
                <a:lnTo>
                  <a:pt x="1036317" y="0"/>
                </a:lnTo>
                <a:cubicBezTo>
                  <a:pt x="1099445" y="0"/>
                  <a:pt x="1150620" y="51175"/>
                  <a:pt x="1150620" y="114303"/>
                </a:cubicBezTo>
                <a:lnTo>
                  <a:pt x="1150620" y="1722117"/>
                </a:lnTo>
                <a:cubicBezTo>
                  <a:pt x="1150620" y="1785245"/>
                  <a:pt x="1099445" y="1836420"/>
                  <a:pt x="1036317" y="1836420"/>
                </a:cubicBezTo>
                <a:lnTo>
                  <a:pt x="114303" y="1836420"/>
                </a:lnTo>
                <a:cubicBezTo>
                  <a:pt x="51175" y="1836420"/>
                  <a:pt x="0" y="1785245"/>
                  <a:pt x="0" y="17221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8160" y="45606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4492466" y="472261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Text 9"/>
          <p:cNvSpPr/>
          <p:nvPr/>
        </p:nvSpPr>
        <p:spPr>
          <a:xfrm>
            <a:off x="4232910" y="5322689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4周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51960" y="5703568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扎实基础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20690" y="4328281"/>
            <a:ext cx="1150620" cy="1836420"/>
          </a:xfrm>
          <a:custGeom>
            <a:avLst/>
            <a:gdLst/>
            <a:ahLst/>
            <a:cxnLst/>
            <a:rect l="l" t="t" r="r" b="b"/>
            <a:pathLst>
              <a:path w="1150620" h="1836420">
                <a:moveTo>
                  <a:pt x="114303" y="0"/>
                </a:moveTo>
                <a:lnTo>
                  <a:pt x="1036317" y="0"/>
                </a:lnTo>
                <a:cubicBezTo>
                  <a:pt x="1099445" y="0"/>
                  <a:pt x="1150620" y="51175"/>
                  <a:pt x="1150620" y="114303"/>
                </a:cubicBezTo>
                <a:lnTo>
                  <a:pt x="1150620" y="1722117"/>
                </a:lnTo>
                <a:cubicBezTo>
                  <a:pt x="1150620" y="1785245"/>
                  <a:pt x="1099445" y="1836420"/>
                  <a:pt x="1036317" y="1836420"/>
                </a:cubicBezTo>
                <a:lnTo>
                  <a:pt x="114303" y="1836420"/>
                </a:lnTo>
                <a:cubicBezTo>
                  <a:pt x="51175" y="1836420"/>
                  <a:pt x="0" y="1785245"/>
                  <a:pt x="0" y="17221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1200" y="45606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5955506" y="472261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4"/>
          <p:cNvSpPr/>
          <p:nvPr/>
        </p:nvSpPr>
        <p:spPr>
          <a:xfrm>
            <a:off x="5695950" y="5322689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4个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15000" y="5703568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核心系统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83730" y="4328281"/>
            <a:ext cx="1150620" cy="1836420"/>
          </a:xfrm>
          <a:custGeom>
            <a:avLst/>
            <a:gdLst/>
            <a:ahLst/>
            <a:cxnLst/>
            <a:rect l="l" t="t" r="r" b="b"/>
            <a:pathLst>
              <a:path w="1150620" h="1836420">
                <a:moveTo>
                  <a:pt x="114303" y="0"/>
                </a:moveTo>
                <a:lnTo>
                  <a:pt x="1036317" y="0"/>
                </a:lnTo>
                <a:cubicBezTo>
                  <a:pt x="1099445" y="0"/>
                  <a:pt x="1150620" y="51175"/>
                  <a:pt x="1150620" y="114303"/>
                </a:cubicBezTo>
                <a:lnTo>
                  <a:pt x="1150620" y="1722117"/>
                </a:lnTo>
                <a:cubicBezTo>
                  <a:pt x="1150620" y="1785245"/>
                  <a:pt x="1099445" y="1836420"/>
                  <a:pt x="1036317" y="1836420"/>
                </a:cubicBezTo>
                <a:lnTo>
                  <a:pt x="114303" y="1836420"/>
                </a:lnTo>
                <a:cubicBezTo>
                  <a:pt x="51175" y="1836420"/>
                  <a:pt x="0" y="1785245"/>
                  <a:pt x="0" y="17221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54240" y="45606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7418547" y="472261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2" name="Text 19"/>
          <p:cNvSpPr/>
          <p:nvPr/>
        </p:nvSpPr>
        <p:spPr>
          <a:xfrm>
            <a:off x="7158990" y="5322689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下一章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78040" y="5703568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战斗系统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547467" y="666369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5" name="Text 22"/>
          <p:cNvSpPr/>
          <p:nvPr/>
        </p:nvSpPr>
        <p:spPr>
          <a:xfrm>
            <a:off x="3747492" y="6625596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唐鑫阳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547592" y="6644646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9525" y="0"/>
                </a:lnTo>
                <a:lnTo>
                  <a:pt x="95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7" name="Shape 24"/>
          <p:cNvSpPr/>
          <p:nvPr/>
        </p:nvSpPr>
        <p:spPr>
          <a:xfrm>
            <a:off x="4871442" y="666369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5"/>
          <p:cNvSpPr/>
          <p:nvPr/>
        </p:nvSpPr>
        <p:spPr>
          <a:xfrm>
            <a:off x="5090517" y="6625596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数字媒体技术 2022级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872764" y="6644646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9525" y="0"/>
                </a:lnTo>
                <a:lnTo>
                  <a:pt x="95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0" name="Shape 27"/>
          <p:cNvSpPr/>
          <p:nvPr/>
        </p:nvSpPr>
        <p:spPr>
          <a:xfrm>
            <a:off x="7187089" y="666369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lnTo>
                  <a:pt x="161925" y="9525"/>
                </a:lnTo>
                <a:cubicBezTo>
                  <a:pt x="172432" y="9525"/>
                  <a:pt x="180975" y="18068"/>
                  <a:pt x="180975" y="28575"/>
                </a:cubicBezTo>
                <a:lnTo>
                  <a:pt x="180975" y="100013"/>
                </a:lnTo>
                <a:lnTo>
                  <a:pt x="152400" y="100013"/>
                </a:lnTo>
                <a:lnTo>
                  <a:pt x="152400" y="95250"/>
                </a:lnTo>
                <a:cubicBezTo>
                  <a:pt x="152400" y="89981"/>
                  <a:pt x="148144" y="85725"/>
                  <a:pt x="142875" y="85725"/>
                </a:cubicBezTo>
                <a:lnTo>
                  <a:pt x="123825" y="85725"/>
                </a:lnTo>
                <a:cubicBezTo>
                  <a:pt x="118556" y="85725"/>
                  <a:pt x="114300" y="89981"/>
                  <a:pt x="114300" y="95250"/>
                </a:cubicBezTo>
                <a:lnTo>
                  <a:pt x="114300" y="100013"/>
                </a:lnTo>
                <a:lnTo>
                  <a:pt x="75873" y="100013"/>
                </a:lnTo>
                <a:cubicBezTo>
                  <a:pt x="79117" y="94417"/>
                  <a:pt x="80962" y="87898"/>
                  <a:pt x="80962" y="80962"/>
                </a:cubicBezTo>
                <a:cubicBezTo>
                  <a:pt x="80962" y="59918"/>
                  <a:pt x="63907" y="42863"/>
                  <a:pt x="42863" y="42863"/>
                </a:cubicBezTo>
                <a:cubicBezTo>
                  <a:pt x="41255" y="42863"/>
                  <a:pt x="39648" y="42952"/>
                  <a:pt x="38100" y="43160"/>
                </a:cubicBezTo>
                <a:lnTo>
                  <a:pt x="38100" y="28575"/>
                </a:lnTo>
                <a:close/>
                <a:moveTo>
                  <a:pt x="99120" y="133350"/>
                </a:moveTo>
                <a:cubicBezTo>
                  <a:pt x="97601" y="126147"/>
                  <a:pt x="94268" y="119628"/>
                  <a:pt x="89565" y="114300"/>
                </a:cubicBezTo>
                <a:lnTo>
                  <a:pt x="180975" y="114300"/>
                </a:lnTo>
                <a:cubicBezTo>
                  <a:pt x="180975" y="124807"/>
                  <a:pt x="172432" y="133350"/>
                  <a:pt x="161925" y="133350"/>
                </a:cubicBezTo>
                <a:lnTo>
                  <a:pt x="99120" y="133350"/>
                </a:lnTo>
                <a:close/>
                <a:moveTo>
                  <a:pt x="19050" y="80962"/>
                </a:moveTo>
                <a:cubicBezTo>
                  <a:pt x="19050" y="67820"/>
                  <a:pt x="29720" y="57150"/>
                  <a:pt x="42862" y="57150"/>
                </a:cubicBezTo>
                <a:cubicBezTo>
                  <a:pt x="56005" y="57150"/>
                  <a:pt x="66675" y="67820"/>
                  <a:pt x="66675" y="80962"/>
                </a:cubicBezTo>
                <a:cubicBezTo>
                  <a:pt x="66675" y="94105"/>
                  <a:pt x="56005" y="104775"/>
                  <a:pt x="42863" y="104775"/>
                </a:cubicBezTo>
                <a:cubicBezTo>
                  <a:pt x="29720" y="104775"/>
                  <a:pt x="19050" y="94105"/>
                  <a:pt x="19050" y="80962"/>
                </a:cubicBezTo>
                <a:close/>
                <a:moveTo>
                  <a:pt x="0" y="142875"/>
                </a:moveTo>
                <a:cubicBezTo>
                  <a:pt x="0" y="127099"/>
                  <a:pt x="12799" y="114300"/>
                  <a:pt x="28575" y="114300"/>
                </a:cubicBezTo>
                <a:lnTo>
                  <a:pt x="57150" y="114300"/>
                </a:lnTo>
                <a:cubicBezTo>
                  <a:pt x="72926" y="114300"/>
                  <a:pt x="85725" y="127099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1" name="Text 28"/>
          <p:cNvSpPr/>
          <p:nvPr/>
        </p:nvSpPr>
        <p:spPr>
          <a:xfrm>
            <a:off x="7415689" y="6625596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3A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指导教师：高天寒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5443</Words>
  <Application>WPS 演示</Application>
  <PresentationFormat>On-screen Show (16:9)</PresentationFormat>
  <Paragraphs>748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Hedvig Letters Sans</vt:lpstr>
      <vt:lpstr>Segoe Print</vt:lpstr>
      <vt:lpstr>Hedvig Letters Sans</vt:lpstr>
      <vt:lpstr>Hedvig Letters Sans</vt:lpstr>
      <vt:lpstr>Noto Sans SC</vt:lpstr>
      <vt:lpstr>Noto Sans SC</vt:lpstr>
      <vt:lpstr>MiSans</vt:lpstr>
      <vt:lpstr>MiSans</vt:lpstr>
      <vt:lpstr>MiSans</vt:lpstr>
      <vt:lpstr>Calibri</vt:lpstr>
      <vt:lpstr>微软雅黑</vt:lpstr>
      <vt:lpstr>Arial Unicode MS</vt:lpstr>
      <vt:lpstr>等线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诸神对决开发工作汇报</dc:title>
  <dc:creator>Kimi</dc:creator>
  <dc:subject>诸神对决开发工作汇报</dc:subject>
  <cp:lastModifiedBy>啦啦啦</cp:lastModifiedBy>
  <cp:revision>3</cp:revision>
  <dcterms:created xsi:type="dcterms:W3CDTF">2026-02-24T14:58:00Z</dcterms:created>
  <dcterms:modified xsi:type="dcterms:W3CDTF">2026-02-25T01:55:28Z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诸神对决开发工作汇报","ContentProducer":"001191110108MACG2KBH8F10000","ProduceID":"19c8ff7e-7b32-8112-8000-0000a2f3e90b","ReservedCode1":"","ContentPropagator":"001191110108MACG2KBH8F20000","PropagateID":"19c8ff7e-7b32-8112-8000-0000a2f3e90b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3B42EB37105E4514B30ADDF7E0E9622B_13</vt:lpwstr>
  </property>
</Properties>
</file>